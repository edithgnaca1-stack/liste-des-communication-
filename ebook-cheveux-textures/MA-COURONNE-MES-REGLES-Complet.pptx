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9050">
            <a:solidFill>
              <a:srgbClr val="B88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
            <a:ext cx="6858000" cy="320040"/>
          </a:xfrm>
          <a:prstGeom prst="rect">
            <a:avLst/>
          </a:prstGeom>
          <a:noFill/>
        </p:spPr>
        <p:txBody>
          <a:bodyPr wrap="none" lIns="0" tIns="0" rIns="0" bIns="0">
            <a:spAutoFit/>
          </a:bodyPr>
          <a:lstStyle/>
          <a:p>
            <a:pPr>
              <a:defRPr sz="1000" b="1">
                <a:solidFill>
                  <a:srgbClr val="D9A13B"/>
                </a:solidFill>
                <a:latin typeface="Arial"/>
              </a:defRPr>
            </a:pPr>
            <a:r>
              <a:t>GUIDE PRATIQUE COMPLET  ·  CHEVEUX TEXTURÉS  ·  BÉNIN &amp; AFRIQUE</a:t>
            </a:r>
          </a:p>
        </p:txBody>
      </p:sp>
      <p:sp>
        <p:nvSpPr>
          <p:cNvPr id="5" name="TextBox 4"/>
          <p:cNvSpPr txBox="1"/>
          <p:nvPr/>
        </p:nvSpPr>
        <p:spPr>
          <a:xfrm>
            <a:off x="731520" y="1051560"/>
            <a:ext cx="6858000" cy="1463040"/>
          </a:xfrm>
          <a:prstGeom prst="rect">
            <a:avLst/>
          </a:prstGeom>
          <a:noFill/>
        </p:spPr>
        <p:txBody>
          <a:bodyPr wrap="square" lIns="0" tIns="0" rIns="0" bIns="0">
            <a:spAutoFit/>
          </a:bodyPr>
          <a:lstStyle/>
          <a:p>
            <a:pPr>
              <a:defRPr sz="4000" b="1">
                <a:solidFill>
                  <a:srgbClr val="FAF6F0"/>
                </a:solidFill>
                <a:latin typeface="Georgia"/>
              </a:defRPr>
            </a:pPr>
            <a:r>
              <a:t>Ma couronne,</a:t>
            </a:r>
            <a:br/>
            <a:r>
              <a:t>mes règles</a:t>
            </a:r>
          </a:p>
        </p:txBody>
      </p:sp>
      <p:sp>
        <p:nvSpPr>
          <p:cNvPr id="6" name="TextBox 5"/>
          <p:cNvSpPr txBox="1"/>
          <p:nvPr/>
        </p:nvSpPr>
        <p:spPr>
          <a:xfrm>
            <a:off x="731520" y="2651760"/>
            <a:ext cx="6583680" cy="731520"/>
          </a:xfrm>
          <a:prstGeom prst="rect">
            <a:avLst/>
          </a:prstGeom>
          <a:noFill/>
        </p:spPr>
        <p:txBody>
          <a:bodyPr wrap="square" lIns="0" tIns="0" rIns="0" bIns="0">
            <a:spAutoFit/>
          </a:bodyPr>
          <a:lstStyle/>
          <a:p>
            <a:pPr>
              <a:defRPr sz="1300">
                <a:solidFill>
                  <a:srgbClr val="D2C8B8"/>
                </a:solidFill>
                <a:latin typeface="Arial"/>
              </a:defRPr>
            </a:pPr>
            <a:r>
              <a:t>Comprendre ses cheveux, préserver sa longueur et en prendre soin avec ce qu'on a dans sa cuisine.</a:t>
            </a:r>
          </a:p>
        </p:txBody>
      </p:sp>
      <p:sp>
        <p:nvSpPr>
          <p:cNvPr id="7" name="Rounded Rectangle 6"/>
          <p:cNvSpPr/>
          <p:nvPr/>
        </p:nvSpPr>
        <p:spPr>
          <a:xfrm>
            <a:off x="731520" y="3520440"/>
            <a:ext cx="3200400" cy="1097280"/>
          </a:xfrm>
          <a:prstGeom prst="roundRect">
            <a:avLst/>
          </a:prstGeom>
          <a:solidFill>
            <a:srgbClr val="243352"/>
          </a:solidFill>
          <a:ln w="8890">
            <a:solidFill>
              <a:srgbClr val="B88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630168"/>
            <a:ext cx="2926080" cy="868680"/>
          </a:xfrm>
          <a:prstGeom prst="rect">
            <a:avLst/>
          </a:prstGeom>
          <a:noFill/>
        </p:spPr>
        <p:txBody>
          <a:bodyPr wrap="square" lIns="0" tIns="0" rIns="0" bIns="0">
            <a:spAutoFit/>
          </a:bodyPr>
          <a:lstStyle/>
          <a:p>
            <a:pPr>
              <a:spcAft>
                <a:spcPts val="300"/>
              </a:spcAft>
              <a:defRPr sz="1000" b="1">
                <a:solidFill>
                  <a:srgbClr val="D9A13B"/>
                </a:solidFill>
                <a:latin typeface="Arial"/>
              </a:defRPr>
            </a:pPr>
            <a:r>
              <a:t>POURQUOI ÇA MARCHE ?</a:t>
            </a:r>
          </a:p>
          <a:p>
            <a:pPr>
              <a:defRPr sz="950">
                <a:solidFill>
                  <a:srgbClr val="FAF6F0"/>
                </a:solidFill>
                <a:latin typeface="Arial"/>
              </a:defRPr>
            </a:pPr>
            <a:r>
              <a:t>Ce que chaque ingrédient fait à la fibre, expliqué simplement.</a:t>
            </a:r>
          </a:p>
        </p:txBody>
      </p:sp>
      <p:sp>
        <p:nvSpPr>
          <p:cNvPr id="9" name="Rounded Rectangle 8"/>
          <p:cNvSpPr/>
          <p:nvPr/>
        </p:nvSpPr>
        <p:spPr>
          <a:xfrm>
            <a:off x="4069080" y="3520440"/>
            <a:ext cx="3200400" cy="1097280"/>
          </a:xfrm>
          <a:prstGeom prst="roundRect">
            <a:avLst/>
          </a:prstGeom>
          <a:solidFill>
            <a:srgbClr val="243352"/>
          </a:solidFill>
          <a:ln w="8890">
            <a:solidFill>
              <a:srgbClr val="B88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0" y="3630168"/>
            <a:ext cx="2926080" cy="868680"/>
          </a:xfrm>
          <a:prstGeom prst="rect">
            <a:avLst/>
          </a:prstGeom>
          <a:noFill/>
        </p:spPr>
        <p:txBody>
          <a:bodyPr wrap="square" lIns="0" tIns="0" rIns="0" bIns="0">
            <a:spAutoFit/>
          </a:bodyPr>
          <a:lstStyle/>
          <a:p>
            <a:pPr>
              <a:spcAft>
                <a:spcPts val="300"/>
              </a:spcAft>
              <a:defRPr sz="1000" b="1">
                <a:solidFill>
                  <a:srgbClr val="D9A13B"/>
                </a:solidFill>
                <a:latin typeface="Arial"/>
              </a:defRPr>
            </a:pPr>
            <a:r>
              <a:t>COMBIEN EXACTEMENT ?</a:t>
            </a:r>
          </a:p>
          <a:p>
            <a:pPr>
              <a:defRPr sz="950">
                <a:solidFill>
                  <a:srgbClr val="FAF6F0"/>
                </a:solidFill>
                <a:latin typeface="Arial"/>
              </a:defRPr>
            </a:pPr>
            <a:r>
              <a:t>Cuillères, verres, noix : des quantités précises selon la longueur.</a:t>
            </a:r>
          </a:p>
        </p:txBody>
      </p:sp>
      <p:sp>
        <p:nvSpPr>
          <p:cNvPr id="11" name="Rounded Rectangle 10"/>
          <p:cNvSpPr/>
          <p:nvPr/>
        </p:nvSpPr>
        <p:spPr>
          <a:xfrm>
            <a:off x="731520" y="4754880"/>
            <a:ext cx="3200400" cy="1097280"/>
          </a:xfrm>
          <a:prstGeom prst="roundRect">
            <a:avLst/>
          </a:prstGeom>
          <a:solidFill>
            <a:srgbClr val="243352"/>
          </a:solidFill>
          <a:ln w="8890">
            <a:solidFill>
              <a:srgbClr val="B88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864608"/>
            <a:ext cx="2926080" cy="868680"/>
          </a:xfrm>
          <a:prstGeom prst="rect">
            <a:avLst/>
          </a:prstGeom>
          <a:noFill/>
        </p:spPr>
        <p:txBody>
          <a:bodyPr wrap="square" lIns="0" tIns="0" rIns="0" bIns="0">
            <a:spAutoFit/>
          </a:bodyPr>
          <a:lstStyle/>
          <a:p>
            <a:pPr>
              <a:spcAft>
                <a:spcPts val="300"/>
              </a:spcAft>
              <a:defRPr sz="1000" b="1">
                <a:solidFill>
                  <a:srgbClr val="D9A13B"/>
                </a:solidFill>
                <a:latin typeface="Arial"/>
              </a:defRPr>
            </a:pPr>
            <a:r>
              <a:t>À QUELLE FRÉQUENCE ?</a:t>
            </a:r>
          </a:p>
          <a:p>
            <a:pPr>
              <a:defRPr sz="950">
                <a:solidFill>
                  <a:srgbClr val="FAF6F0"/>
                </a:solidFill>
                <a:latin typeface="Arial"/>
              </a:defRPr>
            </a:pPr>
            <a:r>
              <a:t>Chaque geste a son rythme : semaine, mois ou saison.</a:t>
            </a:r>
          </a:p>
        </p:txBody>
      </p:sp>
      <p:sp>
        <p:nvSpPr>
          <p:cNvPr id="13" name="Rounded Rectangle 12"/>
          <p:cNvSpPr/>
          <p:nvPr/>
        </p:nvSpPr>
        <p:spPr>
          <a:xfrm>
            <a:off x="4069080" y="4754880"/>
            <a:ext cx="3200400" cy="1097280"/>
          </a:xfrm>
          <a:prstGeom prst="roundRect">
            <a:avLst/>
          </a:prstGeom>
          <a:solidFill>
            <a:srgbClr val="243352"/>
          </a:solidFill>
          <a:ln w="8890">
            <a:solidFill>
              <a:srgbClr val="B88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06240" y="4864608"/>
            <a:ext cx="2926080" cy="868680"/>
          </a:xfrm>
          <a:prstGeom prst="rect">
            <a:avLst/>
          </a:prstGeom>
          <a:noFill/>
        </p:spPr>
        <p:txBody>
          <a:bodyPr wrap="square" lIns="0" tIns="0" rIns="0" bIns="0">
            <a:spAutoFit/>
          </a:bodyPr>
          <a:lstStyle/>
          <a:p>
            <a:pPr>
              <a:spcAft>
                <a:spcPts val="300"/>
              </a:spcAft>
              <a:defRPr sz="1000" b="1">
                <a:solidFill>
                  <a:srgbClr val="D9A13B"/>
                </a:solidFill>
                <a:latin typeface="Arial"/>
              </a:defRPr>
            </a:pPr>
            <a:r>
              <a:t>LE KIT ANTI-PARESSE</a:t>
            </a:r>
          </a:p>
          <a:p>
            <a:pPr>
              <a:defRPr sz="950">
                <a:solidFill>
                  <a:srgbClr val="FAF6F0"/>
                </a:solidFill>
                <a:latin typeface="Arial"/>
              </a:defRPr>
            </a:pPr>
            <a:r>
              <a:t>Le minimum vital qui marche quand vous n'avez ni le temps ni l'envie.</a:t>
            </a:r>
          </a:p>
        </p:txBody>
      </p:sp>
      <p:pic>
        <p:nvPicPr>
          <p:cNvPr id="15" name="Picture 14" descr="cover_crop.png"/>
          <p:cNvPicPr>
            <a:picLocks noChangeAspect="1"/>
          </p:cNvPicPr>
          <p:nvPr/>
        </p:nvPicPr>
        <p:blipFill>
          <a:blip r:embed="rId2"/>
          <a:stretch>
            <a:fillRect/>
          </a:stretch>
        </p:blipFill>
        <p:spPr>
          <a:xfrm>
            <a:off x="7772400" y="914400"/>
            <a:ext cx="3657600" cy="4873752"/>
          </a:xfrm>
          <a:prstGeom prst="rect">
            <a:avLst/>
          </a:prstGeom>
        </p:spPr>
      </p:pic>
      <p:sp>
        <p:nvSpPr>
          <p:cNvPr id="16" name="Rectangle 15"/>
          <p:cNvSpPr/>
          <p:nvPr/>
        </p:nvSpPr>
        <p:spPr>
          <a:xfrm>
            <a:off x="7772400" y="914400"/>
            <a:ext cx="3657600" cy="4873752"/>
          </a:xfrm>
          <a:prstGeom prst="rect">
            <a:avLst/>
          </a:prstGeom>
          <a:noFill/>
          <a:ln w="19050">
            <a:solidFill>
              <a:srgbClr val="B88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5989320"/>
            <a:ext cx="6858000" cy="320040"/>
          </a:xfrm>
          <a:prstGeom prst="rect">
            <a:avLst/>
          </a:prstGeom>
          <a:noFill/>
        </p:spPr>
        <p:txBody>
          <a:bodyPr wrap="none" lIns="0" tIns="0" rIns="0" bIns="0">
            <a:spAutoFit/>
          </a:bodyPr>
          <a:lstStyle/>
          <a:p>
            <a:pPr>
              <a:defRPr sz="950">
                <a:solidFill>
                  <a:srgbClr val="B8862B"/>
                </a:solidFill>
                <a:latin typeface="Arial"/>
              </a:defRPr>
            </a:pPr>
            <a:r>
              <a:t>Édition Complète — Bénin &amp; Afrique de l'Ouest  ·  Octobre 2026  ·  Document de travail complet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CADRE &amp; CONTEXTE DE L'OUVRAGE</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Un guide pensé pour nos réalités quotidiennes</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Parce qu'un conseil inapplicable au marché de Dantokpa ou de Ganhi ne sert à rien.</a:t>
            </a:r>
          </a:p>
        </p:txBody>
      </p:sp>
      <p:sp>
        <p:nvSpPr>
          <p:cNvPr id="6" name="Rounded Rectangle 5"/>
          <p:cNvSpPr/>
          <p:nvPr/>
        </p:nvSpPr>
        <p:spPr>
          <a:xfrm>
            <a:off x="73152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4892040" cy="45720"/>
          </a:xfrm>
          <a:prstGeom prst="rect">
            <a:avLst/>
          </a:prstGeom>
          <a:solidFill>
            <a:srgbClr val="A85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09160" cy="3566160"/>
          </a:xfrm>
          <a:prstGeom prst="rect">
            <a:avLst/>
          </a:prstGeom>
          <a:noFill/>
        </p:spPr>
        <p:txBody>
          <a:bodyPr wrap="square" lIns="0" tIns="0" rIns="0" bIns="0">
            <a:spAutoFit/>
          </a:bodyPr>
          <a:lstStyle/>
          <a:p>
            <a:pPr>
              <a:spcAft>
                <a:spcPts val="800"/>
              </a:spcAft>
              <a:defRPr sz="1450" b="1">
                <a:solidFill>
                  <a:srgbClr val="A85236"/>
                </a:solidFill>
                <a:latin typeface="Georgia"/>
              </a:defRPr>
            </a:pPr>
            <a:r>
              <a:t>Les réalités béninoises au cœur du livre</a:t>
            </a:r>
          </a:p>
          <a:p>
            <a:pPr>
              <a:spcAft>
                <a:spcPts val="400"/>
              </a:spcAft>
              <a:defRPr sz="1100" b="1">
                <a:solidFill>
                  <a:srgbClr val="A85236"/>
                </a:solidFill>
                <a:latin typeface="Arial"/>
              </a:defRPr>
            </a:pPr>
            <a:r>
              <a:t>Le climat sahélien &amp; côtier : </a:t>
            </a:r>
            <a:r>
              <a:rPr sz="1100" b="0">
                <a:solidFill>
                  <a:srgbClr val="1C1B19"/>
                </a:solidFill>
                <a:latin typeface="Arial"/>
              </a:rPr>
              <a:t>L'harmattan assèche la fibre en quelques heures ; l'humidité côtière ouvre la cuticule. Nos soins s'adaptent au calendrier réel.</a:t>
            </a:r>
          </a:p>
          <a:p>
            <a:pPr>
              <a:spcAft>
                <a:spcPts val="400"/>
              </a:spcAft>
              <a:defRPr sz="1100" b="1">
                <a:solidFill>
                  <a:srgbClr val="A85236"/>
                </a:solidFill>
                <a:latin typeface="Arial"/>
              </a:defRPr>
            </a:pPr>
            <a:r>
              <a:t>L'eau locale du robinet et de forage : </a:t>
            </a:r>
            <a:r>
              <a:rPr sz="1100" b="0">
                <a:solidFill>
                  <a:srgbClr val="1C1B19"/>
                </a:solidFill>
                <a:latin typeface="Arial"/>
              </a:rPr>
              <a:t>Très calcaire et minéralisée, elle dépose un voile invisible qui bloque l'hydratation. Nous enseignons le rinçage acide neutralisant.</a:t>
            </a:r>
          </a:p>
          <a:p>
            <a:pPr>
              <a:spcAft>
                <a:spcPts val="400"/>
              </a:spcAft>
              <a:defRPr sz="1100" b="1">
                <a:solidFill>
                  <a:srgbClr val="A85236"/>
                </a:solidFill>
                <a:latin typeface="Arial"/>
              </a:defRPr>
            </a:pPr>
            <a:r>
              <a:t>Des ingrédients à portée de main : </a:t>
            </a:r>
            <a:r>
              <a:rPr sz="1100" b="0">
                <a:solidFill>
                  <a:srgbClr val="1C1B19"/>
                </a:solidFill>
                <a:latin typeface="Arial"/>
              </a:rPr>
              <a:t>Tout se trouve au marché de quartier ou dans les étals de Dantokpa, Ganhi et Ouando : karité brut du Nord, huile de coco fraîche, gombo, miel sauvage, savon noir local.</a:t>
            </a:r>
          </a:p>
        </p:txBody>
      </p:sp>
      <p:sp>
        <p:nvSpPr>
          <p:cNvPr id="9" name="Rounded Rectangle 8"/>
          <p:cNvSpPr/>
          <p:nvPr/>
        </p:nvSpPr>
        <p:spPr>
          <a:xfrm>
            <a:off x="626364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481328"/>
            <a:ext cx="4892040" cy="45720"/>
          </a:xfrm>
          <a:prstGeom prst="rect">
            <a:avLst/>
          </a:prstGeom>
          <a:solidFill>
            <a:srgbClr val="2B3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45920"/>
            <a:ext cx="4709160" cy="3566160"/>
          </a:xfrm>
          <a:prstGeom prst="rect">
            <a:avLst/>
          </a:prstGeom>
          <a:noFill/>
        </p:spPr>
        <p:txBody>
          <a:bodyPr wrap="square" lIns="0" tIns="0" rIns="0" bIns="0">
            <a:spAutoFit/>
          </a:bodyPr>
          <a:lstStyle/>
          <a:p>
            <a:pPr>
              <a:spcAft>
                <a:spcPts val="800"/>
              </a:spcAft>
              <a:defRPr sz="1450" b="1">
                <a:solidFill>
                  <a:srgbClr val="2B3E63"/>
                </a:solidFill>
                <a:latin typeface="Georgia"/>
              </a:defRPr>
            </a:pPr>
            <a:r>
              <a:t>L'accessibilité financière absolue</a:t>
            </a:r>
          </a:p>
          <a:p>
            <a:pPr>
              <a:spcAft>
                <a:spcPts val="400"/>
              </a:spcAft>
              <a:defRPr sz="1100" b="1">
                <a:solidFill>
                  <a:srgbClr val="2B3E63"/>
                </a:solidFill>
                <a:latin typeface="Arial"/>
              </a:defRPr>
            </a:pPr>
            <a:r>
              <a:t>Zéro ruine en cosmétiques importés : </a:t>
            </a:r>
            <a:r>
              <a:rPr sz="1100" b="0">
                <a:solidFill>
                  <a:srgbClr val="1C1B19"/>
                </a:solidFill>
                <a:latin typeface="Arial"/>
              </a:rPr>
              <a:t>Prendre soin de ses cheveux naturels ne doit pas coûter 40 000 FCFA par mois en gammes américaines ou européennes formulées pour d'autres climats.</a:t>
            </a:r>
          </a:p>
          <a:p>
            <a:pPr>
              <a:spcAft>
                <a:spcPts val="400"/>
              </a:spcAft>
              <a:defRPr sz="1100" b="1">
                <a:solidFill>
                  <a:srgbClr val="2B3E63"/>
                </a:solidFill>
                <a:latin typeface="Arial"/>
              </a:defRPr>
            </a:pPr>
            <a:r>
              <a:t>Un panier de départ à moins de 3 000 FCFA : </a:t>
            </a:r>
            <a:r>
              <a:rPr sz="1100" b="0">
                <a:solidFill>
                  <a:srgbClr val="1C1B19"/>
                </a:solidFill>
                <a:latin typeface="Arial"/>
              </a:rPr>
              <a:t>Avec cinq ingrédients de base achetés au marché pour 3 000 FCFA, vous avez de quoi réaliser trois mois complets de soins hebdomadaires.</a:t>
            </a:r>
          </a:p>
          <a:p>
            <a:pPr>
              <a:spcAft>
                <a:spcPts val="400"/>
              </a:spcAft>
              <a:defRPr sz="1100" b="1">
                <a:solidFill>
                  <a:srgbClr val="2B3E63"/>
                </a:solidFill>
                <a:latin typeface="Arial"/>
              </a:defRPr>
            </a:pPr>
            <a:r>
              <a:t>Un ton bienveillant et complice : </a:t>
            </a:r>
            <a:r>
              <a:rPr sz="1100" b="0">
                <a:solidFill>
                  <a:srgbClr val="1C1B19"/>
                </a:solidFill>
                <a:latin typeface="Arial"/>
              </a:rPr>
              <a:t>Le vouvoiement chaleureux est la règle : nous partageons une expérience vécue, sans culpabilisation, avec des encadrés de confidences.</a:t>
            </a:r>
          </a:p>
        </p:txBody>
      </p:sp>
      <p:sp>
        <p:nvSpPr>
          <p:cNvPr id="12" name="Rounded Rectangle 11"/>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Ce livre n'est pas un luxe : c'est un manuel d'autonomie pour que chaque femme devienne l'experte de sa propre couronne.</a:t>
            </a:r>
          </a:p>
        </p:txBody>
      </p:sp>
      <p:sp>
        <p:nvSpPr>
          <p:cNvPr id="14" name="Rectangle 13"/>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6" name="TextBox 15"/>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2 / 75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AVANT-PROPOS DE L'AUTRICE</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Pourquoi ce guide existe (et ce qui le rend unique)</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Rompre avec les recettes floues trouvées sur Internet qui abîment les cheveux.</a:t>
            </a:r>
          </a:p>
        </p:txBody>
      </p:sp>
      <p:sp>
        <p:nvSpPr>
          <p:cNvPr id="6" name="Rounded Rectangle 5"/>
          <p:cNvSpPr/>
          <p:nvPr/>
        </p:nvSpPr>
        <p:spPr>
          <a:xfrm>
            <a:off x="73152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4892040" cy="45720"/>
          </a:xfrm>
          <a:prstGeom prst="rect">
            <a:avLst/>
          </a:prstGeom>
          <a:solidFill>
            <a:srgbClr val="B88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09160" cy="3566160"/>
          </a:xfrm>
          <a:prstGeom prst="rect">
            <a:avLst/>
          </a:prstGeom>
          <a:noFill/>
        </p:spPr>
        <p:txBody>
          <a:bodyPr wrap="square" lIns="0" tIns="0" rIns="0" bIns="0">
            <a:spAutoFit/>
          </a:bodyPr>
          <a:lstStyle/>
          <a:p>
            <a:pPr>
              <a:spcAft>
                <a:spcPts val="800"/>
              </a:spcAft>
              <a:defRPr sz="1450" b="1">
                <a:solidFill>
                  <a:srgbClr val="B8862B"/>
                </a:solidFill>
                <a:latin typeface="Georgia"/>
              </a:defRPr>
            </a:pPr>
            <a:r>
              <a:t>Les 3 questions auxquelles personne ne répond</a:t>
            </a:r>
          </a:p>
          <a:p>
            <a:pPr>
              <a:spcAft>
                <a:spcPts val="400"/>
              </a:spcAft>
              <a:defRPr sz="1100" b="1">
                <a:solidFill>
                  <a:srgbClr val="B8862B"/>
                </a:solidFill>
                <a:latin typeface="Arial"/>
              </a:defRPr>
            </a:pPr>
            <a:r>
              <a:t>1. POURQUOI ça marche ? </a:t>
            </a:r>
            <a:r>
              <a:rPr sz="1100" b="0">
                <a:solidFill>
                  <a:srgbClr val="1C1B19"/>
                </a:solidFill>
                <a:latin typeface="Arial"/>
              </a:rPr>
              <a:t>On vous dit « mettez de l'avocat et de l'huile ». Mais que fait le gras ? Que fait l'eau ? Nous expliquons la chimie simple de chaque geste.</a:t>
            </a:r>
          </a:p>
          <a:p>
            <a:pPr>
              <a:spcAft>
                <a:spcPts val="400"/>
              </a:spcAft>
              <a:defRPr sz="1100" b="1">
                <a:solidFill>
                  <a:srgbClr val="B8862B"/>
                </a:solidFill>
                <a:latin typeface="Arial"/>
              </a:defRPr>
            </a:pPr>
            <a:r>
              <a:t>2. COMBIEN exactement ? </a:t>
            </a:r>
            <a:r>
              <a:rPr sz="1100" b="0">
                <a:solidFill>
                  <a:srgbClr val="1C1B19"/>
                </a:solidFill>
                <a:latin typeface="Arial"/>
              </a:rPr>
              <a:t>Fini le vague « un peu d'huile ». Chaque recette indique la dose en cuillères à café, cuillères à soupe, verres ou noisettes, selon la longueur de vos cheveux.</a:t>
            </a:r>
          </a:p>
          <a:p>
            <a:pPr>
              <a:spcAft>
                <a:spcPts val="400"/>
              </a:spcAft>
              <a:defRPr sz="1100" b="1">
                <a:solidFill>
                  <a:srgbClr val="B8862B"/>
                </a:solidFill>
                <a:latin typeface="Arial"/>
              </a:defRPr>
            </a:pPr>
            <a:r>
              <a:t>3. À QUELLE FRÉQUENCE ? </a:t>
            </a:r>
            <a:r>
              <a:rPr sz="1100" b="0">
                <a:solidFill>
                  <a:srgbClr val="1C1B19"/>
                </a:solidFill>
                <a:latin typeface="Arial"/>
              </a:rPr>
              <a:t>Le secret d'un cheveu qui s'épanouit n'est pas le produit miracle, c'est le tempo. Nous donnons le calendrier précis : hebdomadaire, bimensuel ou mensuel.</a:t>
            </a:r>
          </a:p>
        </p:txBody>
      </p:sp>
      <p:sp>
        <p:nvSpPr>
          <p:cNvPr id="9" name="Rounded Rectangle 8"/>
          <p:cNvSpPr/>
          <p:nvPr/>
        </p:nvSpPr>
        <p:spPr>
          <a:xfrm>
            <a:off x="626364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481328"/>
            <a:ext cx="4892040" cy="45720"/>
          </a:xfrm>
          <a:prstGeom prst="rect">
            <a:avLst/>
          </a:prstGeom>
          <a:solidFill>
            <a:srgbClr val="556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45920"/>
            <a:ext cx="4709160" cy="3566160"/>
          </a:xfrm>
          <a:prstGeom prst="rect">
            <a:avLst/>
          </a:prstGeom>
          <a:noFill/>
        </p:spPr>
        <p:txBody>
          <a:bodyPr wrap="square" lIns="0" tIns="0" rIns="0" bIns="0">
            <a:spAutoFit/>
          </a:bodyPr>
          <a:lstStyle/>
          <a:p>
            <a:pPr>
              <a:spcAft>
                <a:spcPts val="800"/>
              </a:spcAft>
              <a:defRPr sz="1450" b="1">
                <a:solidFill>
                  <a:srgbClr val="55663A"/>
                </a:solidFill>
                <a:latin typeface="Georgia"/>
              </a:defRPr>
            </a:pPr>
            <a:r>
              <a:t>Le piège de la fausse paresse</a:t>
            </a:r>
          </a:p>
          <a:p>
            <a:pPr>
              <a:spcAft>
                <a:spcPts val="400"/>
              </a:spcAft>
              <a:defRPr sz="1100" b="1">
                <a:solidFill>
                  <a:srgbClr val="55663A"/>
                </a:solidFill>
                <a:latin typeface="Arial"/>
              </a:defRPr>
            </a:pPr>
            <a:r>
              <a:t>La paresse n'est pas un défaut moral : </a:t>
            </a:r>
            <a:r>
              <a:rPr sz="1100" b="0">
                <a:solidFill>
                  <a:srgbClr val="1C1B19"/>
                </a:solidFill>
                <a:latin typeface="Arial"/>
              </a:rPr>
              <a:t>C'est souvent le signe d'une routine trop lourde, trop compliquée ou décevante. Quand une routine prend 4 heures pour un résultat médiocre, on abandonne.</a:t>
            </a:r>
          </a:p>
          <a:p>
            <a:pPr>
              <a:spcAft>
                <a:spcPts val="400"/>
              </a:spcAft>
              <a:defRPr sz="1100" b="1">
                <a:solidFill>
                  <a:srgbClr val="55663A"/>
                </a:solidFill>
                <a:latin typeface="Arial"/>
              </a:defRPr>
            </a:pPr>
            <a:r>
              <a:t>Le minimalisme efficace : </a:t>
            </a:r>
            <a:r>
              <a:rPr sz="1100" b="0">
                <a:solidFill>
                  <a:srgbClr val="1C1B19"/>
                </a:solidFill>
                <a:latin typeface="Arial"/>
              </a:rPr>
              <a:t>Ce livre propose des gestes de 2 à 15 minutes. Deux gestes bien ciblés valent mille fois mieux qu'un rituel épuisant abandonné au bout de 15 jours.</a:t>
            </a:r>
          </a:p>
          <a:p>
            <a:pPr>
              <a:spcAft>
                <a:spcPts val="400"/>
              </a:spcAft>
              <a:defRPr sz="1100" b="1">
                <a:solidFill>
                  <a:srgbClr val="55663A"/>
                </a:solidFill>
                <a:latin typeface="Arial"/>
              </a:defRPr>
            </a:pPr>
            <a:r>
              <a:t>La règle des 80 / 20 : </a:t>
            </a:r>
            <a:r>
              <a:rPr sz="1100" b="0">
                <a:solidFill>
                  <a:srgbClr val="1C1B19"/>
                </a:solidFill>
                <a:latin typeface="Arial"/>
              </a:rPr>
              <a:t>80 % de la santé de vos cheveux dépend de 3 gestes : hydrater à l'eau, sceller au karité, et protéger les pointes la nuit.</a:t>
            </a:r>
          </a:p>
        </p:txBody>
      </p:sp>
      <p:sp>
        <p:nvSpPr>
          <p:cNvPr id="12" name="Rounded Rectangle 11"/>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La simplicité régulière bat toujours la complexité intermittente. Vous n'avez pas besoin de courage : vous avez besoin d'une méthode.</a:t>
            </a:r>
          </a:p>
        </p:txBody>
      </p:sp>
      <p:sp>
        <p:nvSpPr>
          <p:cNvPr id="14" name="Rectangle 13"/>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6" name="TextBox 15"/>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3 / 75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FONDATIONS SCIENTIFIQUES</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Les trois vérités incontournables sur nos cheveux</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Comprendre ces trois lois biologiques change à jamais votre rapport à votre chevelure.</a:t>
            </a:r>
          </a:p>
        </p:txBody>
      </p:sp>
      <p:sp>
        <p:nvSpPr>
          <p:cNvPr id="6" name="Rounded Rectangle 5"/>
          <p:cNvSpPr/>
          <p:nvPr/>
        </p:nvSpPr>
        <p:spPr>
          <a:xfrm>
            <a:off x="731520" y="1463040"/>
            <a:ext cx="33375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3063240" cy="45720"/>
          </a:xfrm>
          <a:prstGeom prst="rect">
            <a:avLst/>
          </a:prstGeom>
          <a:solidFill>
            <a:srgbClr val="2B3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2971800" cy="3566160"/>
          </a:xfrm>
          <a:prstGeom prst="rect">
            <a:avLst/>
          </a:prstGeom>
          <a:noFill/>
        </p:spPr>
        <p:txBody>
          <a:bodyPr wrap="square" lIns="0" tIns="0" rIns="0" bIns="0">
            <a:spAutoFit/>
          </a:bodyPr>
          <a:lstStyle/>
          <a:p>
            <a:pPr>
              <a:spcAft>
                <a:spcPts val="800"/>
              </a:spcAft>
              <a:defRPr sz="1450" b="1">
                <a:solidFill>
                  <a:srgbClr val="2B3E63"/>
                </a:solidFill>
                <a:latin typeface="Georgia"/>
              </a:defRPr>
            </a:pPr>
            <a:r>
              <a:t>1. Le cheveu pousse toujours</a:t>
            </a:r>
          </a:p>
          <a:p>
            <a:pPr>
              <a:spcAft>
                <a:spcPts val="400"/>
              </a:spcAft>
              <a:defRPr sz="1100">
                <a:solidFill>
                  <a:srgbClr val="1C1B19"/>
                </a:solidFill>
                <a:latin typeface="Arial"/>
              </a:defRPr>
            </a:pPr>
            <a:r>
              <a:t>• Biologiquement, le cheveu texturé pousse de 0,8 à 1,25 cm par mois (soit environ 12 à 15 cm par an).</a:t>
            </a:r>
          </a:p>
          <a:p>
            <a:pPr>
              <a:spcAft>
                <a:spcPts val="400"/>
              </a:spcAft>
              <a:defRPr sz="1100">
                <a:solidFill>
                  <a:srgbClr val="1C1B19"/>
                </a:solidFill>
                <a:latin typeface="Arial"/>
              </a:defRPr>
            </a:pPr>
            <a:r>
              <a:t>• Si vos cheveux semblent stagner depuis des années, ce n'est PAS un problème de pousse : vos pointes se cassent au même rythme que vos racines poussent.</a:t>
            </a:r>
          </a:p>
          <a:p>
            <a:pPr>
              <a:spcAft>
                <a:spcPts val="400"/>
              </a:spcAft>
              <a:defRPr sz="1100">
                <a:solidFill>
                  <a:srgbClr val="1C1B19"/>
                </a:solidFill>
                <a:latin typeface="Arial"/>
              </a:defRPr>
            </a:pPr>
            <a:r>
              <a:t>• Le but de ce livre n'est pas de faire pousser miraculeusement, mais de CONSERVER la longueur acquise.</a:t>
            </a:r>
          </a:p>
        </p:txBody>
      </p:sp>
      <p:sp>
        <p:nvSpPr>
          <p:cNvPr id="9" name="Rounded Rectangle 8"/>
          <p:cNvSpPr/>
          <p:nvPr/>
        </p:nvSpPr>
        <p:spPr>
          <a:xfrm>
            <a:off x="4425696" y="1463040"/>
            <a:ext cx="33375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62856" y="1481328"/>
            <a:ext cx="3063240" cy="45720"/>
          </a:xfrm>
          <a:prstGeom prst="rect">
            <a:avLst/>
          </a:prstGeom>
          <a:solidFill>
            <a:srgbClr val="A85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08576" y="1645920"/>
            <a:ext cx="2971800" cy="3566160"/>
          </a:xfrm>
          <a:prstGeom prst="rect">
            <a:avLst/>
          </a:prstGeom>
          <a:noFill/>
        </p:spPr>
        <p:txBody>
          <a:bodyPr wrap="square" lIns="0" tIns="0" rIns="0" bIns="0">
            <a:spAutoFit/>
          </a:bodyPr>
          <a:lstStyle/>
          <a:p>
            <a:pPr>
              <a:spcAft>
                <a:spcPts val="800"/>
              </a:spcAft>
              <a:defRPr sz="1450" b="1">
                <a:solidFill>
                  <a:srgbClr val="A85236"/>
                </a:solidFill>
                <a:latin typeface="Georgia"/>
              </a:defRPr>
            </a:pPr>
            <a:r>
              <a:t>2. C'est une matière morte</a:t>
            </a:r>
          </a:p>
          <a:p>
            <a:pPr>
              <a:spcAft>
                <a:spcPts val="400"/>
              </a:spcAft>
              <a:defRPr sz="1100">
                <a:solidFill>
                  <a:srgbClr val="1C1B19"/>
                </a:solidFill>
                <a:latin typeface="Arial"/>
              </a:defRPr>
            </a:pPr>
            <a:r>
              <a:t>• La tige capillaire qui sort de votre crâne est constituée de kératine morte : aucun produit au monde ne peut la « nourrir » au sens biologique.</a:t>
            </a:r>
          </a:p>
          <a:p>
            <a:pPr>
              <a:spcAft>
                <a:spcPts val="400"/>
              </a:spcAft>
              <a:defRPr sz="1100">
                <a:solidFill>
                  <a:srgbClr val="1C1B19"/>
                </a:solidFill>
                <a:latin typeface="Arial"/>
              </a:defRPr>
            </a:pPr>
            <a:r>
              <a:t>• On ne nourrit pas un cheveu : on le lave, on l'hydrate avec de l'eau, on le gaine avec des lipides pour retenir cette eau, et on évite de le briser.</a:t>
            </a:r>
          </a:p>
          <a:p>
            <a:pPr>
              <a:spcAft>
                <a:spcPts val="400"/>
              </a:spcAft>
              <a:defRPr sz="1100">
                <a:solidFill>
                  <a:srgbClr val="1C1B19"/>
                </a:solidFill>
                <a:latin typeface="Arial"/>
              </a:defRPr>
            </a:pPr>
            <a:r>
              <a:t>• La seule vraie nourriture du cheveu passe par vos vaisseaux sanguins et votre assiette.</a:t>
            </a:r>
          </a:p>
        </p:txBody>
      </p:sp>
      <p:sp>
        <p:nvSpPr>
          <p:cNvPr id="12" name="Rounded Rectangle 11"/>
          <p:cNvSpPr/>
          <p:nvPr/>
        </p:nvSpPr>
        <p:spPr>
          <a:xfrm>
            <a:off x="8119872" y="1463040"/>
            <a:ext cx="33375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57032" y="1481328"/>
            <a:ext cx="3063240" cy="45720"/>
          </a:xfrm>
          <a:prstGeom prst="rect">
            <a:avLst/>
          </a:prstGeom>
          <a:solidFill>
            <a:srgbClr val="556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2752" y="1645920"/>
            <a:ext cx="2971800" cy="3566160"/>
          </a:xfrm>
          <a:prstGeom prst="rect">
            <a:avLst/>
          </a:prstGeom>
          <a:noFill/>
        </p:spPr>
        <p:txBody>
          <a:bodyPr wrap="square" lIns="0" tIns="0" rIns="0" bIns="0">
            <a:spAutoFit/>
          </a:bodyPr>
          <a:lstStyle/>
          <a:p>
            <a:pPr>
              <a:spcAft>
                <a:spcPts val="800"/>
              </a:spcAft>
              <a:defRPr sz="1450" b="1">
                <a:solidFill>
                  <a:srgbClr val="55663A"/>
                </a:solidFill>
                <a:latin typeface="Georgia"/>
              </a:defRPr>
            </a:pPr>
            <a:r>
              <a:t>3. Moins c'est mieux</a:t>
            </a:r>
          </a:p>
          <a:p>
            <a:pPr>
              <a:spcAft>
                <a:spcPts val="400"/>
              </a:spcAft>
              <a:defRPr sz="1100">
                <a:solidFill>
                  <a:srgbClr val="1C1B19"/>
                </a:solidFill>
                <a:latin typeface="Arial"/>
              </a:defRPr>
            </a:pPr>
            <a:r>
              <a:t>• L'accumulation frénétique de crèmes, beurres, sérums et huiles étouffe la cuticule et attire la poussière.</a:t>
            </a:r>
          </a:p>
          <a:p>
            <a:pPr>
              <a:spcAft>
                <a:spcPts val="400"/>
              </a:spcAft>
              <a:defRPr sz="1100">
                <a:solidFill>
                  <a:srgbClr val="1C1B19"/>
                </a:solidFill>
                <a:latin typeface="Arial"/>
              </a:defRPr>
            </a:pPr>
            <a:r>
              <a:t>• Un cheveu saturé de gras devient poisseux, imperméable à l'eau, et finit par casser de l'intérieur.</a:t>
            </a:r>
          </a:p>
          <a:p>
            <a:pPr>
              <a:spcAft>
                <a:spcPts val="400"/>
              </a:spcAft>
              <a:defRPr sz="1100">
                <a:solidFill>
                  <a:srgbClr val="1C1B19"/>
                </a:solidFill>
                <a:latin typeface="Arial"/>
              </a:defRPr>
            </a:pPr>
            <a:r>
              <a:t>• Trois ingrédients bien choisis dans votre cuisine suffisent pour bâtir la chevelure de vos rêves.</a:t>
            </a:r>
          </a:p>
        </p:txBody>
      </p:sp>
      <p:sp>
        <p:nvSpPr>
          <p:cNvPr id="15" name="Rounded Rectangle 14"/>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Retenez cette équation d'or : Santé capillaire = Pousse naturelle (génétique + alimentation) MOINS la Casse (frottements + sécheresse + manipulation).</a:t>
            </a:r>
          </a:p>
        </p:txBody>
      </p:sp>
      <p:sp>
        <p:nvSpPr>
          <p:cNvPr id="17" name="Rectangle 16"/>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9" name="TextBox 18"/>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4 / 75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MÉTHODOLOGIE &amp; CHARTE D'HONNÊTETÉ</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Comment lire ce livre : nos badges de preuve</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Une transparence scientifique totale pour distinguer le prouvé, le prometteur et la tradition.</a:t>
            </a:r>
          </a:p>
        </p:txBody>
      </p:sp>
      <p:sp>
        <p:nvSpPr>
          <p:cNvPr id="6" name="Rounded Rectangle 5"/>
          <p:cNvSpPr/>
          <p:nvPr/>
        </p:nvSpPr>
        <p:spPr>
          <a:xfrm>
            <a:off x="73152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4892040" cy="45720"/>
          </a:xfrm>
          <a:prstGeom prst="rect">
            <a:avLst/>
          </a:prstGeom>
          <a:solidFill>
            <a:srgbClr val="2B3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09160" cy="3566160"/>
          </a:xfrm>
          <a:prstGeom prst="rect">
            <a:avLst/>
          </a:prstGeom>
          <a:noFill/>
        </p:spPr>
        <p:txBody>
          <a:bodyPr wrap="square" lIns="0" tIns="0" rIns="0" bIns="0">
            <a:spAutoFit/>
          </a:bodyPr>
          <a:lstStyle/>
          <a:p>
            <a:pPr>
              <a:spcAft>
                <a:spcPts val="800"/>
              </a:spcAft>
              <a:defRPr sz="1450" b="1">
                <a:solidFill>
                  <a:srgbClr val="2B3E63"/>
                </a:solidFill>
                <a:latin typeface="Georgia"/>
              </a:defRPr>
            </a:pPr>
            <a:r>
              <a:t>Les trois niveaux de preuve scientifique</a:t>
            </a:r>
          </a:p>
          <a:p>
            <a:pPr>
              <a:spcAft>
                <a:spcPts val="400"/>
              </a:spcAft>
              <a:defRPr sz="1100" b="1">
                <a:solidFill>
                  <a:srgbClr val="2B3E63"/>
                </a:solidFill>
                <a:latin typeface="Arial"/>
              </a:defRPr>
            </a:pPr>
            <a:r>
              <a:t>● ÉTAYÉ (Études humaines publiées) : </a:t>
            </a:r>
            <a:r>
              <a:rPr sz="1100" b="0">
                <a:solidFill>
                  <a:srgbClr val="1C1B19"/>
                </a:solidFill>
                <a:latin typeface="Arial"/>
              </a:rPr>
              <a:t>Bénéfice prouvé en laboratoire et sur l'humain. Exemple : l'huile de coco qui pénètre la fibre et réduit la perte de protéines de près de 40 % (étude Rele &amp; Mohile, 2003).</a:t>
            </a:r>
          </a:p>
          <a:p>
            <a:pPr>
              <a:spcAft>
                <a:spcPts val="400"/>
              </a:spcAft>
              <a:defRPr sz="1100" b="1">
                <a:solidFill>
                  <a:srgbClr val="2B3E63"/>
                </a:solidFill>
                <a:latin typeface="Arial"/>
              </a:defRPr>
            </a:pPr>
            <a:r>
              <a:t>◐ PROMETTEUR (Études préliminaires) : </a:t>
            </a:r>
            <a:r>
              <a:rPr sz="1100" b="0">
                <a:solidFill>
                  <a:srgbClr val="1C1B19"/>
                </a:solidFill>
                <a:latin typeface="Arial"/>
              </a:rPr>
              <a:t>Mécanisme scientifiquement plausible ou études cliniques sur petits échantillons non encore répliquées. Exemple : l'action stimulante de l'huile essentielle de romarin.</a:t>
            </a:r>
          </a:p>
          <a:p>
            <a:pPr>
              <a:spcAft>
                <a:spcPts val="400"/>
              </a:spcAft>
              <a:defRPr sz="1100" b="1">
                <a:solidFill>
                  <a:srgbClr val="2B3E63"/>
                </a:solidFill>
                <a:latin typeface="Arial"/>
              </a:defRPr>
            </a:pPr>
            <a:r>
              <a:t>○ TRADITION (Usage séculaire éprouvé) : </a:t>
            </a:r>
            <a:r>
              <a:rPr sz="1100" b="0">
                <a:solidFill>
                  <a:srgbClr val="1C1B19"/>
                </a:solidFill>
                <a:latin typeface="Arial"/>
              </a:rPr>
              <a:t>Pratique ancestrale africaine documentée depuis des siècles, efficace sur le terrain mais n'ayant pas fait l'objet d'essais cliniques formels. Exemple : le gel de gombo.</a:t>
            </a:r>
          </a:p>
        </p:txBody>
      </p:sp>
      <p:sp>
        <p:nvSpPr>
          <p:cNvPr id="9" name="Rounded Rectangle 8"/>
          <p:cNvSpPr/>
          <p:nvPr/>
        </p:nvSpPr>
        <p:spPr>
          <a:xfrm>
            <a:off x="626364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481328"/>
            <a:ext cx="4892040" cy="45720"/>
          </a:xfrm>
          <a:prstGeom prst="rect">
            <a:avLst/>
          </a:prstGeom>
          <a:solidFill>
            <a:srgbClr val="B88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45920"/>
            <a:ext cx="4709160" cy="3566160"/>
          </a:xfrm>
          <a:prstGeom prst="rect">
            <a:avLst/>
          </a:prstGeom>
          <a:noFill/>
        </p:spPr>
        <p:txBody>
          <a:bodyPr wrap="square" lIns="0" tIns="0" rIns="0" bIns="0">
            <a:spAutoFit/>
          </a:bodyPr>
          <a:lstStyle/>
          <a:p>
            <a:pPr>
              <a:spcAft>
                <a:spcPts val="800"/>
              </a:spcAft>
              <a:defRPr sz="1450" b="1">
                <a:solidFill>
                  <a:srgbClr val="B8862B"/>
                </a:solidFill>
                <a:latin typeface="Georgia"/>
              </a:defRPr>
            </a:pPr>
            <a:r>
              <a:t>Les 4 pictogrammes universels</a:t>
            </a:r>
          </a:p>
          <a:p>
            <a:pPr>
              <a:spcAft>
                <a:spcPts val="400"/>
              </a:spcAft>
              <a:defRPr sz="1100" b="1">
                <a:solidFill>
                  <a:srgbClr val="B8862B"/>
                </a:solidFill>
                <a:latin typeface="Arial"/>
              </a:defRPr>
            </a:pPr>
            <a:r>
              <a:t>QUANTITÉ EXACTE : </a:t>
            </a:r>
            <a:r>
              <a:rPr sz="1100" b="0">
                <a:solidFill>
                  <a:srgbClr val="1C1B19"/>
                </a:solidFill>
                <a:latin typeface="Arial"/>
              </a:rPr>
              <a:t>Toujours exprimée en ustensiles simples (cuillère à café = 5 ml, cuillère à soupe = 15 ml, verre = 250 ml, noisette ou noix).</a:t>
            </a:r>
          </a:p>
          <a:p>
            <a:pPr>
              <a:spcAft>
                <a:spcPts val="400"/>
              </a:spcAft>
              <a:defRPr sz="1100" b="1">
                <a:solidFill>
                  <a:srgbClr val="B8862B"/>
                </a:solidFill>
                <a:latin typeface="Arial"/>
              </a:defRPr>
            </a:pPr>
            <a:r>
              <a:t>TEMPS DE POSE : </a:t>
            </a:r>
            <a:r>
              <a:rPr sz="1100" b="0">
                <a:solidFill>
                  <a:srgbClr val="1C1B19"/>
                </a:solidFill>
                <a:latin typeface="Arial"/>
              </a:rPr>
              <a:t>La durée exacte pour que l'actif agisse sans saturer ou faire gonfler la cuticule inutilement.</a:t>
            </a:r>
          </a:p>
          <a:p>
            <a:pPr>
              <a:spcAft>
                <a:spcPts val="400"/>
              </a:spcAft>
              <a:defRPr sz="1100" b="1">
                <a:solidFill>
                  <a:srgbClr val="B8862B"/>
                </a:solidFill>
                <a:latin typeface="Arial"/>
              </a:defRPr>
            </a:pPr>
            <a:r>
              <a:t>FRÉQUENCE : </a:t>
            </a:r>
            <a:r>
              <a:rPr sz="1100" b="0">
                <a:solidFill>
                  <a:srgbClr val="1C1B19"/>
                </a:solidFill>
                <a:latin typeface="Arial"/>
              </a:rPr>
              <a:t>Le rythme hebdomadaire, bimensuel ou mensuel indispensable pour obtenir un résultat visible et durable.</a:t>
            </a:r>
          </a:p>
          <a:p>
            <a:pPr>
              <a:spcAft>
                <a:spcPts val="400"/>
              </a:spcAft>
              <a:defRPr sz="1100" b="1">
                <a:solidFill>
                  <a:srgbClr val="B8862B"/>
                </a:solidFill>
                <a:latin typeface="Arial"/>
              </a:defRPr>
            </a:pPr>
            <a:r>
              <a:t>Attention : ATTENTION : </a:t>
            </a:r>
            <a:r>
              <a:rPr sz="1100" b="0">
                <a:solidFill>
                  <a:srgbClr val="1C1B19"/>
                </a:solidFill>
                <a:latin typeface="Arial"/>
              </a:rPr>
              <a:t>La contre-indication, le risque d'allergie ou la mauvaise pratique qui ruine les bienfaits de l'ingrédient.</a:t>
            </a:r>
          </a:p>
        </p:txBody>
      </p:sp>
      <p:sp>
        <p:nvSpPr>
          <p:cNvPr id="12" name="Rounded Rectangle 11"/>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Chaque fiche ingrédient et chaque astuce du livre affiche clairement son badge et ses repères. Vous savez exactement où vous mettez les pieds.</a:t>
            </a:r>
          </a:p>
        </p:txBody>
      </p:sp>
      <p:sp>
        <p:nvSpPr>
          <p:cNvPr id="14" name="Rectangle 13"/>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6" name="TextBox 15"/>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5 / 75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TABLE DES MATIÈRES COMPLÈTE</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L'architecture globale de l'ouvrage en 4 parties</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Un parcours logique en 4 étapes progressives complété par une boîte à outils pratique.</a:t>
            </a:r>
          </a:p>
        </p:txBody>
      </p:sp>
      <p:sp>
        <p:nvSpPr>
          <p:cNvPr id="6" name="Rounded Rectangle 5"/>
          <p:cNvSpPr/>
          <p:nvPr/>
        </p:nvSpPr>
        <p:spPr>
          <a:xfrm>
            <a:off x="731520" y="1508760"/>
            <a:ext cx="5166360" cy="224028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527048"/>
            <a:ext cx="4892040" cy="36576"/>
          </a:xfrm>
          <a:prstGeom prst="rect">
            <a:avLst/>
          </a:prstGeom>
          <a:solidFill>
            <a:srgbClr val="A85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19"/>
            <a:ext cx="4800600" cy="2011680"/>
          </a:xfrm>
          <a:prstGeom prst="rect">
            <a:avLst/>
          </a:prstGeom>
          <a:noFill/>
        </p:spPr>
        <p:txBody>
          <a:bodyPr wrap="square" lIns="0" tIns="0" rIns="0" bIns="0">
            <a:spAutoFit/>
          </a:bodyPr>
          <a:lstStyle/>
          <a:p>
            <a:pPr>
              <a:defRPr sz="1300" b="1">
                <a:solidFill>
                  <a:srgbClr val="A85236"/>
                </a:solidFill>
                <a:latin typeface="Georgia"/>
              </a:defRPr>
            </a:pPr>
            <a:r>
              <a:t>PARTIE 1 — INTRODUCTION</a:t>
            </a:r>
          </a:p>
          <a:p>
            <a:pPr>
              <a:spcAft>
                <a:spcPts val="400"/>
              </a:spcAft>
              <a:defRPr sz="950" b="1">
                <a:solidFill>
                  <a:srgbClr val="6E6A62"/>
                </a:solidFill>
                <a:latin typeface="Arial"/>
              </a:defRPr>
            </a:pPr>
            <a:r>
              <a:t>LA COURONNE &amp; L'IDENTITÉ</a:t>
            </a:r>
          </a:p>
          <a:p>
            <a:pPr>
              <a:defRPr sz="1050">
                <a:solidFill>
                  <a:srgbClr val="1C1B19"/>
                </a:solidFill>
                <a:latin typeface="Arial"/>
              </a:defRPr>
            </a:pPr>
            <a:r>
              <a:t>Histoire culturelle de la chevelure en Afrique · L'anatomie de la fibre en spirale · Pourquoi nos cheveux cassent · Le climat béninois : harmattan, eau calcaire de forage · Ce que ce livre est et ne fera pas.</a:t>
            </a:r>
          </a:p>
        </p:txBody>
      </p:sp>
      <p:sp>
        <p:nvSpPr>
          <p:cNvPr id="9" name="Rounded Rectangle 8"/>
          <p:cNvSpPr/>
          <p:nvPr/>
        </p:nvSpPr>
        <p:spPr>
          <a:xfrm>
            <a:off x="6263640" y="1508760"/>
            <a:ext cx="5166360" cy="224028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527048"/>
            <a:ext cx="4892040" cy="36576"/>
          </a:xfrm>
          <a:prstGeom prst="rect">
            <a:avLst/>
          </a:prstGeom>
          <a:solidFill>
            <a:srgbClr val="2B3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45919"/>
            <a:ext cx="4800600" cy="2011680"/>
          </a:xfrm>
          <a:prstGeom prst="rect">
            <a:avLst/>
          </a:prstGeom>
          <a:noFill/>
        </p:spPr>
        <p:txBody>
          <a:bodyPr wrap="square" lIns="0" tIns="0" rIns="0" bIns="0">
            <a:spAutoFit/>
          </a:bodyPr>
          <a:lstStyle/>
          <a:p>
            <a:pPr>
              <a:defRPr sz="1300" b="1">
                <a:solidFill>
                  <a:srgbClr val="2B3E63"/>
                </a:solidFill>
                <a:latin typeface="Georgia"/>
              </a:defRPr>
            </a:pPr>
            <a:r>
              <a:t>PARTIE 2 — DÉVELOPPEMENT</a:t>
            </a:r>
          </a:p>
          <a:p>
            <a:pPr>
              <a:spcAft>
                <a:spcPts val="400"/>
              </a:spcAft>
              <a:defRPr sz="950" b="1">
                <a:solidFill>
                  <a:srgbClr val="6E6A62"/>
                </a:solidFill>
                <a:latin typeface="Arial"/>
              </a:defRPr>
            </a:pPr>
            <a:r>
              <a:t>DIAGNOSTIC &amp; CUISINE</a:t>
            </a:r>
          </a:p>
          <a:p>
            <a:pPr>
              <a:defRPr sz="1050">
                <a:solidFill>
                  <a:srgbClr val="1C1B19"/>
                </a:solidFill>
                <a:latin typeface="Arial"/>
              </a:defRPr>
            </a:pPr>
            <a:r>
              <a:t>Typologie du 2A au 4C · Les 3 vrais tests de porosité · Bilan élasticité protéines/humidité · Fiche diagnostic · La pharmacie de la cuisine : 25 ingrédients décortiqués · Le tableau maître · Les 8 faux amis.</a:t>
            </a:r>
          </a:p>
        </p:txBody>
      </p:sp>
      <p:sp>
        <p:nvSpPr>
          <p:cNvPr id="12" name="Rounded Rectangle 11"/>
          <p:cNvSpPr/>
          <p:nvPr/>
        </p:nvSpPr>
        <p:spPr>
          <a:xfrm>
            <a:off x="731520" y="4069080"/>
            <a:ext cx="5166360" cy="224028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68680" y="4087368"/>
            <a:ext cx="4892040" cy="36576"/>
          </a:xfrm>
          <a:prstGeom prst="rect">
            <a:avLst/>
          </a:prstGeom>
          <a:solidFill>
            <a:srgbClr val="556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206240"/>
            <a:ext cx="4800600" cy="2011680"/>
          </a:xfrm>
          <a:prstGeom prst="rect">
            <a:avLst/>
          </a:prstGeom>
          <a:noFill/>
        </p:spPr>
        <p:txBody>
          <a:bodyPr wrap="square" lIns="0" tIns="0" rIns="0" bIns="0">
            <a:spAutoFit/>
          </a:bodyPr>
          <a:lstStyle/>
          <a:p>
            <a:pPr>
              <a:defRPr sz="1300" b="1">
                <a:solidFill>
                  <a:srgbClr val="55663A"/>
                </a:solidFill>
                <a:latin typeface="Georgia"/>
              </a:defRPr>
            </a:pPr>
            <a:r>
              <a:t>PARTIE 3 — ASTUCES &amp; SOINS</a:t>
            </a:r>
          </a:p>
          <a:p>
            <a:pPr>
              <a:spcAft>
                <a:spcPts val="400"/>
              </a:spcAft>
              <a:defRPr sz="950" b="1">
                <a:solidFill>
                  <a:srgbClr val="6E6A62"/>
                </a:solidFill>
                <a:latin typeface="Arial"/>
              </a:defRPr>
            </a:pPr>
            <a:r>
              <a:t>ROUTINES &amp; L'ASSIETTE</a:t>
            </a:r>
          </a:p>
          <a:p>
            <a:pPr>
              <a:defRPr sz="1050">
                <a:solidFill>
                  <a:srgbClr val="1C1B19"/>
                </a:solidFill>
                <a:latin typeface="Arial"/>
              </a:defRPr>
            </a:pPr>
            <a:r>
              <a:t>Le rythme de la semaine (15 min, 45 min, 1h30) · Laver sans casser · Démêler en 4 sections · La méthode LCO · L'Assiette Cheveux (nutrition &amp; fer) · Garder ce qui pousse · Le Kit Anti-Paresse (défis &amp; checklists).</a:t>
            </a:r>
          </a:p>
        </p:txBody>
      </p:sp>
      <p:sp>
        <p:nvSpPr>
          <p:cNvPr id="15" name="Rounded Rectangle 14"/>
          <p:cNvSpPr/>
          <p:nvPr/>
        </p:nvSpPr>
        <p:spPr>
          <a:xfrm>
            <a:off x="6263640" y="4069080"/>
            <a:ext cx="5166360" cy="224028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0" y="4087368"/>
            <a:ext cx="4892040" cy="36576"/>
          </a:xfrm>
          <a:prstGeom prst="rect">
            <a:avLst/>
          </a:prstGeom>
          <a:solidFill>
            <a:srgbClr val="B88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4206240"/>
            <a:ext cx="4800600" cy="2011680"/>
          </a:xfrm>
          <a:prstGeom prst="rect">
            <a:avLst/>
          </a:prstGeom>
          <a:noFill/>
        </p:spPr>
        <p:txBody>
          <a:bodyPr wrap="square" lIns="0" tIns="0" rIns="0" bIns="0">
            <a:spAutoFit/>
          </a:bodyPr>
          <a:lstStyle/>
          <a:p>
            <a:pPr>
              <a:defRPr sz="1300" b="1">
                <a:solidFill>
                  <a:srgbClr val="B8862B"/>
                </a:solidFill>
                <a:latin typeface="Georgia"/>
              </a:defRPr>
            </a:pPr>
            <a:r>
              <a:t>PARTIE 4 — TRESSES PROTECTRICES</a:t>
            </a:r>
          </a:p>
          <a:p>
            <a:pPr>
              <a:spcAft>
                <a:spcPts val="400"/>
              </a:spcAft>
              <a:defRPr sz="950" b="1">
                <a:solidFill>
                  <a:srgbClr val="6E6A62"/>
                </a:solidFill>
                <a:latin typeface="Arial"/>
              </a:defRPr>
            </a:pPr>
            <a:r>
              <a:t>HÉRITAGE &amp; PRÉSERVATION</a:t>
            </a:r>
          </a:p>
          <a:p>
            <a:pPr>
              <a:defRPr sz="1050">
                <a:solidFill>
                  <a:srgbClr val="1C1B19"/>
                </a:solidFill>
                <a:latin typeface="Arial"/>
              </a:defRPr>
            </a:pPr>
            <a:r>
              <a:t>La science des coiffures protectrices · 31,7 % d'alopécie de traction : chiffres &amp; prévention · Catalogue de 12 coiffures avec scores de risque · Protocole J-7 à J+30 · Fiche à remettre à la coiffeuse · Boîte à outils.</a:t>
            </a:r>
          </a:p>
        </p:txBody>
      </p:sp>
      <p:sp>
        <p:nvSpPr>
          <p:cNvPr id="18" name="Rectangle 17"/>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20" name="TextBox 19"/>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6 / 75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731520"/>
            <a:ext cx="10362895" cy="5394960"/>
          </a:xfrm>
          <a:prstGeom prst="rect">
            <a:avLst/>
          </a:prstGeom>
          <a:noFill/>
          <a:ln w="15240">
            <a:solidFill>
              <a:srgbClr val="B88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188720"/>
            <a:ext cx="9445752" cy="365760"/>
          </a:xfrm>
          <a:prstGeom prst="rect">
            <a:avLst/>
          </a:prstGeom>
          <a:noFill/>
        </p:spPr>
        <p:txBody>
          <a:bodyPr wrap="none" lIns="0" tIns="0" rIns="0" bIns="0">
            <a:spAutoFit/>
          </a:bodyPr>
          <a:lstStyle/>
          <a:p>
            <a:pPr>
              <a:defRPr sz="1200" b="1">
                <a:solidFill>
                  <a:srgbClr val="D9A13B"/>
                </a:solidFill>
                <a:latin typeface="Arial"/>
              </a:defRPr>
            </a:pPr>
            <a:r>
              <a:t>PREMIÈRE PARTIE</a:t>
            </a:r>
          </a:p>
        </p:txBody>
      </p:sp>
      <p:sp>
        <p:nvSpPr>
          <p:cNvPr id="5" name="TextBox 4"/>
          <p:cNvSpPr txBox="1"/>
          <p:nvPr/>
        </p:nvSpPr>
        <p:spPr>
          <a:xfrm>
            <a:off x="1371600" y="1645920"/>
            <a:ext cx="9445752" cy="1097280"/>
          </a:xfrm>
          <a:prstGeom prst="rect">
            <a:avLst/>
          </a:prstGeom>
          <a:noFill/>
        </p:spPr>
        <p:txBody>
          <a:bodyPr wrap="square" lIns="0" tIns="0" rIns="0" bIns="0">
            <a:spAutoFit/>
          </a:bodyPr>
          <a:lstStyle/>
          <a:p>
            <a:pPr>
              <a:defRPr sz="3600" b="1">
                <a:solidFill>
                  <a:srgbClr val="FAF6F0"/>
                </a:solidFill>
                <a:latin typeface="Georgia"/>
              </a:defRPr>
            </a:pPr>
            <a:r>
              <a:t>La Couronne &amp; l'Identité</a:t>
            </a:r>
          </a:p>
        </p:txBody>
      </p:sp>
      <p:sp>
        <p:nvSpPr>
          <p:cNvPr id="6" name="Rectangle 5"/>
          <p:cNvSpPr/>
          <p:nvPr/>
        </p:nvSpPr>
        <p:spPr>
          <a:xfrm>
            <a:off x="1371600" y="2926080"/>
            <a:ext cx="3200400" cy="36576"/>
          </a:xfrm>
          <a:prstGeom prst="rect">
            <a:avLst/>
          </a:prstGeom>
          <a:solidFill>
            <a:srgbClr val="D9A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154680"/>
            <a:ext cx="9445752" cy="1280160"/>
          </a:xfrm>
          <a:prstGeom prst="rect">
            <a:avLst/>
          </a:prstGeom>
          <a:noFill/>
        </p:spPr>
        <p:txBody>
          <a:bodyPr wrap="square" lIns="0" tIns="0" rIns="0" bIns="0">
            <a:spAutoFit/>
          </a:bodyPr>
          <a:lstStyle/>
          <a:p>
            <a:pPr>
              <a:defRPr sz="1800" i="1">
                <a:solidFill>
                  <a:srgbClr val="D9A13B"/>
                </a:solidFill>
                <a:latin typeface="Georgia"/>
              </a:defRPr>
            </a:pPr>
            <a:r>
              <a:t>« Les cheveux sont la gloire de la femme. Comprendre sa couronne, c'est reprendre le pouvoir sur elle sans jamais la dénaturer. »</a:t>
            </a:r>
          </a:p>
        </p:txBody>
      </p:sp>
      <p:sp>
        <p:nvSpPr>
          <p:cNvPr id="8" name="TextBox 7"/>
          <p:cNvSpPr txBox="1"/>
          <p:nvPr/>
        </p:nvSpPr>
        <p:spPr>
          <a:xfrm>
            <a:off x="1371600" y="4572000"/>
            <a:ext cx="9445752" cy="914400"/>
          </a:xfrm>
          <a:prstGeom prst="rect">
            <a:avLst/>
          </a:prstGeom>
          <a:noFill/>
        </p:spPr>
        <p:txBody>
          <a:bodyPr wrap="square" lIns="0" tIns="0" rIns="0" bIns="0">
            <a:spAutoFit/>
          </a:bodyPr>
          <a:lstStyle/>
          <a:p>
            <a:pPr>
              <a:defRPr sz="1300">
                <a:solidFill>
                  <a:srgbClr val="D2C8B8"/>
                </a:solidFill>
                <a:latin typeface="Arial"/>
              </a:defRPr>
            </a:pPr>
            <a:r>
              <a:t>Redécouvrir la beauté, l'histoire et la biologie singulière de notre chevelure texturée.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PARTIE 1 · CHAPITRE 1 — SIGNIFICATION CULTURELLE</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 Les cheveux, la gloire de la femme » : histoire et société</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En Afrique de l'Ouest, la chevelure n'est jamais neutre : elle est un langage social vivant.</a:t>
            </a:r>
          </a:p>
        </p:txBody>
      </p:sp>
      <p:sp>
        <p:nvSpPr>
          <p:cNvPr id="6" name="Rounded Rectangle 5"/>
          <p:cNvSpPr/>
          <p:nvPr/>
        </p:nvSpPr>
        <p:spPr>
          <a:xfrm>
            <a:off x="73152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4892040" cy="45720"/>
          </a:xfrm>
          <a:prstGeom prst="rect">
            <a:avLst/>
          </a:prstGeom>
          <a:solidFill>
            <a:srgbClr val="A85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09160" cy="3566160"/>
          </a:xfrm>
          <a:prstGeom prst="rect">
            <a:avLst/>
          </a:prstGeom>
          <a:noFill/>
        </p:spPr>
        <p:txBody>
          <a:bodyPr wrap="square" lIns="0" tIns="0" rIns="0" bIns="0">
            <a:spAutoFit/>
          </a:bodyPr>
          <a:lstStyle/>
          <a:p>
            <a:pPr>
              <a:spcAft>
                <a:spcPts val="800"/>
              </a:spcAft>
              <a:defRPr sz="1450" b="1">
                <a:solidFill>
                  <a:srgbClr val="A85236"/>
                </a:solidFill>
                <a:latin typeface="Georgia"/>
              </a:defRPr>
            </a:pPr>
            <a:r>
              <a:t>Un langage social codé et puissant</a:t>
            </a:r>
          </a:p>
          <a:p>
            <a:pPr>
              <a:spcAft>
                <a:spcPts val="400"/>
              </a:spcAft>
              <a:defRPr sz="1100" b="1">
                <a:solidFill>
                  <a:srgbClr val="A85236"/>
                </a:solidFill>
                <a:latin typeface="Arial"/>
              </a:defRPr>
            </a:pPr>
            <a:r>
              <a:t>La royauté et le rang social : </a:t>
            </a:r>
            <a:r>
              <a:rPr sz="1100" b="0">
                <a:solidFill>
                  <a:srgbClr val="1C1B19"/>
                </a:solidFill>
                <a:latin typeface="Arial"/>
              </a:rPr>
              <a:t>Dans les royaumes du Danxomè et en pays yoruba, la forme des tresses, le dessin des raies et les parures indiquaient la royauté, l'appartenance clanique ou le célibat.</a:t>
            </a:r>
          </a:p>
          <a:p>
            <a:pPr>
              <a:spcAft>
                <a:spcPts val="400"/>
              </a:spcAft>
              <a:defRPr sz="1100" b="1">
                <a:solidFill>
                  <a:srgbClr val="A85236"/>
                </a:solidFill>
                <a:latin typeface="Arial"/>
              </a:defRPr>
            </a:pPr>
            <a:r>
              <a:t>Les étapes majeures de la vie : </a:t>
            </a:r>
            <a:r>
              <a:rPr sz="1100" b="0">
                <a:solidFill>
                  <a:srgbClr val="1C1B19"/>
                </a:solidFill>
                <a:latin typeface="Arial"/>
              </a:rPr>
              <a:t>La coiffure accompagnait les rites de passage : virginité, mariage, maternité, veuvage. Les cheveux étaient le réceptacle de la force vitale spirituelle.</a:t>
            </a:r>
          </a:p>
          <a:p>
            <a:pPr>
              <a:spcAft>
                <a:spcPts val="400"/>
              </a:spcAft>
              <a:defRPr sz="1100" b="1">
                <a:solidFill>
                  <a:srgbClr val="A85236"/>
                </a:solidFill>
                <a:latin typeface="Arial"/>
              </a:defRPr>
            </a:pPr>
            <a:r>
              <a:t>Une mémoire transmise de mère en fille : </a:t>
            </a:r>
            <a:r>
              <a:rPr sz="1100" b="0">
                <a:solidFill>
                  <a:srgbClr val="1C1B19"/>
                </a:solidFill>
                <a:latin typeface="Arial"/>
              </a:rPr>
              <a:t>Les séances de coiffage sur le pas de la porte étaient des moments de transmission orale, de complicité intergénérationnelle et de confidences intimes.</a:t>
            </a:r>
          </a:p>
        </p:txBody>
      </p:sp>
      <p:sp>
        <p:nvSpPr>
          <p:cNvPr id="9" name="Rounded Rectangle 8"/>
          <p:cNvSpPr/>
          <p:nvPr/>
        </p:nvSpPr>
        <p:spPr>
          <a:xfrm>
            <a:off x="626364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481328"/>
            <a:ext cx="4892040" cy="45720"/>
          </a:xfrm>
          <a:prstGeom prst="rect">
            <a:avLst/>
          </a:prstGeom>
          <a:solidFill>
            <a:srgbClr val="2B3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45920"/>
            <a:ext cx="4709160" cy="3566160"/>
          </a:xfrm>
          <a:prstGeom prst="rect">
            <a:avLst/>
          </a:prstGeom>
          <a:noFill/>
        </p:spPr>
        <p:txBody>
          <a:bodyPr wrap="square" lIns="0" tIns="0" rIns="0" bIns="0">
            <a:spAutoFit/>
          </a:bodyPr>
          <a:lstStyle/>
          <a:p>
            <a:pPr>
              <a:spcAft>
                <a:spcPts val="800"/>
              </a:spcAft>
              <a:defRPr sz="1450" b="1">
                <a:solidFill>
                  <a:srgbClr val="2B3E63"/>
                </a:solidFill>
                <a:latin typeface="Georgia"/>
              </a:defRPr>
            </a:pPr>
            <a:r>
              <a:t>La double pression contemporaine</a:t>
            </a:r>
          </a:p>
          <a:p>
            <a:pPr>
              <a:spcAft>
                <a:spcPts val="400"/>
              </a:spcAft>
              <a:defRPr sz="1100" b="1">
                <a:solidFill>
                  <a:srgbClr val="2B3E63"/>
                </a:solidFill>
                <a:latin typeface="Arial"/>
              </a:defRPr>
            </a:pPr>
            <a:r>
              <a:t>L'injonction contradictoire : </a:t>
            </a:r>
            <a:r>
              <a:rPr sz="1100" b="0">
                <a:solidFill>
                  <a:srgbClr val="1C1B19"/>
                </a:solidFill>
                <a:latin typeface="Arial"/>
              </a:rPr>
              <a:t>« Sois naturelle et fière de tes racines », mais « aie des cheveux disciplinés, lisses et sans volume au bureau ou à l'église ».</a:t>
            </a:r>
          </a:p>
          <a:p>
            <a:pPr>
              <a:spcAft>
                <a:spcPts val="400"/>
              </a:spcAft>
              <a:defRPr sz="1100" b="1">
                <a:solidFill>
                  <a:srgbClr val="2B3E63"/>
                </a:solidFill>
                <a:latin typeface="Arial"/>
              </a:defRPr>
            </a:pPr>
            <a:r>
              <a:t>Le mythe du cheveu « dur » ou « difficile » : </a:t>
            </a:r>
            <a:r>
              <a:rPr sz="1100" b="0">
                <a:solidFill>
                  <a:srgbClr val="1C1B19"/>
                </a:solidFill>
                <a:latin typeface="Arial"/>
              </a:rPr>
              <a:t>Nos cheveux ne sont pas durs : ils ont simplement soif. Dès qu'ils reçoivent l'eau et les lipides dont ils ont besoin, ils deviennent souples comme du velours.</a:t>
            </a:r>
          </a:p>
          <a:p>
            <a:pPr>
              <a:spcAft>
                <a:spcPts val="400"/>
              </a:spcAft>
              <a:defRPr sz="1100" b="1">
                <a:solidFill>
                  <a:srgbClr val="2B3E63"/>
                </a:solidFill>
                <a:latin typeface="Arial"/>
              </a:defRPr>
            </a:pPr>
            <a:r>
              <a:t>Prendre soin de soi n'est pas de la vanité : </a:t>
            </a:r>
            <a:r>
              <a:rPr sz="1100" b="0">
                <a:solidFill>
                  <a:srgbClr val="1C1B19"/>
                </a:solidFill>
                <a:latin typeface="Arial"/>
              </a:rPr>
              <a:t>Consacrer dix minutes à hydrater sa chevelure est un acte d'estime de soi, de respect de sa santé et d'affirmation culturelle.</a:t>
            </a:r>
          </a:p>
        </p:txBody>
      </p:sp>
      <p:sp>
        <p:nvSpPr>
          <p:cNvPr id="12" name="Rounded Rectangle 11"/>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Vos cheveux ne sont pas un problème à corriger. C'est une couronne vivante qui attend simplement d'être comprise et respectée.</a:t>
            </a:r>
          </a:p>
        </p:txBody>
      </p:sp>
      <p:sp>
        <p:nvSpPr>
          <p:cNvPr id="14" name="Rectangle 13"/>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6" name="TextBox 15"/>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8 / 75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PARTIE 1 · CHAPITRE 2 — BIOLOGIE DU CHEVEU TEXTURÉ</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L'anatomie de la fibre en spirale : pourquoi elle casse</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La forme elliptique et torsadée explique pourquoi nos cheveux ont des besoins uniques.</a:t>
            </a:r>
          </a:p>
        </p:txBody>
      </p:sp>
      <p:sp>
        <p:nvSpPr>
          <p:cNvPr id="6" name="Rounded Rectangle 5"/>
          <p:cNvSpPr/>
          <p:nvPr/>
        </p:nvSpPr>
        <p:spPr>
          <a:xfrm>
            <a:off x="73152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4892040" cy="45720"/>
          </a:xfrm>
          <a:prstGeom prst="rect">
            <a:avLst/>
          </a:prstGeom>
          <a:solidFill>
            <a:srgbClr val="B88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09160" cy="3566160"/>
          </a:xfrm>
          <a:prstGeom prst="rect">
            <a:avLst/>
          </a:prstGeom>
          <a:noFill/>
        </p:spPr>
        <p:txBody>
          <a:bodyPr wrap="square" lIns="0" tIns="0" rIns="0" bIns="0">
            <a:spAutoFit/>
          </a:bodyPr>
          <a:lstStyle/>
          <a:p>
            <a:pPr>
              <a:spcAft>
                <a:spcPts val="800"/>
              </a:spcAft>
              <a:defRPr sz="1450" b="1">
                <a:solidFill>
                  <a:srgbClr val="B8862B"/>
                </a:solidFill>
                <a:latin typeface="Georgia"/>
              </a:defRPr>
            </a:pPr>
            <a:r>
              <a:t>Le mystère du sébum qui ne descend pas</a:t>
            </a:r>
          </a:p>
          <a:p>
            <a:pPr>
              <a:spcAft>
                <a:spcPts val="400"/>
              </a:spcAft>
              <a:defRPr sz="1100" b="1">
                <a:solidFill>
                  <a:srgbClr val="B8862B"/>
                </a:solidFill>
                <a:latin typeface="Arial"/>
              </a:defRPr>
            </a:pPr>
            <a:r>
              <a:t>Le follicule incurvé en crosse de golf : </a:t>
            </a:r>
            <a:r>
              <a:rPr sz="1100" b="0">
                <a:solidFill>
                  <a:srgbClr val="1C1B19"/>
                </a:solidFill>
                <a:latin typeface="Arial"/>
              </a:rPr>
              <a:t>Contrairement au cheveu asiatique ou caucasien qui pousse droit d'un follicule rond, le cheveu afro pousse d'un follicule incliné et courbé.</a:t>
            </a:r>
          </a:p>
          <a:p>
            <a:pPr>
              <a:spcAft>
                <a:spcPts val="400"/>
              </a:spcAft>
              <a:defRPr sz="1100" b="1">
                <a:solidFill>
                  <a:srgbClr val="B8862B"/>
                </a:solidFill>
                <a:latin typeface="Arial"/>
              </a:defRPr>
            </a:pPr>
            <a:r>
              <a:t>La forme de ruban torsadé : </a:t>
            </a:r>
            <a:r>
              <a:rPr sz="1100" b="0">
                <a:solidFill>
                  <a:srgbClr val="1C1B19"/>
                </a:solidFill>
                <a:latin typeface="Arial"/>
              </a:rPr>
              <a:t>La fibre ressemble à un ressort ou un ruban qui tourne sur lui-même. Chaque virage de la boucle crée un point de torsion mécanique très vulnérable.</a:t>
            </a:r>
          </a:p>
          <a:p>
            <a:pPr>
              <a:spcAft>
                <a:spcPts val="400"/>
              </a:spcAft>
              <a:defRPr sz="1100" b="1">
                <a:solidFill>
                  <a:srgbClr val="B8862B"/>
                </a:solidFill>
                <a:latin typeface="Arial"/>
              </a:defRPr>
            </a:pPr>
            <a:r>
              <a:t>La barrière du sébum : </a:t>
            </a:r>
            <a:r>
              <a:rPr sz="1100" b="0">
                <a:solidFill>
                  <a:srgbClr val="1C1B19"/>
                </a:solidFill>
                <a:latin typeface="Arial"/>
              </a:rPr>
              <a:t>Le sébum produit par le cuir chevelu glisse facilement sur une tige droite. Sur une spirale 4C serrée, il reste bloqué aux racines : les longueurs et pointes restent sèches par nature.</a:t>
            </a:r>
          </a:p>
        </p:txBody>
      </p:sp>
      <p:sp>
        <p:nvSpPr>
          <p:cNvPr id="9" name="Rounded Rectangle 8"/>
          <p:cNvSpPr/>
          <p:nvPr/>
        </p:nvSpPr>
        <p:spPr>
          <a:xfrm>
            <a:off x="626364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481328"/>
            <a:ext cx="4892040" cy="45720"/>
          </a:xfrm>
          <a:prstGeom prst="rect">
            <a:avLst/>
          </a:prstGeom>
          <a:solidFill>
            <a:srgbClr val="2B3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45920"/>
            <a:ext cx="4709160" cy="3566160"/>
          </a:xfrm>
          <a:prstGeom prst="rect">
            <a:avLst/>
          </a:prstGeom>
          <a:noFill/>
        </p:spPr>
        <p:txBody>
          <a:bodyPr wrap="square" lIns="0" tIns="0" rIns="0" bIns="0">
            <a:spAutoFit/>
          </a:bodyPr>
          <a:lstStyle/>
          <a:p>
            <a:pPr>
              <a:spcAft>
                <a:spcPts val="800"/>
              </a:spcAft>
              <a:defRPr sz="1450" b="1">
                <a:solidFill>
                  <a:srgbClr val="2B3E63"/>
                </a:solidFill>
                <a:latin typeface="Georgia"/>
              </a:defRPr>
            </a:pPr>
            <a:r>
              <a:t>Les trois couches de la tige capillaire</a:t>
            </a:r>
          </a:p>
          <a:p>
            <a:pPr>
              <a:spcAft>
                <a:spcPts val="400"/>
              </a:spcAft>
              <a:defRPr sz="1100" b="1">
                <a:solidFill>
                  <a:srgbClr val="2B3E63"/>
                </a:solidFill>
                <a:latin typeface="Arial"/>
              </a:defRPr>
            </a:pPr>
            <a:r>
              <a:t>1. La cuticule (l'armure protectrice) : </a:t>
            </a:r>
            <a:r>
              <a:rPr sz="1100" b="0">
                <a:solidFill>
                  <a:srgbClr val="1C1B19"/>
                </a:solidFill>
                <a:latin typeface="Arial"/>
              </a:rPr>
              <a:t>Formée d'écailles de kératine superposées comme les tuiles d'un toit. Si les écailles sont fermées, le cheveu retient l'eau et brille. Si elles sont ouvertes, l'eau s'échappe.</a:t>
            </a:r>
          </a:p>
          <a:p>
            <a:pPr>
              <a:spcAft>
                <a:spcPts val="400"/>
              </a:spcAft>
              <a:defRPr sz="1100" b="1">
                <a:solidFill>
                  <a:srgbClr val="2B3E63"/>
                </a:solidFill>
                <a:latin typeface="Arial"/>
              </a:defRPr>
            </a:pPr>
            <a:r>
              <a:t>2. Le cortex (le cœur et la force) : </a:t>
            </a:r>
            <a:r>
              <a:rPr sz="1100" b="0">
                <a:solidFill>
                  <a:srgbClr val="1C1B19"/>
                </a:solidFill>
                <a:latin typeface="Arial"/>
              </a:rPr>
              <a:t>Constitue 85 % de la fibre. Contient les chaînes de kératine hélicoïdales et la mélanine. C'est lui qui donne au cheveu son élasticité et sa couleur.</a:t>
            </a:r>
          </a:p>
          <a:p>
            <a:pPr>
              <a:spcAft>
                <a:spcPts val="400"/>
              </a:spcAft>
              <a:defRPr sz="1100" b="1">
                <a:solidFill>
                  <a:srgbClr val="2B3E63"/>
                </a:solidFill>
                <a:latin typeface="Arial"/>
              </a:defRPr>
            </a:pPr>
            <a:r>
              <a:t>3. La moelle (le canal central) : </a:t>
            </a:r>
            <a:r>
              <a:rPr sz="1100" b="0">
                <a:solidFill>
                  <a:srgbClr val="1C1B19"/>
                </a:solidFill>
                <a:latin typeface="Arial"/>
              </a:rPr>
              <a:t>Parfois absente chez les cheveux très fins. Elle n'a pas de rôle mécanique direct mais participe au volume.</a:t>
            </a:r>
          </a:p>
        </p:txBody>
      </p:sp>
      <p:sp>
        <p:nvSpPr>
          <p:cNvPr id="12" name="Rounded Rectangle 11"/>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Le cheveu crépu n'est pas fragile par faiblesse génétique : il est vulnérable parce que sa géométrie en ressort l'expose aux frottements et à la sécheresse.</a:t>
            </a:r>
          </a:p>
        </p:txBody>
      </p:sp>
      <p:sp>
        <p:nvSpPr>
          <p:cNvPr id="14" name="Rectangle 13"/>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6" name="TextBox 15"/>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9 / 75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PARTIE 1 · CHAPITRE 3 — FACTEURS ENVIRONNEMENTAUX</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L'impact du climat ouest-africain sur la fibre capillaire</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Harmattan, humidité équatoriale et eau de forage : les trois défis du quotidien béninois.</a:t>
            </a:r>
          </a:p>
        </p:txBody>
      </p:sp>
      <p:sp>
        <p:nvSpPr>
          <p:cNvPr id="6" name="Rounded Rectangle 5"/>
          <p:cNvSpPr/>
          <p:nvPr/>
        </p:nvSpPr>
        <p:spPr>
          <a:xfrm>
            <a:off x="73152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4892040" cy="45720"/>
          </a:xfrm>
          <a:prstGeom prst="rect">
            <a:avLst/>
          </a:prstGeom>
          <a:solidFill>
            <a:srgbClr val="A85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09160" cy="3566160"/>
          </a:xfrm>
          <a:prstGeom prst="rect">
            <a:avLst/>
          </a:prstGeom>
          <a:noFill/>
        </p:spPr>
        <p:txBody>
          <a:bodyPr wrap="square" lIns="0" tIns="0" rIns="0" bIns="0">
            <a:spAutoFit/>
          </a:bodyPr>
          <a:lstStyle/>
          <a:p>
            <a:pPr>
              <a:spcAft>
                <a:spcPts val="800"/>
              </a:spcAft>
              <a:defRPr sz="1450" b="1">
                <a:solidFill>
                  <a:srgbClr val="A85236"/>
                </a:solidFill>
                <a:latin typeface="Georgia"/>
              </a:defRPr>
            </a:pPr>
            <a:r>
              <a:t>L'Harmattan et la saison sèche (Décembre - Février)</a:t>
            </a:r>
          </a:p>
          <a:p>
            <a:pPr>
              <a:spcAft>
                <a:spcPts val="400"/>
              </a:spcAft>
              <a:defRPr sz="1100" b="1">
                <a:solidFill>
                  <a:srgbClr val="A85236"/>
                </a:solidFill>
                <a:latin typeface="Arial"/>
              </a:defRPr>
            </a:pPr>
            <a:r>
              <a:t>Le vent du désert : </a:t>
            </a:r>
            <a:r>
              <a:rPr sz="1100" b="0">
                <a:solidFill>
                  <a:srgbClr val="1C1B19"/>
                </a:solidFill>
                <a:latin typeface="Arial"/>
              </a:rPr>
              <a:t>L'harmattan apporte un vent sec chargé de micro-poussières de silice. L'humidité de l'air tombe en dessous de 20 % : le cheveu perd toute son eau par évaporation directe.</a:t>
            </a:r>
          </a:p>
          <a:p>
            <a:pPr>
              <a:spcAft>
                <a:spcPts val="400"/>
              </a:spcAft>
              <a:defRPr sz="1100" b="1">
                <a:solidFill>
                  <a:srgbClr val="A85236"/>
                </a:solidFill>
                <a:latin typeface="Arial"/>
              </a:defRPr>
            </a:pPr>
            <a:r>
              <a:t>L'effet « paille cassante » : </a:t>
            </a:r>
            <a:r>
              <a:rPr sz="1100" b="0">
                <a:solidFill>
                  <a:srgbClr val="1C1B19"/>
                </a:solidFill>
                <a:latin typeface="Arial"/>
              </a:rPr>
              <a:t>Sans protection occlusive lourde (beurre de karité brut), les cuticules se soulèvent et la tige se brise au moindre coup de peigne.</a:t>
            </a:r>
          </a:p>
          <a:p>
            <a:pPr>
              <a:spcAft>
                <a:spcPts val="400"/>
              </a:spcAft>
              <a:defRPr sz="1100" b="1">
                <a:solidFill>
                  <a:srgbClr val="A85236"/>
                </a:solidFill>
                <a:latin typeface="Arial"/>
              </a:defRPr>
            </a:pPr>
            <a:r>
              <a:t>La poussière abrasive : </a:t>
            </a:r>
            <a:r>
              <a:rPr sz="1100" b="0">
                <a:solidFill>
                  <a:srgbClr val="1C1B19"/>
                </a:solidFill>
                <a:latin typeface="Arial"/>
              </a:rPr>
              <a:t>La poussière s'infiltre dans les spirales et agit comme du papier de verre lors du brossage. D'où la nécessité de protéger les cheveux sous des foulards en satin.</a:t>
            </a:r>
          </a:p>
        </p:txBody>
      </p:sp>
      <p:sp>
        <p:nvSpPr>
          <p:cNvPr id="9" name="Rounded Rectangle 8"/>
          <p:cNvSpPr/>
          <p:nvPr/>
        </p:nvSpPr>
        <p:spPr>
          <a:xfrm>
            <a:off x="626364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481328"/>
            <a:ext cx="4892040" cy="45720"/>
          </a:xfrm>
          <a:prstGeom prst="rect">
            <a:avLst/>
          </a:prstGeom>
          <a:solidFill>
            <a:srgbClr val="556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45920"/>
            <a:ext cx="4709160" cy="3566160"/>
          </a:xfrm>
          <a:prstGeom prst="rect">
            <a:avLst/>
          </a:prstGeom>
          <a:noFill/>
        </p:spPr>
        <p:txBody>
          <a:bodyPr wrap="square" lIns="0" tIns="0" rIns="0" bIns="0">
            <a:spAutoFit/>
          </a:bodyPr>
          <a:lstStyle/>
          <a:p>
            <a:pPr>
              <a:spcAft>
                <a:spcPts val="800"/>
              </a:spcAft>
              <a:defRPr sz="1450" b="1">
                <a:solidFill>
                  <a:srgbClr val="55663A"/>
                </a:solidFill>
                <a:latin typeface="Georgia"/>
              </a:defRPr>
            </a:pPr>
            <a:r>
              <a:t>L'eau dure de forage et de robinet</a:t>
            </a:r>
          </a:p>
          <a:p>
            <a:pPr>
              <a:spcAft>
                <a:spcPts val="400"/>
              </a:spcAft>
              <a:defRPr sz="1100" b="1">
                <a:solidFill>
                  <a:srgbClr val="55663A"/>
                </a:solidFill>
                <a:latin typeface="Arial"/>
              </a:defRPr>
            </a:pPr>
            <a:r>
              <a:t>Une eau chargée en calcium et magnésium : </a:t>
            </a:r>
            <a:r>
              <a:rPr sz="1100" b="0">
                <a:solidFill>
                  <a:srgbClr val="1C1B19"/>
                </a:solidFill>
                <a:latin typeface="Arial"/>
              </a:rPr>
              <a:t>Dans la plupart des quartiers de Cotonou, Calavi, Porto-Novo ou Parakou, l'eau de pompe ou de forage est très dure (fortement minéralisée).</a:t>
            </a:r>
          </a:p>
          <a:p>
            <a:pPr>
              <a:spcAft>
                <a:spcPts val="400"/>
              </a:spcAft>
              <a:defRPr sz="1100" b="1">
                <a:solidFill>
                  <a:srgbClr val="55663A"/>
                </a:solidFill>
                <a:latin typeface="Arial"/>
              </a:defRPr>
            </a:pPr>
            <a:r>
              <a:t>Le piège du dépôt invisible : </a:t>
            </a:r>
            <a:r>
              <a:rPr sz="1100" b="0">
                <a:solidFill>
                  <a:srgbClr val="1C1B19"/>
                </a:solidFill>
                <a:latin typeface="Arial"/>
              </a:rPr>
              <a:t>Les sels minéraux insolubles se déposent sur les écailles des cheveux. Ils forment un film rigide et terne qui empêche les masques et l'eau de pénétrer.</a:t>
            </a:r>
          </a:p>
          <a:p>
            <a:pPr>
              <a:spcAft>
                <a:spcPts val="400"/>
              </a:spcAft>
              <a:defRPr sz="1100" b="1">
                <a:solidFill>
                  <a:srgbClr val="55663A"/>
                </a:solidFill>
                <a:latin typeface="Arial"/>
              </a:defRPr>
            </a:pPr>
            <a:r>
              <a:t>La solution souveraine : le rinçage acide : </a:t>
            </a:r>
            <a:r>
              <a:rPr sz="1100" b="0">
                <a:solidFill>
                  <a:srgbClr val="1C1B19"/>
                </a:solidFill>
                <a:latin typeface="Arial"/>
              </a:rPr>
              <a:t>Une seule cuillère à soupe de vinaigre de cidre dans un grand verre d'eau tiède dissout instantanément ces dépôts calcaires et lisse la fibre.</a:t>
            </a:r>
          </a:p>
        </p:txBody>
      </p:sp>
      <p:sp>
        <p:nvSpPr>
          <p:cNvPr id="12" name="Rounded Rectangle 11"/>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Adapter ses soins à la saison et neutraliser le calcaire de l'eau locale règle à lui seul la moitié des problèmes de cheveux ternes et cassants.</a:t>
            </a:r>
          </a:p>
        </p:txBody>
      </p:sp>
      <p:sp>
        <p:nvSpPr>
          <p:cNvPr id="14" name="Rectangle 13"/>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6" name="TextBox 15"/>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10 / 75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PARTIE 1 · CHAPITRE 4 — CONTRAT DE CONFIANCE</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Ce que ce livre est / Ce qu'il ne fera jamais</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Notre engagement d'honnêteté et de respect absolu de votre intelligence.</a:t>
            </a:r>
          </a:p>
        </p:txBody>
      </p:sp>
      <p:sp>
        <p:nvSpPr>
          <p:cNvPr id="6" name="Rounded Rectangle 5"/>
          <p:cNvSpPr/>
          <p:nvPr/>
        </p:nvSpPr>
        <p:spPr>
          <a:xfrm>
            <a:off x="73152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4892040" cy="45720"/>
          </a:xfrm>
          <a:prstGeom prst="rect">
            <a:avLst/>
          </a:prstGeom>
          <a:solidFill>
            <a:srgbClr val="A85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09160" cy="3566160"/>
          </a:xfrm>
          <a:prstGeom prst="rect">
            <a:avLst/>
          </a:prstGeom>
          <a:noFill/>
        </p:spPr>
        <p:txBody>
          <a:bodyPr wrap="square" lIns="0" tIns="0" rIns="0" bIns="0">
            <a:spAutoFit/>
          </a:bodyPr>
          <a:lstStyle/>
          <a:p>
            <a:pPr>
              <a:spcAft>
                <a:spcPts val="800"/>
              </a:spcAft>
              <a:defRPr sz="1450" b="1">
                <a:solidFill>
                  <a:srgbClr val="A85236"/>
                </a:solidFill>
                <a:latin typeface="Georgia"/>
              </a:defRPr>
            </a:pPr>
            <a:r>
              <a:t>Ce qu'il ne fera JAMAIS</a:t>
            </a:r>
          </a:p>
          <a:p>
            <a:pPr>
              <a:spcAft>
                <a:spcPts val="400"/>
              </a:spcAft>
              <a:defRPr sz="1100" b="1">
                <a:solidFill>
                  <a:srgbClr val="A85236"/>
                </a:solidFill>
                <a:latin typeface="Arial"/>
              </a:defRPr>
            </a:pPr>
            <a:r>
              <a:t>Pas de promesse de pousse éclair : </a:t>
            </a:r>
            <a:r>
              <a:rPr sz="1100" b="0">
                <a:solidFill>
                  <a:srgbClr val="1C1B19"/>
                </a:solidFill>
                <a:latin typeface="Arial"/>
              </a:rPr>
              <a:t>Nous ne vous dirons jamais que l'huile de ricin fait pousser de 10 cm en trois semaines. La biologie ne ment pas.</a:t>
            </a:r>
          </a:p>
          <a:p>
            <a:pPr>
              <a:spcAft>
                <a:spcPts val="400"/>
              </a:spcAft>
              <a:defRPr sz="1100" b="1">
                <a:solidFill>
                  <a:srgbClr val="A85236"/>
                </a:solidFill>
                <a:latin typeface="Arial"/>
              </a:defRPr>
            </a:pPr>
            <a:r>
              <a:t>Pas de gammes à acheter : </a:t>
            </a:r>
            <a:r>
              <a:rPr sz="1100" b="0">
                <a:solidFill>
                  <a:srgbClr val="1C1B19"/>
                </a:solidFill>
                <a:latin typeface="Arial"/>
              </a:rPr>
              <a:t>Aucune marque de cosmétique sponsorisée, aucun flacon coûteux introuvable à Cotonou. Votre supermarché, c'est votre cuisine et votre marché.</a:t>
            </a:r>
          </a:p>
          <a:p>
            <a:pPr>
              <a:spcAft>
                <a:spcPts val="400"/>
              </a:spcAft>
              <a:defRPr sz="1100" b="1">
                <a:solidFill>
                  <a:srgbClr val="A85236"/>
                </a:solidFill>
                <a:latin typeface="Arial"/>
              </a:defRPr>
            </a:pPr>
            <a:r>
              <a:t>Pas de diabolisation des tresses : </a:t>
            </a:r>
            <a:r>
              <a:rPr sz="1100" b="0">
                <a:solidFill>
                  <a:srgbClr val="1C1B19"/>
                </a:solidFill>
                <a:latin typeface="Arial"/>
              </a:rPr>
              <a:t>Les nattes et tresses africaines sont un art magnifique. Nous ne vous disons pas d'arrêter : nous vous apprenons à les porter sans perdre votre lisière.</a:t>
            </a:r>
          </a:p>
          <a:p>
            <a:pPr>
              <a:spcAft>
                <a:spcPts val="400"/>
              </a:spcAft>
              <a:defRPr sz="1100" b="1">
                <a:solidFill>
                  <a:srgbClr val="A85236"/>
                </a:solidFill>
                <a:latin typeface="Arial"/>
              </a:defRPr>
            </a:pPr>
            <a:r>
              <a:t>Pas de routines de 4 heures : </a:t>
            </a:r>
            <a:r>
              <a:rPr sz="1100" b="0">
                <a:solidFill>
                  <a:srgbClr val="1C1B19"/>
                </a:solidFill>
                <a:latin typeface="Arial"/>
              </a:rPr>
              <a:t>Nous refusons les protocoles en 12 étapes qui épuisent les mères de famille et les femmes actives.</a:t>
            </a:r>
          </a:p>
        </p:txBody>
      </p:sp>
      <p:sp>
        <p:nvSpPr>
          <p:cNvPr id="9" name="Rounded Rectangle 8"/>
          <p:cNvSpPr/>
          <p:nvPr/>
        </p:nvSpPr>
        <p:spPr>
          <a:xfrm>
            <a:off x="626364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481328"/>
            <a:ext cx="4892040" cy="45720"/>
          </a:xfrm>
          <a:prstGeom prst="rect">
            <a:avLst/>
          </a:prstGeom>
          <a:solidFill>
            <a:srgbClr val="2B3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45920"/>
            <a:ext cx="4709160" cy="3566160"/>
          </a:xfrm>
          <a:prstGeom prst="rect">
            <a:avLst/>
          </a:prstGeom>
          <a:noFill/>
        </p:spPr>
        <p:txBody>
          <a:bodyPr wrap="square" lIns="0" tIns="0" rIns="0" bIns="0">
            <a:spAutoFit/>
          </a:bodyPr>
          <a:lstStyle/>
          <a:p>
            <a:pPr>
              <a:spcAft>
                <a:spcPts val="800"/>
              </a:spcAft>
              <a:defRPr sz="1450" b="1">
                <a:solidFill>
                  <a:srgbClr val="2B3E63"/>
                </a:solidFill>
                <a:latin typeface="Georgia"/>
              </a:defRPr>
            </a:pPr>
            <a:r>
              <a:t>Ce qu'il est VRAIMENT</a:t>
            </a:r>
          </a:p>
          <a:p>
            <a:pPr>
              <a:spcAft>
                <a:spcPts val="400"/>
              </a:spcAft>
              <a:defRPr sz="1100" b="1">
                <a:solidFill>
                  <a:srgbClr val="2B3E63"/>
                </a:solidFill>
                <a:latin typeface="Arial"/>
              </a:defRPr>
            </a:pPr>
            <a:r>
              <a:t>Un guide d'autonomie pratique : </a:t>
            </a:r>
            <a:r>
              <a:rPr sz="1100" b="0">
                <a:solidFill>
                  <a:srgbClr val="1C1B19"/>
                </a:solidFill>
                <a:latin typeface="Arial"/>
              </a:rPr>
              <a:t>25 ingrédients locaux décortiqués avec précision : pourquoi ça marche, quelle quantité exacte, quelle fréquence.</a:t>
            </a:r>
          </a:p>
          <a:p>
            <a:pPr>
              <a:spcAft>
                <a:spcPts val="400"/>
              </a:spcAft>
              <a:defRPr sz="1100" b="1">
                <a:solidFill>
                  <a:srgbClr val="2B3E63"/>
                </a:solidFill>
                <a:latin typeface="Arial"/>
              </a:defRPr>
            </a:pPr>
            <a:r>
              <a:t>Un remède à la paresse : </a:t>
            </a:r>
            <a:r>
              <a:rPr sz="1100" b="0">
                <a:solidFill>
                  <a:srgbClr val="1C1B19"/>
                </a:solidFill>
                <a:latin typeface="Arial"/>
              </a:rPr>
              <a:t>Le Kit Anti-Paresse intégré vous donne le minimum vital qui fonctionne quand vous êtes fatiguée ou débordée.</a:t>
            </a:r>
          </a:p>
          <a:p>
            <a:pPr>
              <a:spcAft>
                <a:spcPts val="400"/>
              </a:spcAft>
              <a:defRPr sz="1100" b="1">
                <a:solidFill>
                  <a:srgbClr val="2B3E63"/>
                </a:solidFill>
                <a:latin typeface="Arial"/>
              </a:defRPr>
            </a:pPr>
            <a:r>
              <a:t>Une méthode validée pour conserver sa longueur : </a:t>
            </a:r>
            <a:r>
              <a:rPr sz="1100" b="0">
                <a:solidFill>
                  <a:srgbClr val="1C1B19"/>
                </a:solidFill>
                <a:latin typeface="Arial"/>
              </a:rPr>
              <a:t>Apprendre à démêler sans arracher, sceller sans graisser, et laver sans décaper.</a:t>
            </a:r>
          </a:p>
          <a:p>
            <a:pPr>
              <a:spcAft>
                <a:spcPts val="400"/>
              </a:spcAft>
              <a:defRPr sz="1100" b="1">
                <a:solidFill>
                  <a:srgbClr val="2B3E63"/>
                </a:solidFill>
                <a:latin typeface="Arial"/>
              </a:defRPr>
            </a:pPr>
            <a:r>
              <a:t>Un support à annoter et corriger : </a:t>
            </a:r>
            <a:r>
              <a:rPr sz="1100" b="0">
                <a:solidFill>
                  <a:srgbClr val="1C1B19"/>
                </a:solidFill>
                <a:latin typeface="Arial"/>
              </a:rPr>
              <a:t>Ce livre vous appartient. Notez vos observations, adaptez les dosages et faites-en votre manuel personnel.</a:t>
            </a:r>
          </a:p>
        </p:txBody>
      </p:sp>
      <p:sp>
        <p:nvSpPr>
          <p:cNvPr id="12" name="Rounded Rectangle 11"/>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Vous avez désormais entre les mains un outil de liberté. Entrons maintenant dans la pratique et le diagnostic de votre chevelure.</a:t>
            </a:r>
          </a:p>
        </p:txBody>
      </p:sp>
      <p:sp>
        <p:nvSpPr>
          <p:cNvPr id="14" name="Rectangle 13"/>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6" name="TextBox 15"/>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11 / 75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731520"/>
            <a:ext cx="10362895" cy="5394960"/>
          </a:xfrm>
          <a:prstGeom prst="rect">
            <a:avLst/>
          </a:prstGeom>
          <a:noFill/>
          <a:ln w="15240">
            <a:solidFill>
              <a:srgbClr val="B88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188720"/>
            <a:ext cx="9445752" cy="365760"/>
          </a:xfrm>
          <a:prstGeom prst="rect">
            <a:avLst/>
          </a:prstGeom>
          <a:noFill/>
        </p:spPr>
        <p:txBody>
          <a:bodyPr wrap="none" lIns="0" tIns="0" rIns="0" bIns="0">
            <a:spAutoFit/>
          </a:bodyPr>
          <a:lstStyle/>
          <a:p>
            <a:pPr>
              <a:defRPr sz="1200" b="1">
                <a:solidFill>
                  <a:srgbClr val="D9A13B"/>
                </a:solidFill>
                <a:latin typeface="Arial"/>
              </a:defRPr>
            </a:pPr>
            <a:r>
              <a:t>DEUXIÈME PARTIE</a:t>
            </a:r>
          </a:p>
        </p:txBody>
      </p:sp>
      <p:sp>
        <p:nvSpPr>
          <p:cNvPr id="5" name="TextBox 4"/>
          <p:cNvSpPr txBox="1"/>
          <p:nvPr/>
        </p:nvSpPr>
        <p:spPr>
          <a:xfrm>
            <a:off x="1371600" y="1645920"/>
            <a:ext cx="9445752" cy="1097280"/>
          </a:xfrm>
          <a:prstGeom prst="rect">
            <a:avLst/>
          </a:prstGeom>
          <a:noFill/>
        </p:spPr>
        <p:txBody>
          <a:bodyPr wrap="square" lIns="0" tIns="0" rIns="0" bIns="0">
            <a:spAutoFit/>
          </a:bodyPr>
          <a:lstStyle/>
          <a:p>
            <a:pPr>
              <a:defRPr sz="3600" b="1">
                <a:solidFill>
                  <a:srgbClr val="FAF6F0"/>
                </a:solidFill>
                <a:latin typeface="Georgia"/>
              </a:defRPr>
            </a:pPr>
            <a:r>
              <a:t>Connaître ses cheveux &amp; La pharmacie de la cuisine</a:t>
            </a:r>
          </a:p>
        </p:txBody>
      </p:sp>
      <p:sp>
        <p:nvSpPr>
          <p:cNvPr id="6" name="Rectangle 5"/>
          <p:cNvSpPr/>
          <p:nvPr/>
        </p:nvSpPr>
        <p:spPr>
          <a:xfrm>
            <a:off x="1371600" y="2926080"/>
            <a:ext cx="3200400" cy="36576"/>
          </a:xfrm>
          <a:prstGeom prst="rect">
            <a:avLst/>
          </a:prstGeom>
          <a:solidFill>
            <a:srgbClr val="D9A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154680"/>
            <a:ext cx="9445752" cy="1280160"/>
          </a:xfrm>
          <a:prstGeom prst="rect">
            <a:avLst/>
          </a:prstGeom>
          <a:noFill/>
        </p:spPr>
        <p:txBody>
          <a:bodyPr wrap="square" lIns="0" tIns="0" rIns="0" bIns="0">
            <a:spAutoFit/>
          </a:bodyPr>
          <a:lstStyle/>
          <a:p>
            <a:pPr>
              <a:defRPr sz="1800" i="1">
                <a:solidFill>
                  <a:srgbClr val="D9A13B"/>
                </a:solidFill>
                <a:latin typeface="Georgia"/>
              </a:defRPr>
            </a:pPr>
            <a:r>
              <a:t>« On ne soigne pas ce qu'on ne comprend pas. Le diagnostic est la clé : chaque ingrédient a sa place et son heure. »</a:t>
            </a:r>
          </a:p>
        </p:txBody>
      </p:sp>
      <p:sp>
        <p:nvSpPr>
          <p:cNvPr id="8" name="TextBox 7"/>
          <p:cNvSpPr txBox="1"/>
          <p:nvPr/>
        </p:nvSpPr>
        <p:spPr>
          <a:xfrm>
            <a:off x="1371600" y="4572000"/>
            <a:ext cx="9445752" cy="914400"/>
          </a:xfrm>
          <a:prstGeom prst="rect">
            <a:avLst/>
          </a:prstGeom>
          <a:noFill/>
        </p:spPr>
        <p:txBody>
          <a:bodyPr wrap="square" lIns="0" tIns="0" rIns="0" bIns="0">
            <a:spAutoFit/>
          </a:bodyPr>
          <a:lstStyle/>
          <a:p>
            <a:pPr>
              <a:defRPr sz="1300">
                <a:solidFill>
                  <a:srgbClr val="D2C8B8"/>
                </a:solidFill>
                <a:latin typeface="Arial"/>
              </a:defRPr>
            </a:pPr>
            <a:r>
              <a:t>Diagnostic précis, mesures exactes et les 25 ingrédients de votre marché décortiqués sans jargon.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PARTIE 2 · CHAPITRE 5 — TYPOLOGIE CAPILLAIRE</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La carte des textures : du Type 2 au Type 4C</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Identifier sa boucle est utile, mais comprendre son comportement est fondamental.</a:t>
            </a:r>
          </a:p>
        </p:txBody>
      </p:sp>
      <p:sp>
        <p:nvSpPr>
          <p:cNvPr id="6" name="Rounded Rectangle 5"/>
          <p:cNvSpPr/>
          <p:nvPr/>
        </p:nvSpPr>
        <p:spPr>
          <a:xfrm>
            <a:off x="731520" y="1463040"/>
            <a:ext cx="33375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3063240" cy="45720"/>
          </a:xfrm>
          <a:prstGeom prst="rect">
            <a:avLst/>
          </a:prstGeom>
          <a:solidFill>
            <a:srgbClr val="2B3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2971800" cy="3566160"/>
          </a:xfrm>
          <a:prstGeom prst="rect">
            <a:avLst/>
          </a:prstGeom>
          <a:noFill/>
        </p:spPr>
        <p:txBody>
          <a:bodyPr wrap="square" lIns="0" tIns="0" rIns="0" bIns="0">
            <a:spAutoFit/>
          </a:bodyPr>
          <a:lstStyle/>
          <a:p>
            <a:pPr>
              <a:spcAft>
                <a:spcPts val="800"/>
              </a:spcAft>
              <a:defRPr sz="1450" b="1">
                <a:solidFill>
                  <a:srgbClr val="2B3E63"/>
                </a:solidFill>
                <a:latin typeface="Georgia"/>
              </a:defRPr>
            </a:pPr>
            <a:r>
              <a:t>Type 3 : Les bouclés (3A à 3C)</a:t>
            </a:r>
          </a:p>
          <a:p>
            <a:pPr>
              <a:spcAft>
                <a:spcPts val="400"/>
              </a:spcAft>
              <a:defRPr sz="1100">
                <a:solidFill>
                  <a:srgbClr val="1C1B19"/>
                </a:solidFill>
                <a:latin typeface="Arial"/>
              </a:defRPr>
            </a:pPr>
            <a:r>
              <a:t>• 3A / 3B : Boucles bien définies, ressort souple, forme de tire-bouchon ou de grand ressort.</a:t>
            </a:r>
          </a:p>
          <a:p>
            <a:pPr>
              <a:spcAft>
                <a:spcPts val="400"/>
              </a:spcAft>
              <a:defRPr sz="1100">
                <a:solidFill>
                  <a:srgbClr val="1C1B19"/>
                </a:solidFill>
                <a:latin typeface="Arial"/>
              </a:defRPr>
            </a:pPr>
            <a:r>
              <a:t>• 3C : Boucles très serrées de la taille d'un crayon. Beaucoup de volume et de ressort.</a:t>
            </a:r>
          </a:p>
          <a:p>
            <a:pPr>
              <a:spcAft>
                <a:spcPts val="400"/>
              </a:spcAft>
              <a:defRPr sz="1100">
                <a:solidFill>
                  <a:srgbClr val="1C1B19"/>
                </a:solidFill>
                <a:latin typeface="Arial"/>
              </a:defRPr>
            </a:pPr>
            <a:r>
              <a:t>• Au mouillage : Allongement rapide, boucle immédiatement visible sans produit.</a:t>
            </a:r>
          </a:p>
          <a:p>
            <a:pPr>
              <a:spcAft>
                <a:spcPts val="400"/>
              </a:spcAft>
              <a:defRPr sz="1100">
                <a:solidFill>
                  <a:srgbClr val="1C1B19"/>
                </a:solidFill>
                <a:latin typeface="Arial"/>
              </a:defRPr>
            </a:pPr>
            <a:r>
              <a:t>• Vulnérabilité : Frisottis fréquents sous l'humidité côtière, perte de définition rapide.</a:t>
            </a:r>
          </a:p>
        </p:txBody>
      </p:sp>
      <p:sp>
        <p:nvSpPr>
          <p:cNvPr id="9" name="Rounded Rectangle 8"/>
          <p:cNvSpPr/>
          <p:nvPr/>
        </p:nvSpPr>
        <p:spPr>
          <a:xfrm>
            <a:off x="4425696" y="1463040"/>
            <a:ext cx="33375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62856" y="1481328"/>
            <a:ext cx="3063240" cy="45720"/>
          </a:xfrm>
          <a:prstGeom prst="rect">
            <a:avLst/>
          </a:prstGeom>
          <a:solidFill>
            <a:srgbClr val="A85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08576" y="1645920"/>
            <a:ext cx="2971800" cy="3566160"/>
          </a:xfrm>
          <a:prstGeom prst="rect">
            <a:avLst/>
          </a:prstGeom>
          <a:noFill/>
        </p:spPr>
        <p:txBody>
          <a:bodyPr wrap="square" lIns="0" tIns="0" rIns="0" bIns="0">
            <a:spAutoFit/>
          </a:bodyPr>
          <a:lstStyle/>
          <a:p>
            <a:pPr>
              <a:spcAft>
                <a:spcPts val="800"/>
              </a:spcAft>
              <a:defRPr sz="1450" b="1">
                <a:solidFill>
                  <a:srgbClr val="A85236"/>
                </a:solidFill>
                <a:latin typeface="Georgia"/>
              </a:defRPr>
            </a:pPr>
            <a:r>
              <a:t>Type 4A / 4B : Les frisés serrés</a:t>
            </a:r>
          </a:p>
          <a:p>
            <a:pPr>
              <a:spcAft>
                <a:spcPts val="400"/>
              </a:spcAft>
              <a:defRPr sz="1100">
                <a:solidFill>
                  <a:srgbClr val="1C1B19"/>
                </a:solidFill>
                <a:latin typeface="Arial"/>
              </a:defRPr>
            </a:pPr>
            <a:r>
              <a:t>• 4A : Petites spirales en S serrées de la taille d'une aiguille à tricoter. Bonne rétention d'eau.</a:t>
            </a:r>
          </a:p>
          <a:p>
            <a:pPr>
              <a:spcAft>
                <a:spcPts val="400"/>
              </a:spcAft>
              <a:defRPr sz="1100">
                <a:solidFill>
                  <a:srgbClr val="1C1B19"/>
                </a:solidFill>
                <a:latin typeface="Arial"/>
              </a:defRPr>
            </a:pPr>
            <a:r>
              <a:t>• 4B : Motif en forme de Z avec des angles vifs. Moins de spirales continues, texture cotonneuse.</a:t>
            </a:r>
          </a:p>
          <a:p>
            <a:pPr>
              <a:spcAft>
                <a:spcPts val="400"/>
              </a:spcAft>
              <a:defRPr sz="1100">
                <a:solidFill>
                  <a:srgbClr val="1C1B19"/>
                </a:solidFill>
                <a:latin typeface="Arial"/>
              </a:defRPr>
            </a:pPr>
            <a:r>
              <a:t>• Le phénomène de rétrécissement (shrinkage) : Vos cheveux perdent 50 à 70 % de leur longueur visible en séchant.</a:t>
            </a:r>
          </a:p>
          <a:p>
            <a:pPr>
              <a:spcAft>
                <a:spcPts val="400"/>
              </a:spcAft>
              <a:defRPr sz="1100">
                <a:solidFill>
                  <a:srgbClr val="1C1B19"/>
                </a:solidFill>
                <a:latin typeface="Arial"/>
              </a:defRPr>
            </a:pPr>
            <a:r>
              <a:t>• Vulnérabilité : Nœuds de fée fréquents aux extrémités.</a:t>
            </a:r>
          </a:p>
        </p:txBody>
      </p:sp>
      <p:sp>
        <p:nvSpPr>
          <p:cNvPr id="12" name="Rounded Rectangle 11"/>
          <p:cNvSpPr/>
          <p:nvPr/>
        </p:nvSpPr>
        <p:spPr>
          <a:xfrm>
            <a:off x="8119872" y="1463040"/>
            <a:ext cx="33375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57032" y="1481328"/>
            <a:ext cx="3063240" cy="45720"/>
          </a:xfrm>
          <a:prstGeom prst="rect">
            <a:avLst/>
          </a:prstGeom>
          <a:solidFill>
            <a:srgbClr val="556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2752" y="1645920"/>
            <a:ext cx="2971800" cy="3566160"/>
          </a:xfrm>
          <a:prstGeom prst="rect">
            <a:avLst/>
          </a:prstGeom>
          <a:noFill/>
        </p:spPr>
        <p:txBody>
          <a:bodyPr wrap="square" lIns="0" tIns="0" rIns="0" bIns="0">
            <a:spAutoFit/>
          </a:bodyPr>
          <a:lstStyle/>
          <a:p>
            <a:pPr>
              <a:spcAft>
                <a:spcPts val="800"/>
              </a:spcAft>
              <a:defRPr sz="1450" b="1">
                <a:solidFill>
                  <a:srgbClr val="55663A"/>
                </a:solidFill>
                <a:latin typeface="Georgia"/>
              </a:defRPr>
            </a:pPr>
            <a:r>
              <a:t>Type 4C : Le roi crépu</a:t>
            </a:r>
          </a:p>
          <a:p>
            <a:pPr>
              <a:spcAft>
                <a:spcPts val="400"/>
              </a:spcAft>
              <a:defRPr sz="1100">
                <a:solidFill>
                  <a:srgbClr val="1C1B19"/>
                </a:solidFill>
                <a:latin typeface="Arial"/>
              </a:defRPr>
            </a:pPr>
            <a:r>
              <a:t>• 4C : Micro-frisures en Z très denses sans motif de boucle défini spontanément à l'air libre.</a:t>
            </a:r>
          </a:p>
          <a:p>
            <a:pPr>
              <a:spcAft>
                <a:spcPts val="400"/>
              </a:spcAft>
              <a:defRPr sz="1100">
                <a:solidFill>
                  <a:srgbClr val="1C1B19"/>
                </a:solidFill>
                <a:latin typeface="Arial"/>
              </a:defRPr>
            </a:pPr>
            <a:r>
              <a:t>• Shrinkage spectaculaire : Peut rétrécir jusqu'à 75-80 % de sa longueur réelle lorsqu'il est mouillé puis séché.</a:t>
            </a:r>
          </a:p>
          <a:p>
            <a:pPr>
              <a:spcAft>
                <a:spcPts val="400"/>
              </a:spcAft>
              <a:defRPr sz="1100">
                <a:solidFill>
                  <a:srgbClr val="1C1B19"/>
                </a:solidFill>
                <a:latin typeface="Arial"/>
              </a:defRPr>
            </a:pPr>
            <a:r>
              <a:t>• Densité et force : C'est le cheveu qui a le plus de volume et de tenue pour les coiffures traditionnelles.</a:t>
            </a:r>
          </a:p>
          <a:p>
            <a:pPr>
              <a:spcAft>
                <a:spcPts val="400"/>
              </a:spcAft>
              <a:defRPr sz="1100">
                <a:solidFill>
                  <a:srgbClr val="1C1B19"/>
                </a:solidFill>
                <a:latin typeface="Arial"/>
              </a:defRPr>
            </a:pPr>
            <a:r>
              <a:t>• Règle d'or absolue : Ne JAMAIS manipuler ou peigner sur cheveux secs.</a:t>
            </a:r>
          </a:p>
        </p:txBody>
      </p:sp>
      <p:sp>
        <p:nvSpPr>
          <p:cNvPr id="15" name="Rounded Rectangle 14"/>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Rappelez-vous : le chiffre (3 ou 4) indique la courbure, mais ce qui dicte votre routine, c'est la porosité et l'épaisseur du fil !</a:t>
            </a:r>
          </a:p>
        </p:txBody>
      </p:sp>
      <p:sp>
        <p:nvSpPr>
          <p:cNvPr id="17" name="Rectangle 16"/>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9" name="TextBox 18"/>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13 / 75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PARTIE 2 · CHAPITRE 6 — DIAGNOSTIC DE POROSITÉ</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Le test de porosité : pourquoi le verre d'eau est faux</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Démystifier le mythe le plus répandu des réseaux sociaux grâce à la physique simple.</a:t>
            </a:r>
          </a:p>
        </p:txBody>
      </p:sp>
      <p:sp>
        <p:nvSpPr>
          <p:cNvPr id="6" name="Rounded Rectangle 5"/>
          <p:cNvSpPr/>
          <p:nvPr/>
        </p:nvSpPr>
        <p:spPr>
          <a:xfrm>
            <a:off x="73152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4892040" cy="45720"/>
          </a:xfrm>
          <a:prstGeom prst="rect">
            <a:avLst/>
          </a:prstGeom>
          <a:solidFill>
            <a:srgbClr val="A85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09160" cy="3566160"/>
          </a:xfrm>
          <a:prstGeom prst="rect">
            <a:avLst/>
          </a:prstGeom>
          <a:noFill/>
        </p:spPr>
        <p:txBody>
          <a:bodyPr wrap="square" lIns="0" tIns="0" rIns="0" bIns="0">
            <a:spAutoFit/>
          </a:bodyPr>
          <a:lstStyle/>
          <a:p>
            <a:pPr>
              <a:spcAft>
                <a:spcPts val="800"/>
              </a:spcAft>
              <a:defRPr sz="1450" b="1">
                <a:solidFill>
                  <a:srgbClr val="A85236"/>
                </a:solidFill>
                <a:latin typeface="Georgia"/>
              </a:defRPr>
            </a:pPr>
            <a:r>
              <a:t>Le piège du verre d'eau flottant</a:t>
            </a:r>
          </a:p>
          <a:p>
            <a:pPr>
              <a:spcAft>
                <a:spcPts val="400"/>
              </a:spcAft>
              <a:defRPr sz="1100" b="1">
                <a:solidFill>
                  <a:srgbClr val="A85236"/>
                </a:solidFill>
                <a:latin typeface="Arial"/>
              </a:defRPr>
            </a:pPr>
            <a:r>
              <a:t>La théorie populaire : </a:t>
            </a:r>
            <a:r>
              <a:rPr sz="1100" b="0">
                <a:solidFill>
                  <a:srgbClr val="1C1B19"/>
                </a:solidFill>
                <a:latin typeface="Arial"/>
              </a:rPr>
              <a:t>On vous dit de jeter un cheveu dans un verre d'eau : s'il flotte, porosité basse ; s'il coule au milieu, moyenne ; s'il coule au fond, haute.</a:t>
            </a:r>
          </a:p>
          <a:p>
            <a:pPr>
              <a:spcAft>
                <a:spcPts val="400"/>
              </a:spcAft>
              <a:defRPr sz="1100" b="1">
                <a:solidFill>
                  <a:srgbClr val="A85236"/>
                </a:solidFill>
                <a:latin typeface="Arial"/>
              </a:defRPr>
            </a:pPr>
            <a:r>
              <a:t>Pourquoi ce test échoue scientifiquement : </a:t>
            </a:r>
            <a:r>
              <a:rPr sz="1100" b="0">
                <a:solidFill>
                  <a:srgbClr val="1C1B19"/>
                </a:solidFill>
                <a:latin typeface="Arial"/>
              </a:rPr>
              <a:t>1. La tension superficielle de l'eau empêche tout corps léger de couler sans être agité mécaniquement.
2. Le sébum naturel ou les résidus d'huile agissent comme un gilet de sauvetage hydrophobe : même un cheveu très poreux flotte s'il est gras.</a:t>
            </a:r>
          </a:p>
          <a:p>
            <a:pPr>
              <a:spcAft>
                <a:spcPts val="400"/>
              </a:spcAft>
              <a:defRPr sz="1100" b="1">
                <a:solidFill>
                  <a:srgbClr val="A85236"/>
                </a:solidFill>
                <a:latin typeface="Arial"/>
              </a:defRPr>
            </a:pPr>
            <a:r>
              <a:t>Le résultat désastreux : </a:t>
            </a:r>
            <a:r>
              <a:rPr sz="1100" b="0">
                <a:solidFill>
                  <a:srgbClr val="1C1B19"/>
                </a:solidFill>
                <a:latin typeface="Arial"/>
              </a:rPr>
              <a:t>90 % des femmes concluent à tort qu'elles ont une porosité basse et achètent des produits inadaptés qui assèchent leurs cheveux.</a:t>
            </a:r>
          </a:p>
        </p:txBody>
      </p:sp>
      <p:sp>
        <p:nvSpPr>
          <p:cNvPr id="9" name="Rounded Rectangle 8"/>
          <p:cNvSpPr/>
          <p:nvPr/>
        </p:nvSpPr>
        <p:spPr>
          <a:xfrm>
            <a:off x="626364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481328"/>
            <a:ext cx="4892040" cy="45720"/>
          </a:xfrm>
          <a:prstGeom prst="rect">
            <a:avLst/>
          </a:prstGeom>
          <a:solidFill>
            <a:srgbClr val="2B3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45920"/>
            <a:ext cx="4709160" cy="3566160"/>
          </a:xfrm>
          <a:prstGeom prst="rect">
            <a:avLst/>
          </a:prstGeom>
          <a:noFill/>
        </p:spPr>
        <p:txBody>
          <a:bodyPr wrap="square" lIns="0" tIns="0" rIns="0" bIns="0">
            <a:spAutoFit/>
          </a:bodyPr>
          <a:lstStyle/>
          <a:p>
            <a:pPr>
              <a:spcAft>
                <a:spcPts val="800"/>
              </a:spcAft>
              <a:defRPr sz="1450" b="1">
                <a:solidFill>
                  <a:srgbClr val="2B3E63"/>
                </a:solidFill>
                <a:latin typeface="Georgia"/>
              </a:defRPr>
            </a:pPr>
            <a:r>
              <a:t>Ce qu'est réellement la porosité</a:t>
            </a:r>
          </a:p>
          <a:p>
            <a:pPr>
              <a:spcAft>
                <a:spcPts val="400"/>
              </a:spcAft>
              <a:defRPr sz="1100" b="1">
                <a:solidFill>
                  <a:srgbClr val="2B3E63"/>
                </a:solidFill>
                <a:latin typeface="Arial"/>
              </a:defRPr>
            </a:pPr>
            <a:r>
              <a:t>La définition biologique : </a:t>
            </a:r>
            <a:r>
              <a:rPr sz="1100" b="0">
                <a:solidFill>
                  <a:srgbClr val="1C1B19"/>
                </a:solidFill>
                <a:latin typeface="Arial"/>
              </a:rPr>
              <a:t>La porosité est la capacité de votre cuticule à absorber et surtout à RETENIR l'eau.</a:t>
            </a:r>
          </a:p>
          <a:p>
            <a:pPr>
              <a:spcAft>
                <a:spcPts val="400"/>
              </a:spcAft>
              <a:defRPr sz="1100" b="1">
                <a:solidFill>
                  <a:srgbClr val="2B3E63"/>
                </a:solidFill>
                <a:latin typeface="Arial"/>
              </a:defRPr>
            </a:pPr>
            <a:r>
              <a:t>L'état des écailles : </a:t>
            </a:r>
            <a:r>
              <a:rPr sz="1100" b="0">
                <a:solidFill>
                  <a:srgbClr val="1C1B19"/>
                </a:solidFill>
                <a:latin typeface="Arial"/>
              </a:rPr>
              <a:t>• Écailles très serrées et collées = Porosité basse (l'eau a du mal à entrer, mais reste bien une fois dedans).
• Écailles normales = Porosité moyenne.
• Écailles ouvertes, soulevées ou trouées = Porosité haute (l'eau entre en un éclair, mais s'évapore en 10 minutes).</a:t>
            </a:r>
          </a:p>
          <a:p>
            <a:pPr>
              <a:spcAft>
                <a:spcPts val="400"/>
              </a:spcAft>
              <a:defRPr sz="1100" b="1">
                <a:solidFill>
                  <a:srgbClr val="2B3E63"/>
                </a:solidFill>
                <a:latin typeface="Arial"/>
              </a:defRPr>
            </a:pPr>
            <a:r>
              <a:t>L'impact du climat et du défrisage : </a:t>
            </a:r>
            <a:r>
              <a:rPr sz="1100" b="0">
                <a:solidFill>
                  <a:srgbClr val="1C1B19"/>
                </a:solidFill>
                <a:latin typeface="Arial"/>
              </a:rPr>
              <a:t>Le défrisage chimique, les colorations et les fers chauds forcent l'ouverture des écailles et créent artificiellement une porosité haute.</a:t>
            </a:r>
          </a:p>
        </p:txBody>
      </p:sp>
      <p:sp>
        <p:nvSpPr>
          <p:cNvPr id="12" name="Rounded Rectangle 11"/>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Oubliez le verre d'eau. La porosité se mesure dans votre salle de bain, au contact réel de l'eau et de vos mains.</a:t>
            </a:r>
          </a:p>
        </p:txBody>
      </p:sp>
      <p:sp>
        <p:nvSpPr>
          <p:cNvPr id="14" name="Rectangle 13"/>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6" name="TextBox 15"/>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14 / 75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PARTIE 2 · CHAPITRE 6 — DIAGNOSTIC PRATIQUE</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Les trois vrais tests de porosité à faire à la maison</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Trois observations croisées sous la douche pour connaître votre profil sans risque d'erreur.</a:t>
            </a:r>
          </a:p>
        </p:txBody>
      </p:sp>
      <p:sp>
        <p:nvSpPr>
          <p:cNvPr id="6" name="Rounded Rectangle 5"/>
          <p:cNvSpPr/>
          <p:nvPr/>
        </p:nvSpPr>
        <p:spPr>
          <a:xfrm>
            <a:off x="731520" y="1463040"/>
            <a:ext cx="33375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3063240" cy="45720"/>
          </a:xfrm>
          <a:prstGeom prst="rect">
            <a:avLst/>
          </a:prstGeom>
          <a:solidFill>
            <a:srgbClr val="2B3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2971800" cy="3566160"/>
          </a:xfrm>
          <a:prstGeom prst="rect">
            <a:avLst/>
          </a:prstGeom>
          <a:noFill/>
        </p:spPr>
        <p:txBody>
          <a:bodyPr wrap="square" lIns="0" tIns="0" rIns="0" bIns="0">
            <a:spAutoFit/>
          </a:bodyPr>
          <a:lstStyle/>
          <a:p>
            <a:pPr>
              <a:spcAft>
                <a:spcPts val="800"/>
              </a:spcAft>
              <a:defRPr sz="1450" b="1">
                <a:solidFill>
                  <a:srgbClr val="2B3E63"/>
                </a:solidFill>
                <a:latin typeface="Georgia"/>
              </a:defRPr>
            </a:pPr>
            <a:r>
              <a:t>Test 1 : Le temps de mouillage</a:t>
            </a:r>
          </a:p>
          <a:p>
            <a:pPr>
              <a:spcAft>
                <a:spcPts val="400"/>
              </a:spcAft>
              <a:defRPr sz="1100">
                <a:solidFill>
                  <a:srgbClr val="1C1B19"/>
                </a:solidFill>
                <a:latin typeface="Arial"/>
              </a:defRPr>
            </a:pPr>
            <a:r>
              <a:t>• Sous le jet de la douche ou au seau, observez comment vos cheveux réagissent à l'eau :</a:t>
            </a:r>
          </a:p>
          <a:p>
            <a:pPr>
              <a:spcAft>
                <a:spcPts val="400"/>
              </a:spcAft>
              <a:defRPr sz="1100">
                <a:solidFill>
                  <a:srgbClr val="1C1B19"/>
                </a:solidFill>
                <a:latin typeface="Arial"/>
              </a:defRPr>
            </a:pPr>
            <a:r>
              <a:t>• • L'eau perle à la surface, glisse comme sur une feuille de taro et met plus de 2 minutes à mouiller le cœur de la chevelure ? → Porosité BASSE.</a:t>
            </a:r>
          </a:p>
          <a:p>
            <a:pPr>
              <a:spcAft>
                <a:spcPts val="400"/>
              </a:spcAft>
              <a:defRPr sz="1100">
                <a:solidFill>
                  <a:srgbClr val="1C1B19"/>
                </a:solidFill>
                <a:latin typeface="Arial"/>
              </a:defRPr>
            </a:pPr>
            <a:r>
              <a:t>• • Les cheveux boivent l'eau instantanément et sont gorgés en 10 secondes ? → Porosité HAUTE.</a:t>
            </a:r>
          </a:p>
          <a:p>
            <a:pPr>
              <a:spcAft>
                <a:spcPts val="400"/>
              </a:spcAft>
              <a:defRPr sz="1100">
                <a:solidFill>
                  <a:srgbClr val="1C1B19"/>
                </a:solidFill>
                <a:latin typeface="Arial"/>
              </a:defRPr>
            </a:pPr>
            <a:r>
              <a:t>• • Mouillage normal et uniforme ? → Porosité MOYENNE.</a:t>
            </a:r>
          </a:p>
        </p:txBody>
      </p:sp>
      <p:sp>
        <p:nvSpPr>
          <p:cNvPr id="9" name="Rounded Rectangle 8"/>
          <p:cNvSpPr/>
          <p:nvPr/>
        </p:nvSpPr>
        <p:spPr>
          <a:xfrm>
            <a:off x="4425696" y="1463040"/>
            <a:ext cx="33375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62856" y="1481328"/>
            <a:ext cx="3063240" cy="45720"/>
          </a:xfrm>
          <a:prstGeom prst="rect">
            <a:avLst/>
          </a:prstGeom>
          <a:solidFill>
            <a:srgbClr val="B88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08576" y="1645920"/>
            <a:ext cx="2971800" cy="3566160"/>
          </a:xfrm>
          <a:prstGeom prst="rect">
            <a:avLst/>
          </a:prstGeom>
          <a:noFill/>
        </p:spPr>
        <p:txBody>
          <a:bodyPr wrap="square" lIns="0" tIns="0" rIns="0" bIns="0">
            <a:spAutoFit/>
          </a:bodyPr>
          <a:lstStyle/>
          <a:p>
            <a:pPr>
              <a:spcAft>
                <a:spcPts val="800"/>
              </a:spcAft>
              <a:defRPr sz="1450" b="1">
                <a:solidFill>
                  <a:srgbClr val="B8862B"/>
                </a:solidFill>
                <a:latin typeface="Georgia"/>
              </a:defRPr>
            </a:pPr>
            <a:r>
              <a:t>Test 2 : Le temps de séchage</a:t>
            </a:r>
          </a:p>
          <a:p>
            <a:pPr>
              <a:spcAft>
                <a:spcPts val="400"/>
              </a:spcAft>
              <a:defRPr sz="1100">
                <a:solidFill>
                  <a:srgbClr val="1C1B19"/>
                </a:solidFill>
                <a:latin typeface="Arial"/>
              </a:defRPr>
            </a:pPr>
            <a:r>
              <a:t>• Après lavage et essorage doux au t-shirt en coton, sans ajouter aucun produit :</a:t>
            </a:r>
          </a:p>
          <a:p>
            <a:pPr>
              <a:spcAft>
                <a:spcPts val="400"/>
              </a:spcAft>
              <a:defRPr sz="1100">
                <a:solidFill>
                  <a:srgbClr val="1C1B19"/>
                </a:solidFill>
                <a:latin typeface="Arial"/>
              </a:defRPr>
            </a:pPr>
            <a:r>
              <a:t>• • Vos cheveux mettent 4 à 8 heures (voire toute la journée) à sécher complètement à l'air libre ? → Porosité BASSE.</a:t>
            </a:r>
          </a:p>
          <a:p>
            <a:pPr>
              <a:spcAft>
                <a:spcPts val="400"/>
              </a:spcAft>
              <a:defRPr sz="1100">
                <a:solidFill>
                  <a:srgbClr val="1C1B19"/>
                </a:solidFill>
                <a:latin typeface="Arial"/>
              </a:defRPr>
            </a:pPr>
            <a:r>
              <a:t>• • Vos cheveux sont secs comme du carton en moins de 30 à 45 minutes ? → Porosité HAUTE (l'eau s'est évaporée immédiatement).</a:t>
            </a:r>
          </a:p>
          <a:p>
            <a:pPr>
              <a:spcAft>
                <a:spcPts val="400"/>
              </a:spcAft>
              <a:defRPr sz="1100">
                <a:solidFill>
                  <a:srgbClr val="1C1B19"/>
                </a:solidFill>
                <a:latin typeface="Arial"/>
              </a:defRPr>
            </a:pPr>
            <a:r>
              <a:t>• • Séchage complet en 2 à 3 heures ? → Porosité MOYENNE.</a:t>
            </a:r>
          </a:p>
        </p:txBody>
      </p:sp>
      <p:sp>
        <p:nvSpPr>
          <p:cNvPr id="12" name="Rounded Rectangle 11"/>
          <p:cNvSpPr/>
          <p:nvPr/>
        </p:nvSpPr>
        <p:spPr>
          <a:xfrm>
            <a:off x="8119872" y="1463040"/>
            <a:ext cx="33375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57032" y="1481328"/>
            <a:ext cx="3063240" cy="45720"/>
          </a:xfrm>
          <a:prstGeom prst="rect">
            <a:avLst/>
          </a:prstGeom>
          <a:solidFill>
            <a:srgbClr val="556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2752" y="1645920"/>
            <a:ext cx="2971800" cy="3566160"/>
          </a:xfrm>
          <a:prstGeom prst="rect">
            <a:avLst/>
          </a:prstGeom>
          <a:noFill/>
        </p:spPr>
        <p:txBody>
          <a:bodyPr wrap="square" lIns="0" tIns="0" rIns="0" bIns="0">
            <a:spAutoFit/>
          </a:bodyPr>
          <a:lstStyle/>
          <a:p>
            <a:pPr>
              <a:spcAft>
                <a:spcPts val="800"/>
              </a:spcAft>
              <a:defRPr sz="1450" b="1">
                <a:solidFill>
                  <a:srgbClr val="55663A"/>
                </a:solidFill>
                <a:latin typeface="Georgia"/>
              </a:defRPr>
            </a:pPr>
            <a:r>
              <a:t>Test 3 : Le test du toucher</a:t>
            </a:r>
          </a:p>
          <a:p>
            <a:pPr>
              <a:spcAft>
                <a:spcPts val="400"/>
              </a:spcAft>
              <a:defRPr sz="1100">
                <a:solidFill>
                  <a:srgbClr val="1C1B19"/>
                </a:solidFill>
                <a:latin typeface="Arial"/>
              </a:defRPr>
            </a:pPr>
            <a:r>
              <a:t>• Passez un cheveu propre et humide entre votre pouce et votre index, de la pointe vers la racine (à contre-sens des écailles) :</a:t>
            </a:r>
          </a:p>
          <a:p>
            <a:pPr>
              <a:spcAft>
                <a:spcPts val="400"/>
              </a:spcAft>
              <a:defRPr sz="1100">
                <a:solidFill>
                  <a:srgbClr val="1C1B19"/>
                </a:solidFill>
                <a:latin typeface="Arial"/>
              </a:defRPr>
            </a:pPr>
            <a:r>
              <a:t>• • Le doigt glisse sans aucun accroc, la surface est parfaitement lisse comme un fil de soie ? → Écailles fermées = Porosité BASSE.</a:t>
            </a:r>
          </a:p>
          <a:p>
            <a:pPr>
              <a:spcAft>
                <a:spcPts val="400"/>
              </a:spcAft>
              <a:defRPr sz="1100">
                <a:solidFill>
                  <a:srgbClr val="1C1B19"/>
                </a:solidFill>
                <a:latin typeface="Arial"/>
              </a:defRPr>
            </a:pPr>
            <a:r>
              <a:t>• • Vous sentez des aspérités rugueuses, le cheveu crisse sous les doigts ? → Écailles ouvertes = Porosité HAUTE.</a:t>
            </a:r>
          </a:p>
        </p:txBody>
      </p:sp>
      <p:sp>
        <p:nvSpPr>
          <p:cNvPr id="15" name="Rounded Rectangle 14"/>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Si deux tests sur trois pointent vers le même résultat, vous tenez votre porosité avec certitude !</a:t>
            </a:r>
          </a:p>
        </p:txBody>
      </p:sp>
      <p:sp>
        <p:nvSpPr>
          <p:cNvPr id="17" name="Rectangle 16"/>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9" name="TextBox 18"/>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15 / 75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PARTIE 2 · CHAPITRE 7 — STRATÉGIE PAR POROSITÉ</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Les trois profils de porosité et leurs règles d'or</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À chaque porosité correspond un rituel précis : chaleur, légèreté ou scellage lourd.</a:t>
            </a:r>
          </a:p>
        </p:txBody>
      </p:sp>
      <p:sp>
        <p:nvSpPr>
          <p:cNvPr id="6" name="Rounded Rectangle 5"/>
          <p:cNvSpPr/>
          <p:nvPr/>
        </p:nvSpPr>
        <p:spPr>
          <a:xfrm>
            <a:off x="731520" y="1463040"/>
            <a:ext cx="33375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3063240" cy="45720"/>
          </a:xfrm>
          <a:prstGeom prst="rect">
            <a:avLst/>
          </a:prstGeom>
          <a:solidFill>
            <a:srgbClr val="A85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2971800" cy="3566160"/>
          </a:xfrm>
          <a:prstGeom prst="rect">
            <a:avLst/>
          </a:prstGeom>
          <a:noFill/>
        </p:spPr>
        <p:txBody>
          <a:bodyPr wrap="square" lIns="0" tIns="0" rIns="0" bIns="0">
            <a:spAutoFit/>
          </a:bodyPr>
          <a:lstStyle/>
          <a:p>
            <a:pPr>
              <a:spcAft>
                <a:spcPts val="800"/>
              </a:spcAft>
              <a:defRPr sz="1450" b="1">
                <a:solidFill>
                  <a:srgbClr val="A85236"/>
                </a:solidFill>
                <a:latin typeface="Georgia"/>
              </a:defRPr>
            </a:pPr>
            <a:r>
              <a:t>Profil 1 : Porosité Basse</a:t>
            </a:r>
          </a:p>
          <a:p>
            <a:pPr>
              <a:spcAft>
                <a:spcPts val="400"/>
              </a:spcAft>
              <a:defRPr sz="1100">
                <a:solidFill>
                  <a:srgbClr val="1C1B19"/>
                </a:solidFill>
                <a:latin typeface="Arial"/>
              </a:defRPr>
            </a:pPr>
            <a:r>
              <a:t>• L'état : Écailles très compactes et hermétiques.</a:t>
            </a:r>
          </a:p>
          <a:p>
            <a:pPr>
              <a:spcAft>
                <a:spcPts val="400"/>
              </a:spcAft>
              <a:defRPr sz="1100">
                <a:solidFill>
                  <a:srgbClr val="1C1B19"/>
                </a:solidFill>
                <a:latin typeface="Arial"/>
              </a:defRPr>
            </a:pPr>
            <a:r>
              <a:t>• La règle d'or : CHALEUR DOUCE.</a:t>
            </a:r>
          </a:p>
          <a:p>
            <a:pPr>
              <a:spcAft>
                <a:spcPts val="400"/>
              </a:spcAft>
              <a:defRPr sz="1100">
                <a:solidFill>
                  <a:srgbClr val="1C1B19"/>
                </a:solidFill>
                <a:latin typeface="Arial"/>
              </a:defRPr>
            </a:pPr>
            <a:r>
              <a:t>• Il faut une serviette chaude ou un bonnet de bain pour soulever délicatement les écailles et laisser pénétrer les soins.</a:t>
            </a:r>
          </a:p>
          <a:p>
            <a:pPr>
              <a:spcAft>
                <a:spcPts val="400"/>
              </a:spcAft>
              <a:defRPr sz="1100">
                <a:solidFill>
                  <a:srgbClr val="1C1B19"/>
                </a:solidFill>
                <a:latin typeface="Arial"/>
              </a:defRPr>
            </a:pPr>
            <a:r>
              <a:t>• Ingrédients amis : Huiles légères (coco fluide, sésame, tournesol), gel de lin, miel liquide, aloé vera.</a:t>
            </a:r>
          </a:p>
          <a:p>
            <a:pPr>
              <a:spcAft>
                <a:spcPts val="400"/>
              </a:spcAft>
              <a:defRPr sz="1100">
                <a:solidFill>
                  <a:srgbClr val="1C1B19"/>
                </a:solidFill>
                <a:latin typeface="Arial"/>
              </a:defRPr>
            </a:pPr>
            <a:r>
              <a:t>• À bannir : Les beurres épais appliqués froids qui restent en croûte à la surface.</a:t>
            </a:r>
          </a:p>
        </p:txBody>
      </p:sp>
      <p:sp>
        <p:nvSpPr>
          <p:cNvPr id="9" name="Rounded Rectangle 8"/>
          <p:cNvSpPr/>
          <p:nvPr/>
        </p:nvSpPr>
        <p:spPr>
          <a:xfrm>
            <a:off x="4425696" y="1463040"/>
            <a:ext cx="33375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62856" y="1481328"/>
            <a:ext cx="3063240" cy="45720"/>
          </a:xfrm>
          <a:prstGeom prst="rect">
            <a:avLst/>
          </a:prstGeom>
          <a:solidFill>
            <a:srgbClr val="556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08576" y="1645920"/>
            <a:ext cx="2971800" cy="3566160"/>
          </a:xfrm>
          <a:prstGeom prst="rect">
            <a:avLst/>
          </a:prstGeom>
          <a:noFill/>
        </p:spPr>
        <p:txBody>
          <a:bodyPr wrap="square" lIns="0" tIns="0" rIns="0" bIns="0">
            <a:spAutoFit/>
          </a:bodyPr>
          <a:lstStyle/>
          <a:p>
            <a:pPr>
              <a:spcAft>
                <a:spcPts val="800"/>
              </a:spcAft>
              <a:defRPr sz="1450" b="1">
                <a:solidFill>
                  <a:srgbClr val="55663A"/>
                </a:solidFill>
                <a:latin typeface="Georgia"/>
              </a:defRPr>
            </a:pPr>
            <a:r>
              <a:t>Profil 2 : Porosité Moyenne</a:t>
            </a:r>
          </a:p>
          <a:p>
            <a:pPr>
              <a:spcAft>
                <a:spcPts val="400"/>
              </a:spcAft>
              <a:defRPr sz="1100">
                <a:solidFill>
                  <a:srgbClr val="1C1B19"/>
                </a:solidFill>
                <a:latin typeface="Arial"/>
              </a:defRPr>
            </a:pPr>
            <a:r>
              <a:t>• L'état : Écailles équilibrées, absorption et rétention optimales.</a:t>
            </a:r>
          </a:p>
          <a:p>
            <a:pPr>
              <a:spcAft>
                <a:spcPts val="400"/>
              </a:spcAft>
              <a:defRPr sz="1100">
                <a:solidFill>
                  <a:srgbClr val="1C1B19"/>
                </a:solidFill>
                <a:latin typeface="Arial"/>
              </a:defRPr>
            </a:pPr>
            <a:r>
              <a:t>• La règle d'or : ÉQUILIBRE ET DOUCEUR.</a:t>
            </a:r>
          </a:p>
          <a:p>
            <a:pPr>
              <a:spcAft>
                <a:spcPts val="400"/>
              </a:spcAft>
              <a:defRPr sz="1100">
                <a:solidFill>
                  <a:srgbClr val="1C1B19"/>
                </a:solidFill>
                <a:latin typeface="Arial"/>
              </a:defRPr>
            </a:pPr>
            <a:r>
              <a:t>• Vos cheveux acceptent presque tout. L'objectif est simplement de ne pas les abîmer par des manipulations excessives.</a:t>
            </a:r>
          </a:p>
          <a:p>
            <a:pPr>
              <a:spcAft>
                <a:spcPts val="400"/>
              </a:spcAft>
              <a:defRPr sz="1100">
                <a:solidFill>
                  <a:srgbClr val="1C1B19"/>
                </a:solidFill>
                <a:latin typeface="Arial"/>
              </a:defRPr>
            </a:pPr>
            <a:r>
              <a:t>• Ingrédients amis : Karité fouetté, huile d'olive, yaourt, gel de gombo, infusion d'hibiscus.</a:t>
            </a:r>
          </a:p>
          <a:p>
            <a:pPr>
              <a:spcAft>
                <a:spcPts val="400"/>
              </a:spcAft>
              <a:defRPr sz="1100">
                <a:solidFill>
                  <a:srgbClr val="1C1B19"/>
                </a:solidFill>
                <a:latin typeface="Arial"/>
              </a:defRPr>
            </a:pPr>
            <a:r>
              <a:t>• Fréquence : Lavage 1 fois par semaine, soin hydratant chaque semaine, soin protéiné tous les 2 mois.</a:t>
            </a:r>
          </a:p>
        </p:txBody>
      </p:sp>
      <p:sp>
        <p:nvSpPr>
          <p:cNvPr id="12" name="Rounded Rectangle 11"/>
          <p:cNvSpPr/>
          <p:nvPr/>
        </p:nvSpPr>
        <p:spPr>
          <a:xfrm>
            <a:off x="8119872" y="1463040"/>
            <a:ext cx="33375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57032" y="1481328"/>
            <a:ext cx="3063240" cy="45720"/>
          </a:xfrm>
          <a:prstGeom prst="rect">
            <a:avLst/>
          </a:prstGeom>
          <a:solidFill>
            <a:srgbClr val="2B3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2752" y="1645920"/>
            <a:ext cx="2971800" cy="3566160"/>
          </a:xfrm>
          <a:prstGeom prst="rect">
            <a:avLst/>
          </a:prstGeom>
          <a:noFill/>
        </p:spPr>
        <p:txBody>
          <a:bodyPr wrap="square" lIns="0" tIns="0" rIns="0" bIns="0">
            <a:spAutoFit/>
          </a:bodyPr>
          <a:lstStyle/>
          <a:p>
            <a:pPr>
              <a:spcAft>
                <a:spcPts val="800"/>
              </a:spcAft>
              <a:defRPr sz="1450" b="1">
                <a:solidFill>
                  <a:srgbClr val="2B3E63"/>
                </a:solidFill>
                <a:latin typeface="Georgia"/>
              </a:defRPr>
            </a:pPr>
            <a:r>
              <a:t>Profil 3 : Porosité Haute</a:t>
            </a:r>
          </a:p>
          <a:p>
            <a:pPr>
              <a:spcAft>
                <a:spcPts val="400"/>
              </a:spcAft>
              <a:defRPr sz="1100">
                <a:solidFill>
                  <a:srgbClr val="1C1B19"/>
                </a:solidFill>
                <a:latin typeface="Arial"/>
              </a:defRPr>
            </a:pPr>
            <a:r>
              <a:t>• L'état : Écailles soulevées, fibre défrisée, colorée ou usée.</a:t>
            </a:r>
          </a:p>
          <a:p>
            <a:pPr>
              <a:spcAft>
                <a:spcPts val="400"/>
              </a:spcAft>
              <a:defRPr sz="1100">
                <a:solidFill>
                  <a:srgbClr val="1C1B19"/>
                </a:solidFill>
                <a:latin typeface="Arial"/>
              </a:defRPr>
            </a:pPr>
            <a:r>
              <a:t>• La règle d'or : RINÇAGE ACIDE &amp; SCELLAGE.</a:t>
            </a:r>
          </a:p>
          <a:p>
            <a:pPr>
              <a:spcAft>
                <a:spcPts val="400"/>
              </a:spcAft>
              <a:defRPr sz="1100">
                <a:solidFill>
                  <a:srgbClr val="1C1B19"/>
                </a:solidFill>
                <a:latin typeface="Arial"/>
              </a:defRPr>
            </a:pPr>
            <a:r>
              <a:t>• L'eau s'échappe trop vite. Il faut obligatoirement refermer les écailles au vinaigre de cidre et emprisonner l'hydratation sous un beurre dense.</a:t>
            </a:r>
          </a:p>
          <a:p>
            <a:pPr>
              <a:spcAft>
                <a:spcPts val="400"/>
              </a:spcAft>
              <a:defRPr sz="1100">
                <a:solidFill>
                  <a:srgbClr val="1C1B19"/>
                </a:solidFill>
                <a:latin typeface="Arial"/>
              </a:defRPr>
            </a:pPr>
            <a:r>
              <a:t>• Ingrédients amis : Beurre de karité brut, huile de ricin diluée, masque protéiné à l'œuf (1×/mois), rinçage vinaigre.</a:t>
            </a:r>
          </a:p>
          <a:p>
            <a:pPr>
              <a:spcAft>
                <a:spcPts val="400"/>
              </a:spcAft>
              <a:defRPr sz="1100">
                <a:solidFill>
                  <a:srgbClr val="1C1B19"/>
                </a:solidFill>
                <a:latin typeface="Arial"/>
              </a:defRPr>
            </a:pPr>
            <a:r>
              <a:t>• À bannir : Les lavages à l'eau trop chaude.</a:t>
            </a:r>
          </a:p>
        </p:txBody>
      </p:sp>
      <p:sp>
        <p:nvSpPr>
          <p:cNvPr id="15" name="Rounded Rectangle 14"/>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Retenez : En porosité basse, on utilise la chaleur pour ouvrir. En porosité haute, on utilise le froid et l'acide pour refermer.</a:t>
            </a:r>
          </a:p>
        </p:txBody>
      </p:sp>
      <p:sp>
        <p:nvSpPr>
          <p:cNvPr id="17" name="Rectangle 16"/>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9" name="TextBox 18"/>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16 / 75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PARTIE 2 · CHAPITRE 8 — ÉQUILIBRE BIOCHIMIQUE</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Le test d'élasticité : l'équilibre protéines-humidité</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La kératine donne la force (armature) ; l'eau donne la souplesse (flexibilité).</a:t>
            </a:r>
          </a:p>
        </p:txBody>
      </p:sp>
      <p:sp>
        <p:nvSpPr>
          <p:cNvPr id="6" name="Rounded Rectangle 5"/>
          <p:cNvSpPr/>
          <p:nvPr/>
        </p:nvSpPr>
        <p:spPr>
          <a:xfrm>
            <a:off x="73152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4892040" cy="45720"/>
          </a:xfrm>
          <a:prstGeom prst="rect">
            <a:avLst/>
          </a:prstGeom>
          <a:solidFill>
            <a:srgbClr val="2B3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09160" cy="3566160"/>
          </a:xfrm>
          <a:prstGeom prst="rect">
            <a:avLst/>
          </a:prstGeom>
          <a:noFill/>
        </p:spPr>
        <p:txBody>
          <a:bodyPr wrap="square" lIns="0" tIns="0" rIns="0" bIns="0">
            <a:spAutoFit/>
          </a:bodyPr>
          <a:lstStyle/>
          <a:p>
            <a:pPr>
              <a:spcAft>
                <a:spcPts val="800"/>
              </a:spcAft>
              <a:defRPr sz="1450" b="1">
                <a:solidFill>
                  <a:srgbClr val="2B3E63"/>
                </a:solidFill>
                <a:latin typeface="Georgia"/>
              </a:defRPr>
            </a:pPr>
            <a:r>
              <a:t>Le test de la mèche mouillée</a:t>
            </a:r>
          </a:p>
          <a:p>
            <a:pPr>
              <a:spcAft>
                <a:spcPts val="400"/>
              </a:spcAft>
              <a:defRPr sz="1100" b="1">
                <a:solidFill>
                  <a:srgbClr val="2B3E63"/>
                </a:solidFill>
                <a:latin typeface="Arial"/>
              </a:defRPr>
            </a:pPr>
            <a:r>
              <a:t>Le protocole simple : </a:t>
            </a:r>
            <a:r>
              <a:rPr sz="1100" b="0">
                <a:solidFill>
                  <a:srgbClr val="1C1B19"/>
                </a:solidFill>
                <a:latin typeface="Arial"/>
              </a:rPr>
              <a:t>Prenez un cheveu propre et mouillé tombé lors du démêlage. Tenez-le fermement entre les deux pouces et index, puis étirez-le très doucement.</a:t>
            </a:r>
          </a:p>
          <a:p>
            <a:pPr>
              <a:spcAft>
                <a:spcPts val="400"/>
              </a:spcAft>
              <a:defRPr sz="1100" b="1">
                <a:solidFill>
                  <a:srgbClr val="2B3E63"/>
                </a:solidFill>
                <a:latin typeface="Arial"/>
              </a:defRPr>
            </a:pPr>
            <a:r>
              <a:t>Cas 1 : Le cheveu casse net sans s'étirer (rigidité) : </a:t>
            </a:r>
            <a:r>
              <a:rPr sz="1100" b="0">
                <a:solidFill>
                  <a:srgbClr val="1C1B19"/>
                </a:solidFill>
                <a:latin typeface="Arial"/>
              </a:rPr>
              <a:t>Vos cheveux sont saturés en protéines ou manquent cruellement d'eau. La fibre est devenue dure et cassante comme du verre. Stopper les masques aux œufs !</a:t>
            </a:r>
          </a:p>
          <a:p>
            <a:pPr>
              <a:spcAft>
                <a:spcPts val="400"/>
              </a:spcAft>
              <a:defRPr sz="1100" b="1">
                <a:solidFill>
                  <a:srgbClr val="2B3E63"/>
                </a:solidFill>
                <a:latin typeface="Arial"/>
              </a:defRPr>
            </a:pPr>
            <a:r>
              <a:t>Cas 2 : Le cheveu s'étire indéfiniment comme du chewing-gum : </a:t>
            </a:r>
            <a:r>
              <a:rPr sz="1100" b="0">
                <a:solidFill>
                  <a:srgbClr val="1C1B19"/>
                </a:solidFill>
                <a:latin typeface="Arial"/>
              </a:rPr>
              <a:t>Vos cheveux manquent de protéines structurales. Ils sont mous, spongieux et se désagrègent sous l'eau. Il faut un soin protéiné réparateur d'urgence.</a:t>
            </a:r>
          </a:p>
          <a:p>
            <a:pPr>
              <a:spcAft>
                <a:spcPts val="400"/>
              </a:spcAft>
              <a:defRPr sz="1100" b="1">
                <a:solidFill>
                  <a:srgbClr val="2B3E63"/>
                </a:solidFill>
                <a:latin typeface="Arial"/>
              </a:defRPr>
            </a:pPr>
            <a:r>
              <a:t>Cas 3 : Il s'étire de 20-30 % et reprend sa longueur initiale : </a:t>
            </a:r>
            <a:r>
              <a:rPr sz="1100" b="0">
                <a:solidFill>
                  <a:srgbClr val="1C1B19"/>
                </a:solidFill>
                <a:latin typeface="Arial"/>
              </a:rPr>
              <a:t>Félicitations : votre équilibre protéines / eau est parfait !</a:t>
            </a:r>
          </a:p>
        </p:txBody>
      </p:sp>
      <p:sp>
        <p:nvSpPr>
          <p:cNvPr id="9" name="Rounded Rectangle 8"/>
          <p:cNvSpPr/>
          <p:nvPr/>
        </p:nvSpPr>
        <p:spPr>
          <a:xfrm>
            <a:off x="626364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481328"/>
            <a:ext cx="4892040" cy="45720"/>
          </a:xfrm>
          <a:prstGeom prst="rect">
            <a:avLst/>
          </a:prstGeom>
          <a:solidFill>
            <a:srgbClr val="B88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45920"/>
            <a:ext cx="4709160" cy="3566160"/>
          </a:xfrm>
          <a:prstGeom prst="rect">
            <a:avLst/>
          </a:prstGeom>
          <a:noFill/>
        </p:spPr>
        <p:txBody>
          <a:bodyPr wrap="square" lIns="0" tIns="0" rIns="0" bIns="0">
            <a:spAutoFit/>
          </a:bodyPr>
          <a:lstStyle/>
          <a:p>
            <a:pPr>
              <a:spcAft>
                <a:spcPts val="800"/>
              </a:spcAft>
              <a:defRPr sz="1450" b="1">
                <a:solidFill>
                  <a:srgbClr val="B8862B"/>
                </a:solidFill>
                <a:latin typeface="Georgia"/>
              </a:defRPr>
            </a:pPr>
            <a:r>
              <a:t>Le tableau réflexe : symptôme → action</a:t>
            </a:r>
          </a:p>
          <a:p>
            <a:pPr>
              <a:spcAft>
                <a:spcPts val="400"/>
              </a:spcAft>
              <a:defRPr sz="1100" b="1">
                <a:solidFill>
                  <a:srgbClr val="B8862B"/>
                </a:solidFill>
                <a:latin typeface="Arial"/>
              </a:defRPr>
            </a:pPr>
            <a:r>
              <a:t>Symptôme : Cheveux rêches, durs, effet fil de fer : </a:t>
            </a:r>
            <a:r>
              <a:rPr sz="1100" b="0">
                <a:solidFill>
                  <a:srgbClr val="1C1B19"/>
                </a:solidFill>
                <a:latin typeface="Arial"/>
              </a:rPr>
              <a:t>Cause : Trop de protéines ou eau dure. Action : Bain d'huile d'olive tiède + masque au miel et gel de gombo. Zéro œuf pendant 6 semaines.</a:t>
            </a:r>
          </a:p>
          <a:p>
            <a:pPr>
              <a:spcAft>
                <a:spcPts val="400"/>
              </a:spcAft>
              <a:defRPr sz="1100" b="1">
                <a:solidFill>
                  <a:srgbClr val="B8862B"/>
                </a:solidFill>
                <a:latin typeface="Arial"/>
              </a:defRPr>
            </a:pPr>
            <a:r>
              <a:t>Symptôme : Cheveux mous, sans ressort, collants au toucher : </a:t>
            </a:r>
            <a:r>
              <a:rPr sz="1100" b="0">
                <a:solidFill>
                  <a:srgbClr val="1C1B19"/>
                </a:solidFill>
                <a:latin typeface="Arial"/>
              </a:rPr>
              <a:t>Cause : Fatigue hygrale (trop d'eau, manque de kératine). Action : Masque à l'œuf entier + rinçage tiède + eau de riz fermentée.</a:t>
            </a:r>
          </a:p>
          <a:p>
            <a:pPr>
              <a:spcAft>
                <a:spcPts val="400"/>
              </a:spcAft>
              <a:defRPr sz="1100" b="1">
                <a:solidFill>
                  <a:srgbClr val="B8862B"/>
                </a:solidFill>
                <a:latin typeface="Arial"/>
              </a:defRPr>
            </a:pPr>
            <a:r>
              <a:t>Symptôme : Cheveux secs mais souples qui cassent aux pointes : </a:t>
            </a:r>
            <a:r>
              <a:rPr sz="1100" b="0">
                <a:solidFill>
                  <a:srgbClr val="1C1B19"/>
                </a:solidFill>
                <a:latin typeface="Arial"/>
              </a:rPr>
              <a:t>Cause : Manque d'hydratation quotidienne et de scellage. Action : Spray aloé vera + une noisette de karité chaque soir avant le coucher.</a:t>
            </a:r>
          </a:p>
        </p:txBody>
      </p:sp>
      <p:sp>
        <p:nvSpPr>
          <p:cNvPr id="12" name="Rounded Rectangle 11"/>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L'hydratation apporte la souplesse ; les protéines apportent la résistance. Ne confondez jamais les deux.</a:t>
            </a:r>
          </a:p>
        </p:txBody>
      </p:sp>
      <p:sp>
        <p:nvSpPr>
          <p:cNvPr id="14" name="Rectangle 13"/>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6" name="TextBox 15"/>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17 / 75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PARTIE 2 · CHAPITRE 9 — SYNTHÈSE PERSONNALISÉE</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Votre fiche de diagnostic : l'arbre de décision rapide</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Quatre questions simples pour définir votre routine idéale dès ce soir.</a:t>
            </a:r>
          </a:p>
        </p:txBody>
      </p:sp>
      <p:sp>
        <p:nvSpPr>
          <p:cNvPr id="6" name="Rounded Rectangle 5"/>
          <p:cNvSpPr/>
          <p:nvPr/>
        </p:nvSpPr>
        <p:spPr>
          <a:xfrm>
            <a:off x="73152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4892040" cy="45720"/>
          </a:xfrm>
          <a:prstGeom prst="rect">
            <a:avLst/>
          </a:prstGeom>
          <a:solidFill>
            <a:srgbClr val="A85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09160" cy="3566160"/>
          </a:xfrm>
          <a:prstGeom prst="rect">
            <a:avLst/>
          </a:prstGeom>
          <a:noFill/>
        </p:spPr>
        <p:txBody>
          <a:bodyPr wrap="square" lIns="0" tIns="0" rIns="0" bIns="0">
            <a:spAutoFit/>
          </a:bodyPr>
          <a:lstStyle/>
          <a:p>
            <a:pPr>
              <a:spcAft>
                <a:spcPts val="800"/>
              </a:spcAft>
              <a:defRPr sz="1450" b="1">
                <a:solidFill>
                  <a:srgbClr val="A85236"/>
                </a:solidFill>
                <a:latin typeface="Georgia"/>
              </a:defRPr>
            </a:pPr>
            <a:r>
              <a:t>L'arbre de décision en 4 étapes</a:t>
            </a:r>
          </a:p>
          <a:p>
            <a:pPr>
              <a:spcAft>
                <a:spcPts val="400"/>
              </a:spcAft>
              <a:defRPr sz="1100" b="1">
                <a:solidFill>
                  <a:srgbClr val="A85236"/>
                </a:solidFill>
                <a:latin typeface="Arial"/>
              </a:defRPr>
            </a:pPr>
            <a:r>
              <a:t>1. Vos cheveux sont-ils défrisés ou colorés chimiquement ? </a:t>
            </a:r>
            <a:r>
              <a:rPr sz="1100" b="0">
                <a:solidFill>
                  <a:srgbClr val="1C1B19"/>
                </a:solidFill>
                <a:latin typeface="Arial"/>
              </a:rPr>
              <a:t>Si OUI → Vous êtes d'office en porosité haute fragilisée. Priorité : rinçages acides et scellage doux au karité.</a:t>
            </a:r>
          </a:p>
          <a:p>
            <a:pPr>
              <a:spcAft>
                <a:spcPts val="400"/>
              </a:spcAft>
              <a:defRPr sz="1100" b="1">
                <a:solidFill>
                  <a:srgbClr val="A85236"/>
                </a:solidFill>
                <a:latin typeface="Arial"/>
              </a:defRPr>
            </a:pPr>
            <a:r>
              <a:t>2. Combien de temps mettez-vous à les mouiller à fond sous la douche ? </a:t>
            </a:r>
            <a:r>
              <a:rPr sz="1100" b="0">
                <a:solidFill>
                  <a:srgbClr val="1C1B19"/>
                </a:solidFill>
                <a:latin typeface="Arial"/>
              </a:rPr>
              <a:t>Moins d'une minute → Porosité moyenne ou haute. Plus de 2 minutes → Porosité basse (chaleur douce indispensable).</a:t>
            </a:r>
          </a:p>
          <a:p>
            <a:pPr>
              <a:spcAft>
                <a:spcPts val="400"/>
              </a:spcAft>
              <a:defRPr sz="1100" b="1">
                <a:solidFill>
                  <a:srgbClr val="A85236"/>
                </a:solidFill>
                <a:latin typeface="Arial"/>
              </a:defRPr>
            </a:pPr>
            <a:r>
              <a:t>3. Le cheveu s'étire-t-il comme un élastique mou ou casse-t-il net ? </a:t>
            </a:r>
            <a:r>
              <a:rPr sz="1100" b="0">
                <a:solidFill>
                  <a:srgbClr val="1C1B19"/>
                </a:solidFill>
                <a:latin typeface="Arial"/>
              </a:rPr>
              <a:t>Élastique mou → Soin protéiné mensuel nécessaire. Casse net → Hydratation pure au miel et gombo.</a:t>
            </a:r>
          </a:p>
          <a:p>
            <a:pPr>
              <a:spcAft>
                <a:spcPts val="400"/>
              </a:spcAft>
              <a:defRPr sz="1100" b="1">
                <a:solidFill>
                  <a:srgbClr val="A85236"/>
                </a:solidFill>
                <a:latin typeface="Arial"/>
              </a:defRPr>
            </a:pPr>
            <a:r>
              <a:t>4. Votre chevelure est-elle fine ou très dense ? </a:t>
            </a:r>
            <a:r>
              <a:rPr sz="1100" b="0">
                <a:solidFill>
                  <a:srgbClr val="1C1B19"/>
                </a:solidFill>
                <a:latin typeface="Arial"/>
              </a:rPr>
              <a:t>Fine → Huiles fluides (coco, jojoba, ricin très dilué). Très dense (4C) → Beurre de karité généreux, gel de gombo.</a:t>
            </a:r>
          </a:p>
        </p:txBody>
      </p:sp>
      <p:sp>
        <p:nvSpPr>
          <p:cNvPr id="9" name="Rounded Rectangle 8"/>
          <p:cNvSpPr/>
          <p:nvPr/>
        </p:nvSpPr>
        <p:spPr>
          <a:xfrm>
            <a:off x="626364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481328"/>
            <a:ext cx="4892040" cy="45720"/>
          </a:xfrm>
          <a:prstGeom prst="rect">
            <a:avLst/>
          </a:prstGeom>
          <a:solidFill>
            <a:srgbClr val="556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45920"/>
            <a:ext cx="4709160" cy="3566160"/>
          </a:xfrm>
          <a:prstGeom prst="rect">
            <a:avLst/>
          </a:prstGeom>
          <a:noFill/>
        </p:spPr>
        <p:txBody>
          <a:bodyPr wrap="square" lIns="0" tIns="0" rIns="0" bIns="0">
            <a:spAutoFit/>
          </a:bodyPr>
          <a:lstStyle/>
          <a:p>
            <a:pPr>
              <a:spcAft>
                <a:spcPts val="800"/>
              </a:spcAft>
              <a:defRPr sz="1450" b="1">
                <a:solidFill>
                  <a:srgbClr val="55663A"/>
                </a:solidFill>
                <a:latin typeface="Georgia"/>
              </a:defRPr>
            </a:pPr>
            <a:r>
              <a:t>Les 3 profils types les plus fréquents au Bénin</a:t>
            </a:r>
          </a:p>
          <a:p>
            <a:pPr>
              <a:spcAft>
                <a:spcPts val="400"/>
              </a:spcAft>
              <a:defRPr sz="1100" b="1">
                <a:solidFill>
                  <a:srgbClr val="55663A"/>
                </a:solidFill>
                <a:latin typeface="Arial"/>
              </a:defRPr>
            </a:pPr>
            <a:r>
              <a:t>Profil A — Le 4C naturel très dense (kink) : </a:t>
            </a:r>
            <a:r>
              <a:rPr sz="1100" b="0">
                <a:solidFill>
                  <a:srgbClr val="1C1B19"/>
                </a:solidFill>
                <a:latin typeface="Arial"/>
              </a:rPr>
              <a:t>Routine : Gel de gombo pour tout démêlage + beurre de karité brut en scellage après chaque vaporisation d'eau. Nattes sans tension.</a:t>
            </a:r>
          </a:p>
          <a:p>
            <a:pPr>
              <a:spcAft>
                <a:spcPts val="400"/>
              </a:spcAft>
              <a:defRPr sz="1100" b="1">
                <a:solidFill>
                  <a:srgbClr val="55663A"/>
                </a:solidFill>
                <a:latin typeface="Arial"/>
              </a:defRPr>
            </a:pPr>
            <a:r>
              <a:t>Profil B — Le cheveu en transition ou défrisé : </a:t>
            </a:r>
            <a:r>
              <a:rPr sz="1100" b="0">
                <a:solidFill>
                  <a:srgbClr val="1C1B19"/>
                </a:solidFill>
                <a:latin typeface="Arial"/>
              </a:rPr>
              <a:t>Routine : Pré-poo obligatoire à l'huile de coco pour protéger la jonction fragile naturel/défrisé + soin protéiné doux à l'œuf chaque mois.</a:t>
            </a:r>
          </a:p>
          <a:p>
            <a:pPr>
              <a:spcAft>
                <a:spcPts val="400"/>
              </a:spcAft>
              <a:defRPr sz="1100" b="1">
                <a:solidFill>
                  <a:srgbClr val="55663A"/>
                </a:solidFill>
                <a:latin typeface="Arial"/>
              </a:defRPr>
            </a:pPr>
            <a:r>
              <a:t>Profil C — Le cheveu fin et cassant aux tempes : </a:t>
            </a:r>
            <a:r>
              <a:rPr sz="1100" b="0">
                <a:solidFill>
                  <a:srgbClr val="1C1B19"/>
                </a:solidFill>
                <a:latin typeface="Arial"/>
              </a:rPr>
              <a:t>Routine : Massage bi-hebdomadaire à l'huile de ricin diluée à 50 % + bannir les tresses avec rajouts lourds.</a:t>
            </a:r>
          </a:p>
        </p:txBody>
      </p:sp>
      <p:sp>
        <p:nvSpPr>
          <p:cNvPr id="12" name="Rounded Rectangle 11"/>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Remplissez mentalement ces 4 étapes. Vous avez désormais votre carte d'identité capillaire personnalisée.</a:t>
            </a:r>
          </a:p>
        </p:txBody>
      </p:sp>
      <p:sp>
        <p:nvSpPr>
          <p:cNvPr id="14" name="Rectangle 13"/>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6" name="TextBox 15"/>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18 / 75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PARTIE 2 · CHAPITRE 10 — MÉTROLOGIE CAPILLAIRE</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La page des mesures exactes : fini le « un peu d'huile »</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La précision est le secret qui sépare une recette qui marche d'une recette qui poisse.</a:t>
            </a:r>
          </a:p>
        </p:txBody>
      </p:sp>
      <p:pic>
        <p:nvPicPr>
          <p:cNvPr id="6" name="Picture 5" descr="photo_mesures.png"/>
          <p:cNvPicPr>
            <a:picLocks noChangeAspect="1"/>
          </p:cNvPicPr>
          <p:nvPr/>
        </p:nvPicPr>
        <p:blipFill>
          <a:blip r:embed="rId2"/>
          <a:stretch>
            <a:fillRect/>
          </a:stretch>
        </p:blipFill>
        <p:spPr>
          <a:xfrm>
            <a:off x="731520" y="1463040"/>
            <a:ext cx="4206240" cy="3794760"/>
          </a:xfrm>
          <a:prstGeom prst="rect">
            <a:avLst/>
          </a:prstGeom>
        </p:spPr>
      </p:pic>
      <p:sp>
        <p:nvSpPr>
          <p:cNvPr id="7" name="Rectangle 6"/>
          <p:cNvSpPr/>
          <p:nvPr/>
        </p:nvSpPr>
        <p:spPr>
          <a:xfrm>
            <a:off x="731520" y="1463040"/>
            <a:ext cx="4206240" cy="3794760"/>
          </a:xfrm>
          <a:prstGeom prst="rect">
            <a:avLst/>
          </a:prstGeom>
          <a:no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212080" y="1463040"/>
            <a:ext cx="6248095" cy="379476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349240" y="1481328"/>
            <a:ext cx="5973775" cy="45720"/>
          </a:xfrm>
          <a:prstGeom prst="rect">
            <a:avLst/>
          </a:prstGeom>
          <a:solidFill>
            <a:srgbClr val="B88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40680" y="1645920"/>
            <a:ext cx="5790895" cy="3474720"/>
          </a:xfrm>
          <a:prstGeom prst="rect">
            <a:avLst/>
          </a:prstGeom>
          <a:noFill/>
        </p:spPr>
        <p:txBody>
          <a:bodyPr wrap="square" lIns="0" tIns="0" rIns="0" bIns="0">
            <a:spAutoFit/>
          </a:bodyPr>
          <a:lstStyle/>
          <a:p>
            <a:pPr>
              <a:spcAft>
                <a:spcPts val="800"/>
              </a:spcAft>
              <a:defRPr sz="1450" b="1">
                <a:solidFill>
                  <a:srgbClr val="B8862B"/>
                </a:solidFill>
                <a:latin typeface="Georgia"/>
              </a:defRPr>
            </a:pPr>
            <a:r>
              <a:t>Les 4 repères universels de votre cuisine</a:t>
            </a:r>
          </a:p>
          <a:p>
            <a:pPr>
              <a:spcAft>
                <a:spcPts val="400"/>
              </a:spcAft>
              <a:defRPr sz="1100" b="1">
                <a:solidFill>
                  <a:srgbClr val="B8862B"/>
                </a:solidFill>
                <a:latin typeface="Arial"/>
              </a:defRPr>
            </a:pPr>
            <a:r>
              <a:t>La cuillère à café rase (c. à c.) = 5 ml : </a:t>
            </a:r>
            <a:r>
              <a:rPr sz="1100" b="0">
                <a:solidFill>
                  <a:srgbClr val="1C1B19"/>
                </a:solidFill>
                <a:latin typeface="Arial"/>
              </a:rPr>
              <a:t>Équivaut à environ 4 g de beurre de karité ou 5 g d'huile liquide. C'est la dose de base pour les cheveux courts ou le massage du cuir chevelu.</a:t>
            </a:r>
          </a:p>
          <a:p>
            <a:pPr>
              <a:spcAft>
                <a:spcPts val="400"/>
              </a:spcAft>
              <a:defRPr sz="1100" b="1">
                <a:solidFill>
                  <a:srgbClr val="B8862B"/>
                </a:solidFill>
                <a:latin typeface="Arial"/>
              </a:defRPr>
            </a:pPr>
            <a:r>
              <a:t>La cuillère à soupe rase (c. à s.) = 15 ml : </a:t>
            </a:r>
            <a:r>
              <a:rPr sz="1100" b="0">
                <a:solidFill>
                  <a:srgbClr val="1C1B19"/>
                </a:solidFill>
                <a:latin typeface="Arial"/>
              </a:rPr>
              <a:t>Équivaut exactement à 3 cuillères à café. C'est la mesure reine pour les bains d'huile tièdes et les masques profonds.</a:t>
            </a:r>
          </a:p>
          <a:p>
            <a:pPr>
              <a:spcAft>
                <a:spcPts val="400"/>
              </a:spcAft>
              <a:defRPr sz="1100" b="1">
                <a:solidFill>
                  <a:srgbClr val="B8862B"/>
                </a:solidFill>
                <a:latin typeface="Arial"/>
              </a:defRPr>
            </a:pPr>
            <a:r>
              <a:t>Le verre à eau ordinaire = 250 ml : </a:t>
            </a:r>
            <a:r>
              <a:rPr sz="1100" b="0">
                <a:solidFill>
                  <a:srgbClr val="1C1B19"/>
                </a:solidFill>
                <a:latin typeface="Arial"/>
              </a:rPr>
              <a:t>C'est la base liquide de toutes nos préparations aqueuses : rinçage au vinaigre, gel de gombo, infusion de bissap ou eau de riz.</a:t>
            </a:r>
          </a:p>
          <a:p>
            <a:pPr>
              <a:spcAft>
                <a:spcPts val="400"/>
              </a:spcAft>
              <a:defRPr sz="1100" b="1">
                <a:solidFill>
                  <a:srgbClr val="B8862B"/>
                </a:solidFill>
                <a:latin typeface="Arial"/>
              </a:defRPr>
            </a:pPr>
            <a:r>
              <a:t>La noisette (3 ml) et la noix (10 ml) : </a:t>
            </a:r>
            <a:r>
              <a:rPr sz="1100" b="0">
                <a:solidFill>
                  <a:srgbClr val="1C1B19"/>
                </a:solidFill>
                <a:latin typeface="Arial"/>
              </a:rPr>
              <a:t>Une noisette de karité se prélève en effleurant le pot avec le bout de deux doigts. Une noix correspond à une cuillère bombée.</a:t>
            </a:r>
          </a:p>
        </p:txBody>
      </p:sp>
      <p:sp>
        <p:nvSpPr>
          <p:cNvPr id="11" name="Rounded Rectangle 10"/>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Si vous n'avez pas de doseur : un bouchon de bouteille d'huile ordinaire plein à ras bord contient exactement 5 à 7 ml (une cuillère à café).</a:t>
            </a:r>
          </a:p>
        </p:txBody>
      </p:sp>
      <p:sp>
        <p:nvSpPr>
          <p:cNvPr id="13" name="Rectangle 12"/>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5" name="TextBox 14"/>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19 / 75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PARTIE 2 · CHAPITRE 10 — DOSAGES PRÉCIS</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Tableau maître des quantités selon votre longueur</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Des dosages calibrés au millimètre pour ne jamais gaspiller ni saturer la fibre.</a:t>
            </a:r>
          </a:p>
        </p:txBody>
      </p:sp>
      <p:graphicFrame>
        <p:nvGraphicFramePr>
          <p:cNvPr id="6" name="Table 5"/>
          <p:cNvGraphicFramePr>
            <a:graphicFrameLocks noGrp="1"/>
          </p:cNvGraphicFramePr>
          <p:nvPr/>
        </p:nvGraphicFramePr>
        <p:xfrm>
          <a:off x="731520" y="1463040"/>
          <a:ext cx="10728655" cy="3840480"/>
        </p:xfrm>
        <a:graphic>
          <a:graphicData uri="http://schemas.openxmlformats.org/drawingml/2006/table">
            <a:tbl>
              <a:tblPr firstRow="1" bandRow="1">
                <a:tableStyleId>{5C22544A-7EE6-4342-B048-85BDC9FD1C3A}</a:tableStyleId>
              </a:tblPr>
              <a:tblGrid>
                <a:gridCol w="2145731"/>
                <a:gridCol w="2145731"/>
                <a:gridCol w="2145731"/>
                <a:gridCol w="2145731"/>
                <a:gridCol w="2145731"/>
              </a:tblGrid>
              <a:tr h="426720">
                <a:tc>
                  <a:txBody>
                    <a:bodyPr wrap="square"/>
                    <a:lstStyle/>
                    <a:p>
                      <a:pPr>
                        <a:defRPr sz="1000" b="1">
                          <a:solidFill>
                            <a:srgbClr val="D9A13B"/>
                          </a:solidFill>
                          <a:latin typeface="Arial"/>
                        </a:defRPr>
                      </a:pPr>
                      <a:r>
                        <a:t>Type de soin</a:t>
                      </a:r>
                    </a:p>
                  </a:txBody>
                  <a:tcPr>
                    <a:solidFill>
                      <a:srgbClr val="1B2740"/>
                    </a:solidFill>
                  </a:tcPr>
                </a:tc>
                <a:tc>
                  <a:txBody>
                    <a:bodyPr wrap="square"/>
                    <a:lstStyle/>
                    <a:p>
                      <a:pPr>
                        <a:defRPr sz="1000" b="1">
                          <a:solidFill>
                            <a:srgbClr val="D9A13B"/>
                          </a:solidFill>
                          <a:latin typeface="Arial"/>
                        </a:defRPr>
                      </a:pPr>
                      <a:r>
                        <a:t>Courts (&lt; 10 cm)</a:t>
                      </a:r>
                    </a:p>
                  </a:txBody>
                  <a:tcPr>
                    <a:solidFill>
                      <a:srgbClr val="1B2740"/>
                    </a:solidFill>
                  </a:tcPr>
                </a:tc>
                <a:tc>
                  <a:txBody>
                    <a:bodyPr wrap="square"/>
                    <a:lstStyle/>
                    <a:p>
                      <a:pPr>
                        <a:defRPr sz="1000" b="1">
                          <a:solidFill>
                            <a:srgbClr val="D9A13B"/>
                          </a:solidFill>
                          <a:latin typeface="Arial"/>
                        </a:defRPr>
                      </a:pPr>
                      <a:r>
                        <a:t>Mi-longs (10 à 25 cm)</a:t>
                      </a:r>
                    </a:p>
                  </a:txBody>
                  <a:tcPr>
                    <a:solidFill>
                      <a:srgbClr val="1B2740"/>
                    </a:solidFill>
                  </a:tcPr>
                </a:tc>
                <a:tc>
                  <a:txBody>
                    <a:bodyPr wrap="square"/>
                    <a:lstStyle/>
                    <a:p>
                      <a:pPr>
                        <a:defRPr sz="1000" b="1">
                          <a:solidFill>
                            <a:srgbClr val="D9A13B"/>
                          </a:solidFill>
                          <a:latin typeface="Arial"/>
                        </a:defRPr>
                      </a:pPr>
                      <a:r>
                        <a:t>Longs (&gt; 25 cm)</a:t>
                      </a:r>
                    </a:p>
                  </a:txBody>
                  <a:tcPr>
                    <a:solidFill>
                      <a:srgbClr val="1B2740"/>
                    </a:solidFill>
                  </a:tcPr>
                </a:tc>
                <a:tc>
                  <a:txBody>
                    <a:bodyPr wrap="square"/>
                    <a:lstStyle/>
                    <a:p>
                      <a:pPr>
                        <a:defRPr sz="1000" b="1">
                          <a:solidFill>
                            <a:srgbClr val="D9A13B"/>
                          </a:solidFill>
                          <a:latin typeface="Arial"/>
                        </a:defRPr>
                      </a:pPr>
                      <a:r>
                        <a:t>Fréquence recommandée</a:t>
                      </a:r>
                    </a:p>
                  </a:txBody>
                  <a:tcPr>
                    <a:solidFill>
                      <a:srgbClr val="1B2740"/>
                    </a:solidFill>
                  </a:tcPr>
                </a:tc>
              </a:tr>
              <a:tr h="426720">
                <a:tc>
                  <a:txBody>
                    <a:bodyPr wrap="square"/>
                    <a:lstStyle/>
                    <a:p>
                      <a:pPr>
                        <a:defRPr sz="950" b="1">
                          <a:solidFill>
                            <a:srgbClr val="2B3E63"/>
                          </a:solidFill>
                          <a:latin typeface="Arial"/>
                        </a:defRPr>
                      </a:pPr>
                      <a:r>
                        <a:t>Pré-poo (bain protecteur)</a:t>
                      </a:r>
                    </a:p>
                  </a:txBody>
                  <a:tcPr>
                    <a:solidFill>
                      <a:srgbClr val="FFFFFF"/>
                    </a:solidFill>
                  </a:tcPr>
                </a:tc>
                <a:tc>
                  <a:txBody>
                    <a:bodyPr wrap="square"/>
                    <a:lstStyle/>
                    <a:p>
                      <a:pPr>
                        <a:defRPr sz="950">
                          <a:solidFill>
                            <a:srgbClr val="1C1B19"/>
                          </a:solidFill>
                          <a:latin typeface="Arial"/>
                        </a:defRPr>
                      </a:pPr>
                      <a:r>
                        <a:t>1 c. à café</a:t>
                      </a:r>
                    </a:p>
                  </a:txBody>
                  <a:tcPr>
                    <a:solidFill>
                      <a:srgbClr val="FFFFFF"/>
                    </a:solidFill>
                  </a:tcPr>
                </a:tc>
                <a:tc>
                  <a:txBody>
                    <a:bodyPr wrap="square"/>
                    <a:lstStyle/>
                    <a:p>
                      <a:pPr>
                        <a:defRPr sz="950">
                          <a:solidFill>
                            <a:srgbClr val="1C1B19"/>
                          </a:solidFill>
                          <a:latin typeface="Arial"/>
                        </a:defRPr>
                      </a:pPr>
                      <a:r>
                        <a:t>2 c. à café</a:t>
                      </a:r>
                    </a:p>
                  </a:txBody>
                  <a:tcPr>
                    <a:solidFill>
                      <a:srgbClr val="FFFFFF"/>
                    </a:solidFill>
                  </a:tcPr>
                </a:tc>
                <a:tc>
                  <a:txBody>
                    <a:bodyPr wrap="square"/>
                    <a:lstStyle/>
                    <a:p>
                      <a:pPr>
                        <a:defRPr sz="950">
                          <a:solidFill>
                            <a:srgbClr val="1C1B19"/>
                          </a:solidFill>
                          <a:latin typeface="Arial"/>
                        </a:defRPr>
                      </a:pPr>
                      <a:r>
                        <a:t>1 c. à soupe</a:t>
                      </a:r>
                    </a:p>
                  </a:txBody>
                  <a:tcPr>
                    <a:solidFill>
                      <a:srgbClr val="FFFFFF"/>
                    </a:solidFill>
                  </a:tcPr>
                </a:tc>
                <a:tc>
                  <a:txBody>
                    <a:bodyPr wrap="square"/>
                    <a:lstStyle/>
                    <a:p>
                      <a:pPr>
                        <a:defRPr sz="950">
                          <a:solidFill>
                            <a:srgbClr val="1C1B19"/>
                          </a:solidFill>
                          <a:latin typeface="Arial"/>
                        </a:defRPr>
                      </a:pPr>
                      <a:r>
                        <a:t>Avant chaque lavage</a:t>
                      </a:r>
                    </a:p>
                  </a:txBody>
                  <a:tcPr>
                    <a:solidFill>
                      <a:srgbClr val="FFFFFF"/>
                    </a:solidFill>
                  </a:tcPr>
                </a:tc>
              </a:tr>
              <a:tr h="426720">
                <a:tc>
                  <a:txBody>
                    <a:bodyPr wrap="square"/>
                    <a:lstStyle/>
                    <a:p>
                      <a:pPr>
                        <a:defRPr sz="950" b="1">
                          <a:solidFill>
                            <a:srgbClr val="2B3E63"/>
                          </a:solidFill>
                          <a:latin typeface="Arial"/>
                        </a:defRPr>
                      </a:pPr>
                      <a:r>
                        <a:t>Bain d'huile tiède profond</a:t>
                      </a:r>
                    </a:p>
                  </a:txBody>
                  <a:tcPr>
                    <a:solidFill>
                      <a:srgbClr val="F5EEE0"/>
                    </a:solidFill>
                  </a:tcPr>
                </a:tc>
                <a:tc>
                  <a:txBody>
                    <a:bodyPr wrap="square"/>
                    <a:lstStyle/>
                    <a:p>
                      <a:pPr>
                        <a:defRPr sz="950">
                          <a:solidFill>
                            <a:srgbClr val="1C1B19"/>
                          </a:solidFill>
                          <a:latin typeface="Arial"/>
                        </a:defRPr>
                      </a:pPr>
                      <a:r>
                        <a:t>2 c. à café</a:t>
                      </a:r>
                    </a:p>
                  </a:txBody>
                  <a:tcPr>
                    <a:solidFill>
                      <a:srgbClr val="F5EEE0"/>
                    </a:solidFill>
                  </a:tcPr>
                </a:tc>
                <a:tc>
                  <a:txBody>
                    <a:bodyPr wrap="square"/>
                    <a:lstStyle/>
                    <a:p>
                      <a:pPr>
                        <a:defRPr sz="950">
                          <a:solidFill>
                            <a:srgbClr val="1C1B19"/>
                          </a:solidFill>
                          <a:latin typeface="Arial"/>
                        </a:defRPr>
                      </a:pPr>
                      <a:r>
                        <a:t>1 c. à soupe</a:t>
                      </a:r>
                    </a:p>
                  </a:txBody>
                  <a:tcPr>
                    <a:solidFill>
                      <a:srgbClr val="F5EEE0"/>
                    </a:solidFill>
                  </a:tcPr>
                </a:tc>
                <a:tc>
                  <a:txBody>
                    <a:bodyPr wrap="square"/>
                    <a:lstStyle/>
                    <a:p>
                      <a:pPr>
                        <a:defRPr sz="950">
                          <a:solidFill>
                            <a:srgbClr val="1C1B19"/>
                          </a:solidFill>
                          <a:latin typeface="Arial"/>
                        </a:defRPr>
                      </a:pPr>
                      <a:r>
                        <a:t>2 c. à soupe</a:t>
                      </a:r>
                    </a:p>
                  </a:txBody>
                  <a:tcPr>
                    <a:solidFill>
                      <a:srgbClr val="F5EEE0"/>
                    </a:solidFill>
                  </a:tcPr>
                </a:tc>
                <a:tc>
                  <a:txBody>
                    <a:bodyPr wrap="square"/>
                    <a:lstStyle/>
                    <a:p>
                      <a:pPr>
                        <a:defRPr sz="950">
                          <a:solidFill>
                            <a:srgbClr val="1C1B19"/>
                          </a:solidFill>
                          <a:latin typeface="Arial"/>
                        </a:defRPr>
                      </a:pPr>
                      <a:r>
                        <a:t>1 à 2 fois par mois</a:t>
                      </a:r>
                    </a:p>
                  </a:txBody>
                  <a:tcPr>
                    <a:solidFill>
                      <a:srgbClr val="F5EEE0"/>
                    </a:solidFill>
                  </a:tcPr>
                </a:tc>
              </a:tr>
              <a:tr h="426720">
                <a:tc>
                  <a:txBody>
                    <a:bodyPr wrap="square"/>
                    <a:lstStyle/>
                    <a:p>
                      <a:pPr>
                        <a:defRPr sz="950" b="1">
                          <a:solidFill>
                            <a:srgbClr val="2B3E63"/>
                          </a:solidFill>
                          <a:latin typeface="Arial"/>
                        </a:defRPr>
                      </a:pPr>
                      <a:r>
                        <a:t>Masque hydratant (miel/yaourt)</a:t>
                      </a:r>
                    </a:p>
                  </a:txBody>
                  <a:tcPr>
                    <a:solidFill>
                      <a:srgbClr val="FFFFFF"/>
                    </a:solidFill>
                  </a:tcPr>
                </a:tc>
                <a:tc>
                  <a:txBody>
                    <a:bodyPr wrap="square"/>
                    <a:lstStyle/>
                    <a:p>
                      <a:pPr>
                        <a:defRPr sz="950">
                          <a:solidFill>
                            <a:srgbClr val="1C1B19"/>
                          </a:solidFill>
                          <a:latin typeface="Arial"/>
                        </a:defRPr>
                      </a:pPr>
                      <a:r>
                        <a:t>2 c. à soupe</a:t>
                      </a:r>
                    </a:p>
                  </a:txBody>
                  <a:tcPr>
                    <a:solidFill>
                      <a:srgbClr val="FFFFFF"/>
                    </a:solidFill>
                  </a:tcPr>
                </a:tc>
                <a:tc>
                  <a:txBody>
                    <a:bodyPr wrap="square"/>
                    <a:lstStyle/>
                    <a:p>
                      <a:pPr>
                        <a:defRPr sz="950">
                          <a:solidFill>
                            <a:srgbClr val="1C1B19"/>
                          </a:solidFill>
                          <a:latin typeface="Arial"/>
                        </a:defRPr>
                      </a:pPr>
                      <a:r>
                        <a:t>4 c. à soupe</a:t>
                      </a:r>
                    </a:p>
                  </a:txBody>
                  <a:tcPr>
                    <a:solidFill>
                      <a:srgbClr val="FFFFFF"/>
                    </a:solidFill>
                  </a:tcPr>
                </a:tc>
                <a:tc>
                  <a:txBody>
                    <a:bodyPr wrap="square"/>
                    <a:lstStyle/>
                    <a:p>
                      <a:pPr>
                        <a:defRPr sz="950">
                          <a:solidFill>
                            <a:srgbClr val="1C1B19"/>
                          </a:solidFill>
                          <a:latin typeface="Arial"/>
                        </a:defRPr>
                      </a:pPr>
                      <a:r>
                        <a:t>6 c. à soupe</a:t>
                      </a:r>
                    </a:p>
                  </a:txBody>
                  <a:tcPr>
                    <a:solidFill>
                      <a:srgbClr val="FFFFFF"/>
                    </a:solidFill>
                  </a:tcPr>
                </a:tc>
                <a:tc>
                  <a:txBody>
                    <a:bodyPr wrap="square"/>
                    <a:lstStyle/>
                    <a:p>
                      <a:pPr>
                        <a:defRPr sz="950">
                          <a:solidFill>
                            <a:srgbClr val="1C1B19"/>
                          </a:solidFill>
                          <a:latin typeface="Arial"/>
                        </a:defRPr>
                      </a:pPr>
                      <a:r>
                        <a:t>1 fois par semaine</a:t>
                      </a:r>
                    </a:p>
                  </a:txBody>
                  <a:tcPr>
                    <a:solidFill>
                      <a:srgbClr val="FFFFFF"/>
                    </a:solidFill>
                  </a:tcPr>
                </a:tc>
              </a:tr>
              <a:tr h="426720">
                <a:tc>
                  <a:txBody>
                    <a:bodyPr wrap="square"/>
                    <a:lstStyle/>
                    <a:p>
                      <a:pPr>
                        <a:defRPr sz="950" b="1">
                          <a:solidFill>
                            <a:srgbClr val="2B3E63"/>
                          </a:solidFill>
                          <a:latin typeface="Arial"/>
                        </a:defRPr>
                      </a:pPr>
                      <a:r>
                        <a:t>Soin protéiné (œuf + huile)</a:t>
                      </a:r>
                    </a:p>
                  </a:txBody>
                  <a:tcPr>
                    <a:solidFill>
                      <a:srgbClr val="F5EEE0"/>
                    </a:solidFill>
                  </a:tcPr>
                </a:tc>
                <a:tc>
                  <a:txBody>
                    <a:bodyPr wrap="square"/>
                    <a:lstStyle/>
                    <a:p>
                      <a:pPr>
                        <a:defRPr sz="950">
                          <a:solidFill>
                            <a:srgbClr val="1C1B19"/>
                          </a:solidFill>
                          <a:latin typeface="Arial"/>
                        </a:defRPr>
                      </a:pPr>
                      <a:r>
                        <a:t>1 œuf + 1 c. à c. huile</a:t>
                      </a:r>
                    </a:p>
                  </a:txBody>
                  <a:tcPr>
                    <a:solidFill>
                      <a:srgbClr val="F5EEE0"/>
                    </a:solidFill>
                  </a:tcPr>
                </a:tc>
                <a:tc>
                  <a:txBody>
                    <a:bodyPr wrap="square"/>
                    <a:lstStyle/>
                    <a:p>
                      <a:pPr>
                        <a:defRPr sz="950">
                          <a:solidFill>
                            <a:srgbClr val="1C1B19"/>
                          </a:solidFill>
                          <a:latin typeface="Arial"/>
                        </a:defRPr>
                      </a:pPr>
                      <a:r>
                        <a:t>1 œuf + 1 c. à s. huile</a:t>
                      </a:r>
                    </a:p>
                  </a:txBody>
                  <a:tcPr>
                    <a:solidFill>
                      <a:srgbClr val="F5EEE0"/>
                    </a:solidFill>
                  </a:tcPr>
                </a:tc>
                <a:tc>
                  <a:txBody>
                    <a:bodyPr wrap="square"/>
                    <a:lstStyle/>
                    <a:p>
                      <a:pPr>
                        <a:defRPr sz="950">
                          <a:solidFill>
                            <a:srgbClr val="1C1B19"/>
                          </a:solidFill>
                          <a:latin typeface="Arial"/>
                        </a:defRPr>
                      </a:pPr>
                      <a:r>
                        <a:t>2 œufs + 2 c. à s. huile</a:t>
                      </a:r>
                    </a:p>
                  </a:txBody>
                  <a:tcPr>
                    <a:solidFill>
                      <a:srgbClr val="F5EEE0"/>
                    </a:solidFill>
                  </a:tcPr>
                </a:tc>
                <a:tc>
                  <a:txBody>
                    <a:bodyPr wrap="square"/>
                    <a:lstStyle/>
                    <a:p>
                      <a:pPr>
                        <a:defRPr sz="950">
                          <a:solidFill>
                            <a:srgbClr val="1C1B19"/>
                          </a:solidFill>
                          <a:latin typeface="Arial"/>
                        </a:defRPr>
                      </a:pPr>
                      <a:r>
                        <a:t>1 fois par mois maximum</a:t>
                      </a:r>
                    </a:p>
                  </a:txBody>
                  <a:tcPr>
                    <a:solidFill>
                      <a:srgbClr val="F5EEE0"/>
                    </a:solidFill>
                  </a:tcPr>
                </a:tc>
              </a:tr>
              <a:tr h="426720">
                <a:tc>
                  <a:txBody>
                    <a:bodyPr wrap="square"/>
                    <a:lstStyle/>
                    <a:p>
                      <a:pPr>
                        <a:defRPr sz="950" b="1">
                          <a:solidFill>
                            <a:srgbClr val="2B3E63"/>
                          </a:solidFill>
                          <a:latin typeface="Arial"/>
                        </a:defRPr>
                      </a:pPr>
                      <a:r>
                        <a:t>Scellage au beurre de karité</a:t>
                      </a:r>
                    </a:p>
                  </a:txBody>
                  <a:tcPr>
                    <a:solidFill>
                      <a:srgbClr val="FFFFFF"/>
                    </a:solidFill>
                  </a:tcPr>
                </a:tc>
                <a:tc>
                  <a:txBody>
                    <a:bodyPr wrap="square"/>
                    <a:lstStyle/>
                    <a:p>
                      <a:pPr>
                        <a:defRPr sz="950">
                          <a:solidFill>
                            <a:srgbClr val="1C1B19"/>
                          </a:solidFill>
                          <a:latin typeface="Arial"/>
                        </a:defRPr>
                      </a:pPr>
                      <a:r>
                        <a:t>1 noisette (3 ml)</a:t>
                      </a:r>
                    </a:p>
                  </a:txBody>
                  <a:tcPr>
                    <a:solidFill>
                      <a:srgbClr val="FFFFFF"/>
                    </a:solidFill>
                  </a:tcPr>
                </a:tc>
                <a:tc>
                  <a:txBody>
                    <a:bodyPr wrap="square"/>
                    <a:lstStyle/>
                    <a:p>
                      <a:pPr>
                        <a:defRPr sz="950">
                          <a:solidFill>
                            <a:srgbClr val="1C1B19"/>
                          </a:solidFill>
                          <a:latin typeface="Arial"/>
                        </a:defRPr>
                      </a:pPr>
                      <a:r>
                        <a:t>1 noix (10 ml)</a:t>
                      </a:r>
                    </a:p>
                  </a:txBody>
                  <a:tcPr>
                    <a:solidFill>
                      <a:srgbClr val="FFFFFF"/>
                    </a:solidFill>
                  </a:tcPr>
                </a:tc>
                <a:tc>
                  <a:txBody>
                    <a:bodyPr wrap="square"/>
                    <a:lstStyle/>
                    <a:p>
                      <a:pPr>
                        <a:defRPr sz="950">
                          <a:solidFill>
                            <a:srgbClr val="1C1B19"/>
                          </a:solidFill>
                          <a:latin typeface="Arial"/>
                        </a:defRPr>
                      </a:pPr>
                      <a:r>
                        <a:t>2 noix (20 ml)</a:t>
                      </a:r>
                    </a:p>
                  </a:txBody>
                  <a:tcPr>
                    <a:solidFill>
                      <a:srgbClr val="FFFFFF"/>
                    </a:solidFill>
                  </a:tcPr>
                </a:tc>
                <a:tc>
                  <a:txBody>
                    <a:bodyPr wrap="square"/>
                    <a:lstStyle/>
                    <a:p>
                      <a:pPr>
                        <a:defRPr sz="950">
                          <a:solidFill>
                            <a:srgbClr val="1C1B19"/>
                          </a:solidFill>
                          <a:latin typeface="Arial"/>
                        </a:defRPr>
                      </a:pPr>
                      <a:r>
                        <a:t>2 à 3 fois par semaine</a:t>
                      </a:r>
                    </a:p>
                  </a:txBody>
                  <a:tcPr>
                    <a:solidFill>
                      <a:srgbClr val="FFFFFF"/>
                    </a:solidFill>
                  </a:tcPr>
                </a:tc>
              </a:tr>
              <a:tr h="426720">
                <a:tc>
                  <a:txBody>
                    <a:bodyPr wrap="square"/>
                    <a:lstStyle/>
                    <a:p>
                      <a:pPr>
                        <a:defRPr sz="950" b="1">
                          <a:solidFill>
                            <a:srgbClr val="2B3E63"/>
                          </a:solidFill>
                          <a:latin typeface="Arial"/>
                        </a:defRPr>
                      </a:pPr>
                      <a:r>
                        <a:t>Gel de gombo démêlant</a:t>
                      </a:r>
                    </a:p>
                  </a:txBody>
                  <a:tcPr>
                    <a:solidFill>
                      <a:srgbClr val="F5EEE0"/>
                    </a:solidFill>
                  </a:tcPr>
                </a:tc>
                <a:tc>
                  <a:txBody>
                    <a:bodyPr wrap="square"/>
                    <a:lstStyle/>
                    <a:p>
                      <a:pPr>
                        <a:defRPr sz="950">
                          <a:solidFill>
                            <a:srgbClr val="1C1B19"/>
                          </a:solidFill>
                          <a:latin typeface="Arial"/>
                        </a:defRPr>
                      </a:pPr>
                      <a:r>
                        <a:t>1 c. à soupe</a:t>
                      </a:r>
                    </a:p>
                  </a:txBody>
                  <a:tcPr>
                    <a:solidFill>
                      <a:srgbClr val="F5EEE0"/>
                    </a:solidFill>
                  </a:tcPr>
                </a:tc>
                <a:tc>
                  <a:txBody>
                    <a:bodyPr wrap="square"/>
                    <a:lstStyle/>
                    <a:p>
                      <a:pPr>
                        <a:defRPr sz="950">
                          <a:solidFill>
                            <a:srgbClr val="1C1B19"/>
                          </a:solidFill>
                          <a:latin typeface="Arial"/>
                        </a:defRPr>
                      </a:pPr>
                      <a:r>
                        <a:t>2 à 3 c. à soupe</a:t>
                      </a:r>
                    </a:p>
                  </a:txBody>
                  <a:tcPr>
                    <a:solidFill>
                      <a:srgbClr val="F5EEE0"/>
                    </a:solidFill>
                  </a:tcPr>
                </a:tc>
                <a:tc>
                  <a:txBody>
                    <a:bodyPr wrap="square"/>
                    <a:lstStyle/>
                    <a:p>
                      <a:pPr>
                        <a:defRPr sz="950">
                          <a:solidFill>
                            <a:srgbClr val="1C1B19"/>
                          </a:solidFill>
                          <a:latin typeface="Arial"/>
                        </a:defRPr>
                      </a:pPr>
                      <a:r>
                        <a:t>4 c. à soupe</a:t>
                      </a:r>
                    </a:p>
                  </a:txBody>
                  <a:tcPr>
                    <a:solidFill>
                      <a:srgbClr val="F5EEE0"/>
                    </a:solidFill>
                  </a:tcPr>
                </a:tc>
                <a:tc>
                  <a:txBody>
                    <a:bodyPr wrap="square"/>
                    <a:lstStyle/>
                    <a:p>
                      <a:pPr>
                        <a:defRPr sz="950">
                          <a:solidFill>
                            <a:srgbClr val="1C1B19"/>
                          </a:solidFill>
                          <a:latin typeface="Arial"/>
                        </a:defRPr>
                      </a:pPr>
                      <a:r>
                        <a:t>À chaque démêlage</a:t>
                      </a:r>
                    </a:p>
                  </a:txBody>
                  <a:tcPr>
                    <a:solidFill>
                      <a:srgbClr val="F5EEE0"/>
                    </a:solidFill>
                  </a:tcPr>
                </a:tc>
              </a:tr>
              <a:tr h="426720">
                <a:tc>
                  <a:txBody>
                    <a:bodyPr wrap="square"/>
                    <a:lstStyle/>
                    <a:p>
                      <a:pPr>
                        <a:defRPr sz="950" b="1">
                          <a:solidFill>
                            <a:srgbClr val="2B3E63"/>
                          </a:solidFill>
                          <a:latin typeface="Arial"/>
                        </a:defRPr>
                      </a:pPr>
                      <a:r>
                        <a:t>Massage du cuir chevelu</a:t>
                      </a:r>
                    </a:p>
                  </a:txBody>
                  <a:tcPr>
                    <a:solidFill>
                      <a:srgbClr val="FFFFFF"/>
                    </a:solidFill>
                  </a:tcPr>
                </a:tc>
                <a:tc>
                  <a:txBody>
                    <a:bodyPr wrap="square"/>
                    <a:lstStyle/>
                    <a:p>
                      <a:pPr>
                        <a:defRPr sz="950">
                          <a:solidFill>
                            <a:srgbClr val="1C1B19"/>
                          </a:solidFill>
                          <a:latin typeface="Arial"/>
                        </a:defRPr>
                      </a:pPr>
                      <a:r>
                        <a:t>½ c. à café</a:t>
                      </a:r>
                    </a:p>
                  </a:txBody>
                  <a:tcPr>
                    <a:solidFill>
                      <a:srgbClr val="FFFFFF"/>
                    </a:solidFill>
                  </a:tcPr>
                </a:tc>
                <a:tc>
                  <a:txBody>
                    <a:bodyPr wrap="square"/>
                    <a:lstStyle/>
                    <a:p>
                      <a:pPr>
                        <a:defRPr sz="950">
                          <a:solidFill>
                            <a:srgbClr val="1C1B19"/>
                          </a:solidFill>
                          <a:latin typeface="Arial"/>
                        </a:defRPr>
                      </a:pPr>
                      <a:r>
                        <a:t>1 c. à café</a:t>
                      </a:r>
                    </a:p>
                  </a:txBody>
                  <a:tcPr>
                    <a:solidFill>
                      <a:srgbClr val="FFFFFF"/>
                    </a:solidFill>
                  </a:tcPr>
                </a:tc>
                <a:tc>
                  <a:txBody>
                    <a:bodyPr wrap="square"/>
                    <a:lstStyle/>
                    <a:p>
                      <a:pPr>
                        <a:defRPr sz="950">
                          <a:solidFill>
                            <a:srgbClr val="1C1B19"/>
                          </a:solidFill>
                          <a:latin typeface="Arial"/>
                        </a:defRPr>
                      </a:pPr>
                      <a:r>
                        <a:t>1 c. à café</a:t>
                      </a:r>
                    </a:p>
                  </a:txBody>
                  <a:tcPr>
                    <a:solidFill>
                      <a:srgbClr val="FFFFFF"/>
                    </a:solidFill>
                  </a:tcPr>
                </a:tc>
                <a:tc>
                  <a:txBody>
                    <a:bodyPr wrap="square"/>
                    <a:lstStyle/>
                    <a:p>
                      <a:pPr>
                        <a:defRPr sz="950">
                          <a:solidFill>
                            <a:srgbClr val="1C1B19"/>
                          </a:solidFill>
                          <a:latin typeface="Arial"/>
                        </a:defRPr>
                      </a:pPr>
                      <a:r>
                        <a:t>2 fois par semaine</a:t>
                      </a:r>
                    </a:p>
                  </a:txBody>
                  <a:tcPr>
                    <a:solidFill>
                      <a:srgbClr val="FFFFFF"/>
                    </a:solidFill>
                  </a:tcPr>
                </a:tc>
              </a:tr>
              <a:tr h="426720">
                <a:tc>
                  <a:txBody>
                    <a:bodyPr wrap="square"/>
                    <a:lstStyle/>
                    <a:p>
                      <a:pPr>
                        <a:defRPr sz="950" b="1">
                          <a:solidFill>
                            <a:srgbClr val="2B3E63"/>
                          </a:solidFill>
                          <a:latin typeface="Arial"/>
                        </a:defRPr>
                      </a:pPr>
                      <a:r>
                        <a:t>Rinçage acide au vinaigre</a:t>
                      </a:r>
                    </a:p>
                  </a:txBody>
                  <a:tcPr>
                    <a:solidFill>
                      <a:srgbClr val="F5EEE0"/>
                    </a:solidFill>
                  </a:tcPr>
                </a:tc>
                <a:tc>
                  <a:txBody>
                    <a:bodyPr wrap="square"/>
                    <a:lstStyle/>
                    <a:p>
                      <a:pPr>
                        <a:defRPr sz="950">
                          <a:solidFill>
                            <a:srgbClr val="1C1B19"/>
                          </a:solidFill>
                          <a:latin typeface="Arial"/>
                        </a:defRPr>
                      </a:pPr>
                      <a:r>
                        <a:t>1 c. à s. / 1 verre</a:t>
                      </a:r>
                    </a:p>
                  </a:txBody>
                  <a:tcPr>
                    <a:solidFill>
                      <a:srgbClr val="F5EEE0"/>
                    </a:solidFill>
                  </a:tcPr>
                </a:tc>
                <a:tc>
                  <a:txBody>
                    <a:bodyPr wrap="square"/>
                    <a:lstStyle/>
                    <a:p>
                      <a:pPr>
                        <a:defRPr sz="950">
                          <a:solidFill>
                            <a:srgbClr val="1C1B19"/>
                          </a:solidFill>
                          <a:latin typeface="Arial"/>
                        </a:defRPr>
                      </a:pPr>
                      <a:r>
                        <a:t>1 c. à s. / 1 verre</a:t>
                      </a:r>
                    </a:p>
                  </a:txBody>
                  <a:tcPr>
                    <a:solidFill>
                      <a:srgbClr val="F5EEE0"/>
                    </a:solidFill>
                  </a:tcPr>
                </a:tc>
                <a:tc>
                  <a:txBody>
                    <a:bodyPr wrap="square"/>
                    <a:lstStyle/>
                    <a:p>
                      <a:pPr>
                        <a:defRPr sz="950">
                          <a:solidFill>
                            <a:srgbClr val="1C1B19"/>
                          </a:solidFill>
                          <a:latin typeface="Arial"/>
                        </a:defRPr>
                      </a:pPr>
                      <a:r>
                        <a:t>2 c. à s. / 1 verre</a:t>
                      </a:r>
                    </a:p>
                  </a:txBody>
                  <a:tcPr>
                    <a:solidFill>
                      <a:srgbClr val="F5EEE0"/>
                    </a:solidFill>
                  </a:tcPr>
                </a:tc>
                <a:tc>
                  <a:txBody>
                    <a:bodyPr wrap="square"/>
                    <a:lstStyle/>
                    <a:p>
                      <a:pPr>
                        <a:defRPr sz="950">
                          <a:solidFill>
                            <a:srgbClr val="1C1B19"/>
                          </a:solidFill>
                          <a:latin typeface="Arial"/>
                        </a:defRPr>
                      </a:pPr>
                      <a:r>
                        <a:t>Après chaque savon noir</a:t>
                      </a:r>
                    </a:p>
                  </a:txBody>
                  <a:tcPr>
                    <a:solidFill>
                      <a:srgbClr val="F5EEE0"/>
                    </a:solidFill>
                  </a:tcPr>
                </a:tc>
              </a:tr>
            </a:tbl>
          </a:graphicData>
        </a:graphic>
      </p:graphicFrame>
      <p:sp>
        <p:nvSpPr>
          <p:cNvPr id="7" name="Rounded Rectangle 6"/>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Le cheveu texturé est comme une éponge : une fois qu'il a bu sa dose, tout produit supplémentaire reste en surface, attire la poussière et étouffe le crâne.</a:t>
            </a:r>
          </a:p>
        </p:txBody>
      </p:sp>
      <p:sp>
        <p:nvSpPr>
          <p:cNvPr id="9" name="Rectangle 8"/>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1" name="TextBox 10"/>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20 / 75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PARTIE 2 · CHAPITRE 10 — RÈGLES DE PRÉPARATION</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Les trois règles d'or de la cosmétique en cuisine</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La nature est puissante, mais elle exige une hygiène irréprochable.</a:t>
            </a:r>
          </a:p>
        </p:txBody>
      </p:sp>
      <p:sp>
        <p:nvSpPr>
          <p:cNvPr id="6" name="Rounded Rectangle 5"/>
          <p:cNvSpPr/>
          <p:nvPr/>
        </p:nvSpPr>
        <p:spPr>
          <a:xfrm>
            <a:off x="731520" y="1463040"/>
            <a:ext cx="33375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3063240" cy="45720"/>
          </a:xfrm>
          <a:prstGeom prst="rect">
            <a:avLst/>
          </a:prstGeom>
          <a:solidFill>
            <a:srgbClr val="A85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2971800" cy="3566160"/>
          </a:xfrm>
          <a:prstGeom prst="rect">
            <a:avLst/>
          </a:prstGeom>
          <a:noFill/>
        </p:spPr>
        <p:txBody>
          <a:bodyPr wrap="square" lIns="0" tIns="0" rIns="0" bIns="0">
            <a:spAutoFit/>
          </a:bodyPr>
          <a:lstStyle/>
          <a:p>
            <a:pPr>
              <a:spcAft>
                <a:spcPts val="800"/>
              </a:spcAft>
              <a:defRPr sz="1450" b="1">
                <a:solidFill>
                  <a:srgbClr val="A85236"/>
                </a:solidFill>
                <a:latin typeface="Georgia"/>
              </a:defRPr>
            </a:pPr>
            <a:r>
              <a:t>Règle 1 : Zéro conservateur</a:t>
            </a:r>
          </a:p>
          <a:p>
            <a:pPr>
              <a:spcAft>
                <a:spcPts val="400"/>
              </a:spcAft>
              <a:defRPr sz="1100">
                <a:solidFill>
                  <a:srgbClr val="1C1B19"/>
                </a:solidFill>
                <a:latin typeface="Arial"/>
              </a:defRPr>
            </a:pPr>
            <a:r>
              <a:t>• Toute préparation contenant de l'eau (gel de gombo, infusion d'hibiscus, masque au miel/yaourt) fermente et développe des bactéries en 24h à l'air libre sous notre climat chaud.</a:t>
            </a:r>
          </a:p>
          <a:p>
            <a:pPr>
              <a:spcAft>
                <a:spcPts val="400"/>
              </a:spcAft>
              <a:defRPr sz="1100">
                <a:solidFill>
                  <a:srgbClr val="1C1B19"/>
                </a:solidFill>
                <a:latin typeface="Arial"/>
              </a:defRPr>
            </a:pPr>
            <a:r>
              <a:t>• Conservez toujours au réfrigérateur entre 3 et 5 jours maximum.</a:t>
            </a:r>
          </a:p>
          <a:p>
            <a:pPr>
              <a:spcAft>
                <a:spcPts val="400"/>
              </a:spcAft>
              <a:defRPr sz="1100">
                <a:solidFill>
                  <a:srgbClr val="1C1B19"/>
                </a:solidFill>
                <a:latin typeface="Arial"/>
              </a:defRPr>
            </a:pPr>
            <a:r>
              <a:t>• Si la préparation sent l'aigre, change de couleur ou devient filante de façon anormale : jetez immédiatement !</a:t>
            </a:r>
          </a:p>
        </p:txBody>
      </p:sp>
      <p:sp>
        <p:nvSpPr>
          <p:cNvPr id="9" name="Rounded Rectangle 8"/>
          <p:cNvSpPr/>
          <p:nvPr/>
        </p:nvSpPr>
        <p:spPr>
          <a:xfrm>
            <a:off x="4425696" y="1463040"/>
            <a:ext cx="33375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62856" y="1481328"/>
            <a:ext cx="3063240" cy="45720"/>
          </a:xfrm>
          <a:prstGeom prst="rect">
            <a:avLst/>
          </a:prstGeom>
          <a:solidFill>
            <a:srgbClr val="B88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08576" y="1645920"/>
            <a:ext cx="2971800" cy="3566160"/>
          </a:xfrm>
          <a:prstGeom prst="rect">
            <a:avLst/>
          </a:prstGeom>
          <a:noFill/>
        </p:spPr>
        <p:txBody>
          <a:bodyPr wrap="square" lIns="0" tIns="0" rIns="0" bIns="0">
            <a:spAutoFit/>
          </a:bodyPr>
          <a:lstStyle/>
          <a:p>
            <a:pPr>
              <a:spcAft>
                <a:spcPts val="800"/>
              </a:spcAft>
              <a:defRPr sz="1450" b="1">
                <a:solidFill>
                  <a:srgbClr val="B8862B"/>
                </a:solidFill>
                <a:latin typeface="Georgia"/>
              </a:defRPr>
            </a:pPr>
            <a:r>
              <a:t>Règle 2 : Le test de tolérance</a:t>
            </a:r>
          </a:p>
          <a:p>
            <a:pPr>
              <a:spcAft>
                <a:spcPts val="400"/>
              </a:spcAft>
              <a:defRPr sz="1100">
                <a:solidFill>
                  <a:srgbClr val="1C1B19"/>
                </a:solidFill>
                <a:latin typeface="Arial"/>
              </a:defRPr>
            </a:pPr>
            <a:r>
              <a:t>• Naturel ne signifie pas sans danger allergique.</a:t>
            </a:r>
          </a:p>
          <a:p>
            <a:pPr>
              <a:spcAft>
                <a:spcPts val="400"/>
              </a:spcAft>
              <a:defRPr sz="1100">
                <a:solidFill>
                  <a:srgbClr val="1C1B19"/>
                </a:solidFill>
                <a:latin typeface="Arial"/>
              </a:defRPr>
            </a:pPr>
            <a:r>
              <a:t>• Avant d'appliquer une huile végétale nouvelle, une huile essentielle ou un masque à l'œuf sur toute votre tête :</a:t>
            </a:r>
          </a:p>
          <a:p>
            <a:pPr>
              <a:spcAft>
                <a:spcPts val="400"/>
              </a:spcAft>
              <a:defRPr sz="1100">
                <a:solidFill>
                  <a:srgbClr val="1C1B19"/>
                </a:solidFill>
                <a:latin typeface="Arial"/>
              </a:defRPr>
            </a:pPr>
            <a:r>
              <a:t>• Déposez 1 goutte au creux du coude ou derrière l'oreille.</a:t>
            </a:r>
          </a:p>
          <a:p>
            <a:pPr>
              <a:spcAft>
                <a:spcPts val="400"/>
              </a:spcAft>
              <a:defRPr sz="1100">
                <a:solidFill>
                  <a:srgbClr val="1C1B19"/>
                </a:solidFill>
                <a:latin typeface="Arial"/>
              </a:defRPr>
            </a:pPr>
            <a:r>
              <a:t>• Attendez 24 heures : si aucune rougeur, démangeaison ou sensation de brûlure n'apparaît, vous pouvez y aller les yeux fermés.</a:t>
            </a:r>
          </a:p>
        </p:txBody>
      </p:sp>
      <p:sp>
        <p:nvSpPr>
          <p:cNvPr id="12" name="Rounded Rectangle 11"/>
          <p:cNvSpPr/>
          <p:nvPr/>
        </p:nvSpPr>
        <p:spPr>
          <a:xfrm>
            <a:off x="8119872" y="1463040"/>
            <a:ext cx="33375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57032" y="1481328"/>
            <a:ext cx="3063240" cy="45720"/>
          </a:xfrm>
          <a:prstGeom prst="rect">
            <a:avLst/>
          </a:prstGeom>
          <a:solidFill>
            <a:srgbClr val="556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2752" y="1645920"/>
            <a:ext cx="2971800" cy="3566160"/>
          </a:xfrm>
          <a:prstGeom prst="rect">
            <a:avLst/>
          </a:prstGeom>
          <a:noFill/>
        </p:spPr>
        <p:txBody>
          <a:bodyPr wrap="square" lIns="0" tIns="0" rIns="0" bIns="0">
            <a:spAutoFit/>
          </a:bodyPr>
          <a:lstStyle/>
          <a:p>
            <a:pPr>
              <a:spcAft>
                <a:spcPts val="800"/>
              </a:spcAft>
              <a:defRPr sz="1450" b="1">
                <a:solidFill>
                  <a:srgbClr val="55663A"/>
                </a:solidFill>
                <a:latin typeface="Georgia"/>
              </a:defRPr>
            </a:pPr>
            <a:r>
              <a:t>Règle 3 : Le principe de sobriété</a:t>
            </a:r>
          </a:p>
          <a:p>
            <a:pPr>
              <a:spcAft>
                <a:spcPts val="400"/>
              </a:spcAft>
              <a:defRPr sz="1100">
                <a:solidFill>
                  <a:srgbClr val="1C1B19"/>
                </a:solidFill>
                <a:latin typeface="Arial"/>
              </a:defRPr>
            </a:pPr>
            <a:r>
              <a:t>• Ne mélangez jamais plus de 3 ingrédients actifs dans une même recette maison.</a:t>
            </a:r>
          </a:p>
          <a:p>
            <a:pPr>
              <a:spcAft>
                <a:spcPts val="400"/>
              </a:spcAft>
              <a:defRPr sz="1100">
                <a:solidFill>
                  <a:srgbClr val="1C1B19"/>
                </a:solidFill>
                <a:latin typeface="Arial"/>
              </a:defRPr>
            </a:pPr>
            <a:r>
              <a:t>• Mélanger dix poudres et six huiles ensemble annule souvent les effets de chacune et rend impossible l'identification de ce qui a fonctionné ou provoqué une allergie.</a:t>
            </a:r>
          </a:p>
          <a:p>
            <a:pPr>
              <a:spcAft>
                <a:spcPts val="400"/>
              </a:spcAft>
              <a:defRPr sz="1100">
                <a:solidFill>
                  <a:srgbClr val="1C1B19"/>
                </a:solidFill>
                <a:latin typeface="Arial"/>
              </a:defRPr>
            </a:pPr>
            <a:r>
              <a:t>• Un bon masque, c'est : 1 base hydratante (eau/gombo/miel) + 1 actif assouplissant (yaourt/œuf) + 1 filet d'huile protectrice.</a:t>
            </a:r>
          </a:p>
        </p:txBody>
      </p:sp>
      <p:sp>
        <p:nvSpPr>
          <p:cNvPr id="15" name="Rounded Rectangle 14"/>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La fraîcheur et la propreté des ustensiles garantissent l'efficacité de vos soins de cuisine.</a:t>
            </a:r>
          </a:p>
        </p:txBody>
      </p:sp>
      <p:sp>
        <p:nvSpPr>
          <p:cNvPr id="17" name="Rectangle 16"/>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9" name="TextBox 18"/>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21 / 75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FAMILLE 1 · LES HUILES DE BASE QUI PÉNÈTRENT</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L'Huile de Coco vierge (Cocos nucifera)</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Badge : ● ÉTAYÉ  ·  La reine incontestée de la pénétration intracellulaire.</a:t>
            </a:r>
          </a:p>
        </p:txBody>
      </p:sp>
      <p:sp>
        <p:nvSpPr>
          <p:cNvPr id="6" name="Rounded Rectangle 5"/>
          <p:cNvSpPr/>
          <p:nvPr/>
        </p:nvSpPr>
        <p:spPr>
          <a:xfrm>
            <a:off x="73152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4892040" cy="45720"/>
          </a:xfrm>
          <a:prstGeom prst="rect">
            <a:avLst/>
          </a:prstGeom>
          <a:solidFill>
            <a:srgbClr val="2B3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09160" cy="3566160"/>
          </a:xfrm>
          <a:prstGeom prst="rect">
            <a:avLst/>
          </a:prstGeom>
          <a:noFill/>
        </p:spPr>
        <p:txBody>
          <a:bodyPr wrap="square" lIns="0" tIns="0" rIns="0" bIns="0">
            <a:spAutoFit/>
          </a:bodyPr>
          <a:lstStyle/>
          <a:p>
            <a:pPr>
              <a:spcAft>
                <a:spcPts val="800"/>
              </a:spcAft>
              <a:defRPr sz="1450" b="1">
                <a:solidFill>
                  <a:srgbClr val="2B3E63"/>
                </a:solidFill>
                <a:latin typeface="Georgia"/>
              </a:defRPr>
            </a:pPr>
            <a:r>
              <a:t>Ce qu'elle fait et POURQUOI ça marche</a:t>
            </a:r>
          </a:p>
          <a:p>
            <a:pPr>
              <a:spcAft>
                <a:spcPts val="400"/>
              </a:spcAft>
              <a:defRPr sz="1100" b="1">
                <a:solidFill>
                  <a:srgbClr val="2B3E63"/>
                </a:solidFill>
                <a:latin typeface="Arial"/>
              </a:defRPr>
            </a:pPr>
            <a:r>
              <a:t>Le secret de l'acide laurique : </a:t>
            </a:r>
            <a:r>
              <a:rPr sz="1100" b="0">
                <a:solidFill>
                  <a:srgbClr val="1C1B19"/>
                </a:solidFill>
                <a:latin typeface="Arial"/>
              </a:rPr>
              <a:t>L'huile de coco possède une structure linéaire et un poids moléculaire très faible. C'est l'une des rares huiles au monde capable de traverser la cuticule pour pénétrer à l'intérieur du cortex.</a:t>
            </a:r>
          </a:p>
          <a:p>
            <a:pPr>
              <a:spcAft>
                <a:spcPts val="400"/>
              </a:spcAft>
              <a:defRPr sz="1100" b="1">
                <a:solidFill>
                  <a:srgbClr val="2B3E63"/>
                </a:solidFill>
                <a:latin typeface="Arial"/>
              </a:defRPr>
            </a:pPr>
            <a:r>
              <a:t>La réduction de la perte de protéines (-40 %) : </a:t>
            </a:r>
            <a:r>
              <a:rPr sz="1100" b="0">
                <a:solidFill>
                  <a:srgbClr val="1C1B19"/>
                </a:solidFill>
                <a:latin typeface="Arial"/>
              </a:rPr>
              <a:t>L'étude de référence Rele &amp; Mohile (2003) a prouvé qu'une application d'huile de coco avant lavage réduit la perte de protéines de la fibre de près de 40 %, sur cheveu sain comme sur cheveu abîmé.</a:t>
            </a:r>
          </a:p>
          <a:p>
            <a:pPr>
              <a:spcAft>
                <a:spcPts val="400"/>
              </a:spcAft>
              <a:defRPr sz="1100" b="1">
                <a:solidFill>
                  <a:srgbClr val="2B3E63"/>
                </a:solidFill>
                <a:latin typeface="Arial"/>
              </a:defRPr>
            </a:pPr>
            <a:r>
              <a:t>L'effet bouclier anti-gonflement : </a:t>
            </a:r>
            <a:r>
              <a:rPr sz="1100" b="0">
                <a:solidFill>
                  <a:srgbClr val="1C1B19"/>
                </a:solidFill>
                <a:latin typeface="Arial"/>
              </a:rPr>
              <a:t>En tapissant le cortex, elle empêche l'eau du lavage de gonfler brutalement la fibre (fatigue hygrale) et protège les cuticules.</a:t>
            </a:r>
          </a:p>
        </p:txBody>
      </p:sp>
      <p:sp>
        <p:nvSpPr>
          <p:cNvPr id="9" name="Rounded Rectangle 8"/>
          <p:cNvSpPr/>
          <p:nvPr/>
        </p:nvSpPr>
        <p:spPr>
          <a:xfrm>
            <a:off x="626364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481328"/>
            <a:ext cx="4892040" cy="45720"/>
          </a:xfrm>
          <a:prstGeom prst="rect">
            <a:avLst/>
          </a:prstGeom>
          <a:solidFill>
            <a:srgbClr val="B88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45920"/>
            <a:ext cx="4709160" cy="3566160"/>
          </a:xfrm>
          <a:prstGeom prst="rect">
            <a:avLst/>
          </a:prstGeom>
          <a:noFill/>
        </p:spPr>
        <p:txBody>
          <a:bodyPr wrap="square" lIns="0" tIns="0" rIns="0" bIns="0">
            <a:spAutoFit/>
          </a:bodyPr>
          <a:lstStyle/>
          <a:p>
            <a:pPr>
              <a:spcAft>
                <a:spcPts val="800"/>
              </a:spcAft>
              <a:defRPr sz="1450" b="1">
                <a:solidFill>
                  <a:srgbClr val="B8862B"/>
                </a:solidFill>
                <a:latin typeface="Georgia"/>
              </a:defRPr>
            </a:pPr>
            <a:r>
              <a:t>Application, Quantités &amp; Vigilance</a:t>
            </a:r>
          </a:p>
          <a:p>
            <a:pPr>
              <a:spcAft>
                <a:spcPts val="400"/>
              </a:spcAft>
              <a:defRPr sz="1100" b="1">
                <a:solidFill>
                  <a:srgbClr val="B8862B"/>
                </a:solidFill>
                <a:latin typeface="Arial"/>
              </a:defRPr>
            </a:pPr>
            <a:r>
              <a:t>Quantités exactes : </a:t>
            </a:r>
            <a:r>
              <a:rPr sz="1100" b="0">
                <a:solidFill>
                  <a:srgbClr val="1C1B19"/>
                </a:solidFill>
                <a:latin typeface="Arial"/>
              </a:rPr>
              <a:t>Cheveux courts : 1 c. à café · Mi-longs : 2 c. à café · Longs : 1 c. à soupe bombée. Toujours sur CHEVEUX SECS avant le lavage.</a:t>
            </a:r>
          </a:p>
          <a:p>
            <a:pPr>
              <a:spcAft>
                <a:spcPts val="400"/>
              </a:spcAft>
              <a:defRPr sz="1100" b="1">
                <a:solidFill>
                  <a:srgbClr val="B8862B"/>
                </a:solidFill>
                <a:latin typeface="Arial"/>
              </a:defRPr>
            </a:pPr>
            <a:r>
              <a:t>Temps de pose &amp; Fréquence : </a:t>
            </a:r>
            <a:r>
              <a:rPr sz="1100" b="0">
                <a:solidFill>
                  <a:srgbClr val="1C1B19"/>
                </a:solidFill>
                <a:latin typeface="Arial"/>
              </a:rPr>
              <a:t>30 minutes sous charlotte (ou toute la nuit sur pointes sèches). À réaliser avant chaque lavage hebdomadaire.</a:t>
            </a:r>
          </a:p>
          <a:p>
            <a:pPr>
              <a:spcAft>
                <a:spcPts val="400"/>
              </a:spcAft>
              <a:defRPr sz="1100" b="1">
                <a:solidFill>
                  <a:srgbClr val="B8862B"/>
                </a:solidFill>
                <a:latin typeface="Arial"/>
              </a:defRPr>
            </a:pPr>
            <a:r>
              <a:t>Attention : Précautions majeures : </a:t>
            </a:r>
            <a:r>
              <a:rPr sz="1100" b="0">
                <a:solidFill>
                  <a:srgbClr val="1C1B19"/>
                </a:solidFill>
                <a:latin typeface="Arial"/>
              </a:rPr>
              <a:t>1. L'huile fige sous 24 °C (par temps d'harmattan ou au frais) : tiédir le bol dans de l'eau chaude, jamais au feu direct.
2. Éviter d'en tartiner le cuir chevelu s'il est déjà gras ou sujet aux pellicules.</a:t>
            </a:r>
          </a:p>
          <a:p>
            <a:pPr>
              <a:spcAft>
                <a:spcPts val="400"/>
              </a:spcAft>
              <a:defRPr sz="1100" b="1">
                <a:solidFill>
                  <a:srgbClr val="B8862B"/>
                </a:solidFill>
                <a:latin typeface="Arial"/>
              </a:defRPr>
            </a:pPr>
            <a:r>
              <a:t>Coût au marché : </a:t>
            </a:r>
            <a:r>
              <a:rPr sz="1100" b="0">
                <a:solidFill>
                  <a:srgbClr val="1C1B19"/>
                </a:solidFill>
                <a:latin typeface="Arial"/>
              </a:rPr>
              <a:t>50 à 80 FCFA par application (flacon artisanal à 1 000 FCFA).</a:t>
            </a:r>
          </a:p>
        </p:txBody>
      </p:sp>
      <p:sp>
        <p:nvSpPr>
          <p:cNvPr id="12" name="Rounded Rectangle 11"/>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L'huile de coco s'applique AVANT le shampoing sur cheveux secs, jamais après sur cheveux mouillés sous peine de cartonner.</a:t>
            </a:r>
          </a:p>
        </p:txBody>
      </p:sp>
      <p:sp>
        <p:nvSpPr>
          <p:cNvPr id="14" name="Rectangle 13"/>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6" name="TextBox 15"/>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22 / 75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FAMILLE 1 · LES HUILES DE BASE QUI ASSOUPLISSENT</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L'Huile d'Olive vierge (Olea europaea)</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Badge : ◐ PROMETTEUR  ·  L'émolliente royale des textures rêches et déshydratées.</a:t>
            </a:r>
          </a:p>
        </p:txBody>
      </p:sp>
      <p:sp>
        <p:nvSpPr>
          <p:cNvPr id="6" name="Rounded Rectangle 5"/>
          <p:cNvSpPr/>
          <p:nvPr/>
        </p:nvSpPr>
        <p:spPr>
          <a:xfrm>
            <a:off x="73152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4892040" cy="45720"/>
          </a:xfrm>
          <a:prstGeom prst="rect">
            <a:avLst/>
          </a:prstGeom>
          <a:solidFill>
            <a:srgbClr val="556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09160" cy="3566160"/>
          </a:xfrm>
          <a:prstGeom prst="rect">
            <a:avLst/>
          </a:prstGeom>
          <a:noFill/>
        </p:spPr>
        <p:txBody>
          <a:bodyPr wrap="square" lIns="0" tIns="0" rIns="0" bIns="0">
            <a:spAutoFit/>
          </a:bodyPr>
          <a:lstStyle/>
          <a:p>
            <a:pPr>
              <a:spcAft>
                <a:spcPts val="800"/>
              </a:spcAft>
              <a:defRPr sz="1450" b="1">
                <a:solidFill>
                  <a:srgbClr val="55663A"/>
                </a:solidFill>
                <a:latin typeface="Georgia"/>
              </a:defRPr>
            </a:pPr>
            <a:r>
              <a:t>Ce qu'elle fait et POURQUOI ça marche</a:t>
            </a:r>
          </a:p>
          <a:p>
            <a:pPr>
              <a:spcAft>
                <a:spcPts val="400"/>
              </a:spcAft>
              <a:defRPr sz="1100" b="1">
                <a:solidFill>
                  <a:srgbClr val="55663A"/>
                </a:solidFill>
                <a:latin typeface="Arial"/>
              </a:defRPr>
            </a:pPr>
            <a:r>
              <a:t>La richesse en acide oléique et squalène : </a:t>
            </a:r>
            <a:r>
              <a:rPr sz="1100" b="0">
                <a:solidFill>
                  <a:srgbClr val="1C1B19"/>
                </a:solidFill>
                <a:latin typeface="Arial"/>
              </a:rPr>
              <a:t>L'huile d'olive est une huile mi-lourde très nourrissante. Elle contient du squalène végétal qui imite parfaitement le sébum humain.</a:t>
            </a:r>
          </a:p>
          <a:p>
            <a:pPr>
              <a:spcAft>
                <a:spcPts val="400"/>
              </a:spcAft>
              <a:defRPr sz="1100" b="1">
                <a:solidFill>
                  <a:srgbClr val="55663A"/>
                </a:solidFill>
                <a:latin typeface="Arial"/>
              </a:defRPr>
            </a:pPr>
            <a:r>
              <a:t>Assouplissement instantané de la cuticule : </a:t>
            </a:r>
            <a:r>
              <a:rPr sz="1100" b="0">
                <a:solidFill>
                  <a:srgbClr val="1C1B19"/>
                </a:solidFill>
                <a:latin typeface="Arial"/>
              </a:rPr>
              <a:t>Elle n'entre pas aussi profondément que le coco, mais elle lubrifie les tuiles de la cuticule, élimine l'effet « paille » et facilite grandement le glissement du peigne à dents larges.</a:t>
            </a:r>
          </a:p>
          <a:p>
            <a:pPr>
              <a:spcAft>
                <a:spcPts val="400"/>
              </a:spcAft>
              <a:defRPr sz="1100" b="1">
                <a:solidFill>
                  <a:srgbClr val="55663A"/>
                </a:solidFill>
                <a:latin typeface="Arial"/>
              </a:defRPr>
            </a:pPr>
            <a:r>
              <a:t>Action anti-oxydante puissante : </a:t>
            </a:r>
            <a:r>
              <a:rPr sz="1100" b="0">
                <a:solidFill>
                  <a:srgbClr val="1C1B19"/>
                </a:solidFill>
                <a:latin typeface="Arial"/>
              </a:rPr>
              <a:t>Riche en vitamine E et polyphénols, elle protège la kératine contre l'oxydation induite par les rayons ultraviolets intenses d'Afrique.</a:t>
            </a:r>
          </a:p>
        </p:txBody>
      </p:sp>
      <p:sp>
        <p:nvSpPr>
          <p:cNvPr id="9" name="Rounded Rectangle 8"/>
          <p:cNvSpPr/>
          <p:nvPr/>
        </p:nvSpPr>
        <p:spPr>
          <a:xfrm>
            <a:off x="626364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481328"/>
            <a:ext cx="4892040" cy="45720"/>
          </a:xfrm>
          <a:prstGeom prst="rect">
            <a:avLst/>
          </a:prstGeom>
          <a:solidFill>
            <a:srgbClr val="A85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45920"/>
            <a:ext cx="4709160" cy="3566160"/>
          </a:xfrm>
          <a:prstGeom prst="rect">
            <a:avLst/>
          </a:prstGeom>
          <a:noFill/>
        </p:spPr>
        <p:txBody>
          <a:bodyPr wrap="square" lIns="0" tIns="0" rIns="0" bIns="0">
            <a:spAutoFit/>
          </a:bodyPr>
          <a:lstStyle/>
          <a:p>
            <a:pPr>
              <a:spcAft>
                <a:spcPts val="800"/>
              </a:spcAft>
              <a:defRPr sz="1450" b="1">
                <a:solidFill>
                  <a:srgbClr val="A85236"/>
                </a:solidFill>
                <a:latin typeface="Georgia"/>
              </a:defRPr>
            </a:pPr>
            <a:r>
              <a:t>Application, Quantités &amp; Vigilance</a:t>
            </a:r>
          </a:p>
          <a:p>
            <a:pPr>
              <a:spcAft>
                <a:spcPts val="400"/>
              </a:spcAft>
              <a:defRPr sz="1100" b="1">
                <a:solidFill>
                  <a:srgbClr val="A85236"/>
                </a:solidFill>
                <a:latin typeface="Arial"/>
              </a:defRPr>
            </a:pPr>
            <a:r>
              <a:t>Quantités exactes : </a:t>
            </a:r>
            <a:r>
              <a:rPr sz="1100" b="0">
                <a:solidFill>
                  <a:srgbClr val="1C1B19"/>
                </a:solidFill>
                <a:latin typeface="Arial"/>
              </a:rPr>
              <a:t>Cheveux courts : 1 c. à café · Mi-longs : 1 c. à soupe · Longs : 2 c. à soupe. Parfaite en bain d'huile tiède combinée au miel.</a:t>
            </a:r>
          </a:p>
          <a:p>
            <a:pPr>
              <a:spcAft>
                <a:spcPts val="400"/>
              </a:spcAft>
              <a:defRPr sz="1100" b="1">
                <a:solidFill>
                  <a:srgbClr val="A85236"/>
                </a:solidFill>
                <a:latin typeface="Arial"/>
              </a:defRPr>
            </a:pPr>
            <a:r>
              <a:t>Temps de pose &amp; Fréquence : </a:t>
            </a:r>
            <a:r>
              <a:rPr sz="1100" b="0">
                <a:solidFill>
                  <a:srgbClr val="1C1B19"/>
                </a:solidFill>
                <a:latin typeface="Arial"/>
              </a:rPr>
              <a:t>20 à 30 minutes sous serviette tiède. 1 fois par semaine pour cheveux très secs, 1 fois par mois en entretien normal.</a:t>
            </a:r>
          </a:p>
          <a:p>
            <a:pPr>
              <a:spcAft>
                <a:spcPts val="400"/>
              </a:spcAft>
              <a:defRPr sz="1100" b="1">
                <a:solidFill>
                  <a:srgbClr val="A85236"/>
                </a:solidFill>
                <a:latin typeface="Arial"/>
              </a:defRPr>
            </a:pPr>
            <a:r>
              <a:t>Attention : Précautions majeures : </a:t>
            </a:r>
            <a:r>
              <a:rPr sz="1100" b="0">
                <a:solidFill>
                  <a:srgbClr val="1C1B19"/>
                </a:solidFill>
                <a:latin typeface="Arial"/>
              </a:rPr>
              <a:t>1. Choisir une huile vierge extra pressée à froid (la vraie huile picote légèrement la gorge ; si elle est fade, elle est coupée à l'huile de palme raffinée).
2. Bien rincer pour éviter d'alourdir les boucles fines.</a:t>
            </a:r>
          </a:p>
          <a:p>
            <a:pPr>
              <a:spcAft>
                <a:spcPts val="400"/>
              </a:spcAft>
              <a:defRPr sz="1100" b="1">
                <a:solidFill>
                  <a:srgbClr val="A85236"/>
                </a:solidFill>
                <a:latin typeface="Arial"/>
              </a:defRPr>
            </a:pPr>
            <a:r>
              <a:t>Coût au marché : </a:t>
            </a:r>
            <a:r>
              <a:rPr sz="1100" b="0">
                <a:solidFill>
                  <a:srgbClr val="1C1B19"/>
                </a:solidFill>
                <a:latin typeface="Arial"/>
              </a:rPr>
              <a:t>100 à 150 FCFA par soin (bouteille importée ou locale).</a:t>
            </a:r>
          </a:p>
        </p:txBody>
      </p:sp>
      <p:sp>
        <p:nvSpPr>
          <p:cNvPr id="12" name="Rounded Rectangle 11"/>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L'alliée n°1 des cheveux 4C très secs en saison d'harmattan. À chauffer très légèrement au bain-marie avant pose.</a:t>
            </a:r>
          </a:p>
        </p:txBody>
      </p:sp>
      <p:sp>
        <p:nvSpPr>
          <p:cNvPr id="14" name="Rectangle 13"/>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6" name="TextBox 15"/>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23 / 75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FAMILLE 1 · HUILES DE BASE LOCALES FLUIDES</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Sésame, Tournesol &amp; Arachide locale</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Trois alternatives fluides, économiques et légères pour les porosités basses.</a:t>
            </a:r>
          </a:p>
        </p:txBody>
      </p:sp>
      <p:sp>
        <p:nvSpPr>
          <p:cNvPr id="6" name="Rounded Rectangle 5"/>
          <p:cNvSpPr/>
          <p:nvPr/>
        </p:nvSpPr>
        <p:spPr>
          <a:xfrm>
            <a:off x="731520" y="1463040"/>
            <a:ext cx="33375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3063240" cy="45720"/>
          </a:xfrm>
          <a:prstGeom prst="rect">
            <a:avLst/>
          </a:prstGeom>
          <a:solidFill>
            <a:srgbClr val="B88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2971800" cy="3566160"/>
          </a:xfrm>
          <a:prstGeom prst="rect">
            <a:avLst/>
          </a:prstGeom>
          <a:noFill/>
        </p:spPr>
        <p:txBody>
          <a:bodyPr wrap="square" lIns="0" tIns="0" rIns="0" bIns="0">
            <a:spAutoFit/>
          </a:bodyPr>
          <a:lstStyle/>
          <a:p>
            <a:pPr>
              <a:spcAft>
                <a:spcPts val="800"/>
              </a:spcAft>
              <a:defRPr sz="1450" b="1">
                <a:solidFill>
                  <a:srgbClr val="B8862B"/>
                </a:solidFill>
                <a:latin typeface="Georgia"/>
              </a:defRPr>
            </a:pPr>
            <a:r>
              <a:t>Huile de Sésame (○ TRADITION)</a:t>
            </a:r>
          </a:p>
          <a:p>
            <a:pPr>
              <a:spcAft>
                <a:spcPts val="400"/>
              </a:spcAft>
              <a:defRPr sz="1100">
                <a:solidFill>
                  <a:srgbClr val="1C1B19"/>
                </a:solidFill>
                <a:latin typeface="Arial"/>
              </a:defRPr>
            </a:pPr>
            <a:r>
              <a:t>• Propriétés : Très pénétrante et légère, elle contient de la sésamine et agit comme un filtre solaire naturel doux contre les UV.</a:t>
            </a:r>
          </a:p>
          <a:p>
            <a:pPr>
              <a:spcAft>
                <a:spcPts val="400"/>
              </a:spcAft>
              <a:defRPr sz="1100">
                <a:solidFill>
                  <a:srgbClr val="1C1B19"/>
                </a:solidFill>
                <a:latin typeface="Arial"/>
              </a:defRPr>
            </a:pPr>
            <a:r>
              <a:t>• Action : Stimule la microcirculation du cuir chevelu sans l'asphyxier.</a:t>
            </a:r>
          </a:p>
          <a:p>
            <a:pPr>
              <a:spcAft>
                <a:spcPts val="400"/>
              </a:spcAft>
              <a:defRPr sz="1100">
                <a:solidFill>
                  <a:srgbClr val="1C1B19"/>
                </a:solidFill>
                <a:latin typeface="Arial"/>
              </a:defRPr>
            </a:pPr>
            <a:r>
              <a:t>• Quantité : 1 c. à café en huile de coiffage légère quotidienne.</a:t>
            </a:r>
          </a:p>
          <a:p>
            <a:pPr>
              <a:spcAft>
                <a:spcPts val="400"/>
              </a:spcAft>
              <a:defRPr sz="1100">
                <a:solidFill>
                  <a:srgbClr val="1C1B19"/>
                </a:solidFill>
                <a:latin typeface="Arial"/>
              </a:defRPr>
            </a:pPr>
            <a:r>
              <a:t>• Idéale pour : Cheveux fins, vanilles d'enfants, cuirs chevelus sensibles.</a:t>
            </a:r>
          </a:p>
        </p:txBody>
      </p:sp>
      <p:sp>
        <p:nvSpPr>
          <p:cNvPr id="9" name="Rounded Rectangle 8"/>
          <p:cNvSpPr/>
          <p:nvPr/>
        </p:nvSpPr>
        <p:spPr>
          <a:xfrm>
            <a:off x="4425696" y="1463040"/>
            <a:ext cx="33375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62856" y="1481328"/>
            <a:ext cx="3063240" cy="45720"/>
          </a:xfrm>
          <a:prstGeom prst="rect">
            <a:avLst/>
          </a:prstGeom>
          <a:solidFill>
            <a:srgbClr val="2B3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08576" y="1645920"/>
            <a:ext cx="2971800" cy="3566160"/>
          </a:xfrm>
          <a:prstGeom prst="rect">
            <a:avLst/>
          </a:prstGeom>
          <a:noFill/>
        </p:spPr>
        <p:txBody>
          <a:bodyPr wrap="square" lIns="0" tIns="0" rIns="0" bIns="0">
            <a:spAutoFit/>
          </a:bodyPr>
          <a:lstStyle/>
          <a:p>
            <a:pPr>
              <a:spcAft>
                <a:spcPts val="800"/>
              </a:spcAft>
              <a:defRPr sz="1450" b="1">
                <a:solidFill>
                  <a:srgbClr val="2B3E63"/>
                </a:solidFill>
                <a:latin typeface="Georgia"/>
              </a:defRPr>
            </a:pPr>
            <a:r>
              <a:t>Huile de Tournesol (◐ PROMETTEUR)</a:t>
            </a:r>
          </a:p>
          <a:p>
            <a:pPr>
              <a:spcAft>
                <a:spcPts val="400"/>
              </a:spcAft>
              <a:defRPr sz="1100">
                <a:solidFill>
                  <a:srgbClr val="1C1B19"/>
                </a:solidFill>
                <a:latin typeface="Arial"/>
              </a:defRPr>
            </a:pPr>
            <a:r>
              <a:t>• Propriétés : Championne des acides gras polyinsaturés (acide linoléique oméga-6).</a:t>
            </a:r>
          </a:p>
          <a:p>
            <a:pPr>
              <a:spcAft>
                <a:spcPts val="400"/>
              </a:spcAft>
              <a:defRPr sz="1100">
                <a:solidFill>
                  <a:srgbClr val="1C1B19"/>
                </a:solidFill>
                <a:latin typeface="Arial"/>
              </a:defRPr>
            </a:pPr>
            <a:r>
              <a:t>• Action : Pénètre la cuticule sans laisser de film gras lourd. Apporte une brillance soyeuse immédiate.</a:t>
            </a:r>
          </a:p>
          <a:p>
            <a:pPr>
              <a:spcAft>
                <a:spcPts val="400"/>
              </a:spcAft>
              <a:defRPr sz="1100">
                <a:solidFill>
                  <a:srgbClr val="1C1B19"/>
                </a:solidFill>
                <a:latin typeface="Arial"/>
              </a:defRPr>
            </a:pPr>
            <a:r>
              <a:t>• Quantité : 1 à 2 c. à café mélangées dans votre vaporisateur d'eau.</a:t>
            </a:r>
          </a:p>
          <a:p>
            <a:pPr>
              <a:spcAft>
                <a:spcPts val="400"/>
              </a:spcAft>
              <a:defRPr sz="1100">
                <a:solidFill>
                  <a:srgbClr val="1C1B19"/>
                </a:solidFill>
                <a:latin typeface="Arial"/>
              </a:defRPr>
            </a:pPr>
            <a:r>
              <a:t>• Idéale pour : Les cheveux à porosité basse qui fuient le karité trop dense.</a:t>
            </a:r>
          </a:p>
        </p:txBody>
      </p:sp>
      <p:sp>
        <p:nvSpPr>
          <p:cNvPr id="12" name="Rounded Rectangle 11"/>
          <p:cNvSpPr/>
          <p:nvPr/>
        </p:nvSpPr>
        <p:spPr>
          <a:xfrm>
            <a:off x="8119872" y="1463040"/>
            <a:ext cx="33375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57032" y="1481328"/>
            <a:ext cx="3063240" cy="45720"/>
          </a:xfrm>
          <a:prstGeom prst="rect">
            <a:avLst/>
          </a:prstGeom>
          <a:solidFill>
            <a:srgbClr val="A85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2752" y="1645920"/>
            <a:ext cx="2971800" cy="3566160"/>
          </a:xfrm>
          <a:prstGeom prst="rect">
            <a:avLst/>
          </a:prstGeom>
          <a:noFill/>
        </p:spPr>
        <p:txBody>
          <a:bodyPr wrap="square" lIns="0" tIns="0" rIns="0" bIns="0">
            <a:spAutoFit/>
          </a:bodyPr>
          <a:lstStyle/>
          <a:p>
            <a:pPr>
              <a:spcAft>
                <a:spcPts val="800"/>
              </a:spcAft>
              <a:defRPr sz="1450" b="1">
                <a:solidFill>
                  <a:srgbClr val="A85236"/>
                </a:solidFill>
                <a:latin typeface="Georgia"/>
              </a:defRPr>
            </a:pPr>
            <a:r>
              <a:t>Huile d'Arachide locale (○ TRADITION)</a:t>
            </a:r>
          </a:p>
          <a:p>
            <a:pPr>
              <a:spcAft>
                <a:spcPts val="400"/>
              </a:spcAft>
              <a:defRPr sz="1100">
                <a:solidFill>
                  <a:srgbClr val="1C1B19"/>
                </a:solidFill>
                <a:latin typeface="Arial"/>
              </a:defRPr>
            </a:pPr>
            <a:r>
              <a:t>• Propriétés : Accessible dans le moindre village du Bénin à prix dérisoire.</a:t>
            </a:r>
          </a:p>
          <a:p>
            <a:pPr>
              <a:spcAft>
                <a:spcPts val="400"/>
              </a:spcAft>
              <a:defRPr sz="1100">
                <a:solidFill>
                  <a:srgbClr val="1C1B19"/>
                </a:solidFill>
                <a:latin typeface="Arial"/>
              </a:defRPr>
            </a:pPr>
            <a:r>
              <a:t>• Action : Très émolliente, elle assouplit instantanément les croûtes de sécheresse du cuir chevelu.</a:t>
            </a:r>
          </a:p>
          <a:p>
            <a:pPr>
              <a:spcAft>
                <a:spcPts val="400"/>
              </a:spcAft>
              <a:defRPr sz="1100">
                <a:solidFill>
                  <a:srgbClr val="1C1B19"/>
                </a:solidFill>
                <a:latin typeface="Arial"/>
              </a:defRPr>
            </a:pPr>
            <a:r>
              <a:t>• Quantité : 1 c. à soupe en pré-poo d'urgence si vous n'avez rien d'autre sous la main.</a:t>
            </a:r>
          </a:p>
          <a:p>
            <a:pPr>
              <a:spcAft>
                <a:spcPts val="400"/>
              </a:spcAft>
              <a:defRPr sz="1100">
                <a:solidFill>
                  <a:srgbClr val="1C1B19"/>
                </a:solidFill>
                <a:latin typeface="Arial"/>
              </a:defRPr>
            </a:pPr>
            <a:r>
              <a:t>• Précaution : Vérifier absolument l'absence d'allergie aux arachides.</a:t>
            </a:r>
          </a:p>
        </p:txBody>
      </p:sp>
      <p:sp>
        <p:nvSpPr>
          <p:cNvPr id="15" name="Rounded Rectangle 14"/>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Ces trois huiles prouvent qu'il n'est pas nécessaire d'acheter des produits exotiques : votre cuisine regorge de trésors lipidiques.</a:t>
            </a:r>
          </a:p>
        </p:txBody>
      </p:sp>
      <p:sp>
        <p:nvSpPr>
          <p:cNvPr id="17" name="Rectangle 16"/>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9" name="TextBox 18"/>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24 / 75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FAMILLE 2 · LES BEURRES VÉGÉTAUX PROTECTEURS</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Le Beurre de Karité brut non raffiné (Butyrospermum parkii)</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Badge : ○ TRADITION  ·  Le roi absolu du scellage et de la protection contre l'harmattan.</a:t>
            </a:r>
          </a:p>
        </p:txBody>
      </p:sp>
      <p:sp>
        <p:nvSpPr>
          <p:cNvPr id="6" name="Rounded Rectangle 5"/>
          <p:cNvSpPr/>
          <p:nvPr/>
        </p:nvSpPr>
        <p:spPr>
          <a:xfrm>
            <a:off x="73152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4892040" cy="45720"/>
          </a:xfrm>
          <a:prstGeom prst="rect">
            <a:avLst/>
          </a:prstGeom>
          <a:solidFill>
            <a:srgbClr val="B88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09160" cy="3566160"/>
          </a:xfrm>
          <a:prstGeom prst="rect">
            <a:avLst/>
          </a:prstGeom>
          <a:noFill/>
        </p:spPr>
        <p:txBody>
          <a:bodyPr wrap="square" lIns="0" tIns="0" rIns="0" bIns="0">
            <a:spAutoFit/>
          </a:bodyPr>
          <a:lstStyle/>
          <a:p>
            <a:pPr>
              <a:spcAft>
                <a:spcPts val="800"/>
              </a:spcAft>
              <a:defRPr sz="1450" b="1">
                <a:solidFill>
                  <a:srgbClr val="B8862B"/>
                </a:solidFill>
                <a:latin typeface="Georgia"/>
              </a:defRPr>
            </a:pPr>
            <a:r>
              <a:t>Ce qu'il fait et POURQUOI ça marche</a:t>
            </a:r>
          </a:p>
          <a:p>
            <a:pPr>
              <a:spcAft>
                <a:spcPts val="400"/>
              </a:spcAft>
              <a:defRPr sz="1100" b="1">
                <a:solidFill>
                  <a:srgbClr val="B8862B"/>
                </a:solidFill>
                <a:latin typeface="Arial"/>
              </a:defRPr>
            </a:pPr>
            <a:r>
              <a:t>La puissance des acides stéarique et oléique : </a:t>
            </a:r>
            <a:r>
              <a:rPr sz="1100" b="0">
                <a:solidFill>
                  <a:srgbClr val="1C1B19"/>
                </a:solidFill>
                <a:latin typeface="Arial"/>
              </a:rPr>
              <a:t>Le karité brut est un beurre très dense, riche en insaponifiables (latex végétal, phytostérols, vitamines A et E).</a:t>
            </a:r>
          </a:p>
          <a:p>
            <a:pPr>
              <a:spcAft>
                <a:spcPts val="400"/>
              </a:spcAft>
              <a:defRPr sz="1100" b="1">
                <a:solidFill>
                  <a:srgbClr val="B8862B"/>
                </a:solidFill>
                <a:latin typeface="Arial"/>
              </a:defRPr>
            </a:pPr>
            <a:r>
              <a:t>Le maître de l'occlusion imperméable : </a:t>
            </a:r>
            <a:r>
              <a:rPr sz="1100" b="0">
                <a:solidFill>
                  <a:srgbClr val="1C1B19"/>
                </a:solidFill>
                <a:latin typeface="Arial"/>
              </a:rPr>
              <a:t>Le karité ne « nourrit » pas d'eau : il SCELLÉ l'eau ! Il forme une barrière hydrophobe étanche qui empêche l'humidité présente dans la fibre de s'évaporer sous le vent ou le soleil.</a:t>
            </a:r>
          </a:p>
          <a:p>
            <a:pPr>
              <a:spcAft>
                <a:spcPts val="400"/>
              </a:spcAft>
              <a:defRPr sz="1100" b="1">
                <a:solidFill>
                  <a:srgbClr val="B8862B"/>
                </a:solidFill>
                <a:latin typeface="Arial"/>
              </a:defRPr>
            </a:pPr>
            <a:r>
              <a:t>La protection mécanique contre les agressions : </a:t>
            </a:r>
            <a:r>
              <a:rPr sz="1100" b="0">
                <a:solidFill>
                  <a:srgbClr val="1C1B19"/>
                </a:solidFill>
                <a:latin typeface="Arial"/>
              </a:rPr>
              <a:t>Il gaine la cuticule d'un film souple qui réduit les frottements destructeurs contre les cols de vêtements ou les oreillers en coton.</a:t>
            </a:r>
          </a:p>
        </p:txBody>
      </p:sp>
      <p:sp>
        <p:nvSpPr>
          <p:cNvPr id="9" name="Rounded Rectangle 8"/>
          <p:cNvSpPr/>
          <p:nvPr/>
        </p:nvSpPr>
        <p:spPr>
          <a:xfrm>
            <a:off x="626364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481328"/>
            <a:ext cx="4892040" cy="45720"/>
          </a:xfrm>
          <a:prstGeom prst="rect">
            <a:avLst/>
          </a:prstGeom>
          <a:solidFill>
            <a:srgbClr val="A85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45920"/>
            <a:ext cx="4709160" cy="3566160"/>
          </a:xfrm>
          <a:prstGeom prst="rect">
            <a:avLst/>
          </a:prstGeom>
          <a:noFill/>
        </p:spPr>
        <p:txBody>
          <a:bodyPr wrap="square" lIns="0" tIns="0" rIns="0" bIns="0">
            <a:spAutoFit/>
          </a:bodyPr>
          <a:lstStyle/>
          <a:p>
            <a:pPr>
              <a:spcAft>
                <a:spcPts val="800"/>
              </a:spcAft>
              <a:defRPr sz="1450" b="1">
                <a:solidFill>
                  <a:srgbClr val="A85236"/>
                </a:solidFill>
                <a:latin typeface="Georgia"/>
              </a:defRPr>
            </a:pPr>
            <a:r>
              <a:t>Application, Quantités &amp; Vigilance</a:t>
            </a:r>
          </a:p>
          <a:p>
            <a:pPr>
              <a:spcAft>
                <a:spcPts val="400"/>
              </a:spcAft>
              <a:defRPr sz="1100" b="1">
                <a:solidFill>
                  <a:srgbClr val="A85236"/>
                </a:solidFill>
                <a:latin typeface="Arial"/>
              </a:defRPr>
            </a:pPr>
            <a:r>
              <a:t>Quantités exactes : </a:t>
            </a:r>
            <a:r>
              <a:rPr sz="1100" b="0">
                <a:solidFill>
                  <a:srgbClr val="1C1B19"/>
                </a:solidFill>
                <a:latin typeface="Arial"/>
              </a:rPr>
              <a:t>Cheveux courts : 1 noisette (3 ml) · Mi-longs : 1 noix (10 ml) · Longs : 2 noix (20 ml). Toujours fondu entre les paumes par friction avant pose.</a:t>
            </a:r>
          </a:p>
          <a:p>
            <a:pPr>
              <a:spcAft>
                <a:spcPts val="400"/>
              </a:spcAft>
              <a:defRPr sz="1100" b="1">
                <a:solidFill>
                  <a:srgbClr val="A85236"/>
                </a:solidFill>
                <a:latin typeface="Arial"/>
              </a:defRPr>
            </a:pPr>
            <a:r>
              <a:t>Attention : LA RÈGLE D'OR ABSOLUE : </a:t>
            </a:r>
            <a:r>
              <a:rPr sz="1100" b="0">
                <a:solidFill>
                  <a:srgbClr val="1C1B19"/>
                </a:solidFill>
                <a:latin typeface="Arial"/>
              </a:rPr>
              <a:t>JAMAIS DE KARITÉ SUR CHEVEUX SECS ! Poser du karité sur un cheveu sec, c'est mettre un couvercle sur une casserole vide : vous enfermez la sécheresse à l'intérieur.</a:t>
            </a:r>
          </a:p>
          <a:p>
            <a:pPr>
              <a:spcAft>
                <a:spcPts val="400"/>
              </a:spcAft>
              <a:defRPr sz="1100" b="1">
                <a:solidFill>
                  <a:srgbClr val="A85236"/>
                </a:solidFill>
                <a:latin typeface="Arial"/>
              </a:defRPr>
            </a:pPr>
            <a:r>
              <a:t>Comment le choisir au marché : </a:t>
            </a:r>
            <a:r>
              <a:rPr sz="1100" b="0">
                <a:solidFill>
                  <a:srgbClr val="1C1B19"/>
                </a:solidFill>
                <a:latin typeface="Arial"/>
              </a:rPr>
              <a:t>Préférer le karité brut du Nord-Bénin (Djougou, Natitingou, Parakou), de couleur jaune ou ivoire, à l'odeur fumée caractéristique. Fuir le karité blanc décoloré et désodorisé chimiquement.</a:t>
            </a:r>
          </a:p>
          <a:p>
            <a:pPr>
              <a:spcAft>
                <a:spcPts val="400"/>
              </a:spcAft>
              <a:defRPr sz="1100" b="1">
                <a:solidFill>
                  <a:srgbClr val="A85236"/>
                </a:solidFill>
                <a:latin typeface="Arial"/>
              </a:defRPr>
            </a:pPr>
            <a:r>
              <a:t>Coût : </a:t>
            </a:r>
            <a:r>
              <a:rPr sz="1100" b="0">
                <a:solidFill>
                  <a:srgbClr val="1C1B19"/>
                </a:solidFill>
                <a:latin typeface="Arial"/>
              </a:rPr>
              <a:t>20 à 30 FCFA par utilisation (pot à 500 FCFA pour 4 mois).</a:t>
            </a:r>
          </a:p>
        </p:txBody>
      </p:sp>
      <p:sp>
        <p:nvSpPr>
          <p:cNvPr id="12" name="Rounded Rectangle 11"/>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Toujours mouiller d'abord (eau ou aloé vera), puis sceller avec une noisette de karité. C'est le secret de la souplesse infinie du cheveu 4C.</a:t>
            </a:r>
          </a:p>
        </p:txBody>
      </p:sp>
      <p:sp>
        <p:nvSpPr>
          <p:cNvPr id="14" name="Rectangle 13"/>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6" name="TextBox 15"/>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25 / 75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FAMILLE 2 · BEURRES LOCAUX PRÉCIEUX</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Beurres de Cacao &amp; Mangue sauvage (Kpagnan)</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Badge : ○ TRADITION  ·  Deux merveilles locales pour réparer les pointes et adoucir.</a:t>
            </a:r>
          </a:p>
        </p:txBody>
      </p:sp>
      <p:sp>
        <p:nvSpPr>
          <p:cNvPr id="6" name="Rounded Rectangle 5"/>
          <p:cNvSpPr/>
          <p:nvPr/>
        </p:nvSpPr>
        <p:spPr>
          <a:xfrm>
            <a:off x="73152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4892040" cy="45720"/>
          </a:xfrm>
          <a:prstGeom prst="rect">
            <a:avLst/>
          </a:prstGeom>
          <a:solidFill>
            <a:srgbClr val="A85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09160" cy="3566160"/>
          </a:xfrm>
          <a:prstGeom prst="rect">
            <a:avLst/>
          </a:prstGeom>
          <a:noFill/>
        </p:spPr>
        <p:txBody>
          <a:bodyPr wrap="square" lIns="0" tIns="0" rIns="0" bIns="0">
            <a:spAutoFit/>
          </a:bodyPr>
          <a:lstStyle/>
          <a:p>
            <a:pPr>
              <a:spcAft>
                <a:spcPts val="800"/>
              </a:spcAft>
              <a:defRPr sz="1450" b="1">
                <a:solidFill>
                  <a:srgbClr val="A85236"/>
                </a:solidFill>
                <a:latin typeface="Georgia"/>
              </a:defRPr>
            </a:pPr>
            <a:r>
              <a:t>Beurre de Cacao pur (Theobroma cacao)</a:t>
            </a:r>
          </a:p>
          <a:p>
            <a:pPr>
              <a:spcAft>
                <a:spcPts val="400"/>
              </a:spcAft>
              <a:defRPr sz="1100" b="1">
                <a:solidFill>
                  <a:srgbClr val="A85236"/>
                </a:solidFill>
                <a:latin typeface="Arial"/>
              </a:defRPr>
            </a:pPr>
            <a:r>
              <a:t>Propriétés d'armure protectrice : </a:t>
            </a:r>
            <a:r>
              <a:rPr sz="1100" b="0">
                <a:solidFill>
                  <a:srgbClr val="1C1B19"/>
                </a:solidFill>
                <a:latin typeface="Arial"/>
              </a:rPr>
              <a:t>Plus dur que le karité, il fond exactement à la température du corps (35 °C). Il est exceptionnellement riche en polyphénols antioxydants.</a:t>
            </a:r>
          </a:p>
          <a:p>
            <a:pPr>
              <a:spcAft>
                <a:spcPts val="400"/>
              </a:spcAft>
              <a:defRPr sz="1100" b="1">
                <a:solidFill>
                  <a:srgbClr val="A85236"/>
                </a:solidFill>
                <a:latin typeface="Arial"/>
              </a:defRPr>
            </a:pPr>
            <a:r>
              <a:t>Le pansement des pointes fourchues : </a:t>
            </a:r>
            <a:r>
              <a:rPr sz="1100" b="0">
                <a:solidFill>
                  <a:srgbClr val="1C1B19"/>
                </a:solidFill>
                <a:latin typeface="Arial"/>
              </a:rPr>
              <a:t>Idéal en baume protecteur pour enrober les derniers centimètres des cheveux (les pointes), qui sont les plus vieux et les plus vulnérables.</a:t>
            </a:r>
          </a:p>
          <a:p>
            <a:pPr>
              <a:spcAft>
                <a:spcPts val="400"/>
              </a:spcAft>
              <a:defRPr sz="1100" b="1">
                <a:solidFill>
                  <a:srgbClr val="A85236"/>
                </a:solidFill>
                <a:latin typeface="Arial"/>
              </a:defRPr>
            </a:pPr>
            <a:r>
              <a:t>Dose : </a:t>
            </a:r>
            <a:r>
              <a:rPr sz="1100" b="0">
                <a:solidFill>
                  <a:srgbClr val="1C1B19"/>
                </a:solidFill>
                <a:latin typeface="Arial"/>
              </a:rPr>
              <a:t>Une petite noisette fondue entre les doigts, appliquée strictement sur les pointes avant de faire des vanilles.</a:t>
            </a:r>
          </a:p>
        </p:txBody>
      </p:sp>
      <p:sp>
        <p:nvSpPr>
          <p:cNvPr id="9" name="Rounded Rectangle 8"/>
          <p:cNvSpPr/>
          <p:nvPr/>
        </p:nvSpPr>
        <p:spPr>
          <a:xfrm>
            <a:off x="626364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481328"/>
            <a:ext cx="4892040" cy="45720"/>
          </a:xfrm>
          <a:prstGeom prst="rect">
            <a:avLst/>
          </a:prstGeom>
          <a:solidFill>
            <a:srgbClr val="556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45920"/>
            <a:ext cx="4709160" cy="3566160"/>
          </a:xfrm>
          <a:prstGeom prst="rect">
            <a:avLst/>
          </a:prstGeom>
          <a:noFill/>
        </p:spPr>
        <p:txBody>
          <a:bodyPr wrap="square" lIns="0" tIns="0" rIns="0" bIns="0">
            <a:spAutoFit/>
          </a:bodyPr>
          <a:lstStyle/>
          <a:p>
            <a:pPr>
              <a:spcAft>
                <a:spcPts val="800"/>
              </a:spcAft>
              <a:defRPr sz="1450" b="1">
                <a:solidFill>
                  <a:srgbClr val="55663A"/>
                </a:solidFill>
                <a:latin typeface="Georgia"/>
              </a:defRPr>
            </a:pPr>
            <a:r>
              <a:t>Beurre de Mangue sauvage (Kpagnan / Pentadesma)</a:t>
            </a:r>
          </a:p>
          <a:p>
            <a:pPr>
              <a:spcAft>
                <a:spcPts val="400"/>
              </a:spcAft>
              <a:defRPr sz="1100" b="1">
                <a:solidFill>
                  <a:srgbClr val="55663A"/>
                </a:solidFill>
                <a:latin typeface="Arial"/>
              </a:defRPr>
            </a:pPr>
            <a:r>
              <a:t>Le secret des femmes du Bénin : </a:t>
            </a:r>
            <a:r>
              <a:rPr sz="1100" b="0">
                <a:solidFill>
                  <a:srgbClr val="1C1B19"/>
                </a:solidFill>
                <a:latin typeface="Arial"/>
              </a:rPr>
              <a:t>Extrait des graines de mangue ou de l'arbre à beurre Pentadesma butyracea. Texture beaucoup plus fondante, soyeuse et non collante que le karité.</a:t>
            </a:r>
          </a:p>
          <a:p>
            <a:pPr>
              <a:spcAft>
                <a:spcPts val="400"/>
              </a:spcAft>
              <a:defRPr sz="1100" b="1">
                <a:solidFill>
                  <a:srgbClr val="55663A"/>
                </a:solidFill>
                <a:latin typeface="Arial"/>
              </a:defRPr>
            </a:pPr>
            <a:r>
              <a:t>Assouplissement spectaculaire des racines 4C : </a:t>
            </a:r>
            <a:r>
              <a:rPr sz="1100" b="0">
                <a:solidFill>
                  <a:srgbClr val="1C1B19"/>
                </a:solidFill>
                <a:latin typeface="Arial"/>
              </a:rPr>
              <a:t>Riche en acide isostéarique, il pénètre mieux que le karité et détend la fibre sans chaleur.</a:t>
            </a:r>
          </a:p>
          <a:p>
            <a:pPr>
              <a:spcAft>
                <a:spcPts val="400"/>
              </a:spcAft>
              <a:defRPr sz="1100" b="1">
                <a:solidFill>
                  <a:srgbClr val="55663A"/>
                </a:solidFill>
                <a:latin typeface="Arial"/>
              </a:defRPr>
            </a:pPr>
            <a:r>
              <a:t>Dose : </a:t>
            </a:r>
            <a:r>
              <a:rPr sz="1100" b="0">
                <a:solidFill>
                  <a:srgbClr val="1C1B19"/>
                </a:solidFill>
                <a:latin typeface="Arial"/>
              </a:rPr>
              <a:t>1 noix appliquée sur les repousses crépues très épaisses pour faciliter le tressage sans douleur.</a:t>
            </a:r>
          </a:p>
        </p:txBody>
      </p:sp>
      <p:sp>
        <p:nvSpPr>
          <p:cNvPr id="12" name="Rounded Rectangle 11"/>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Le kpagnan est le joyau secret des marchés béninois : plus fondant que le karité, il ne laisse aucun fini blanc sur les cheveux sombres.</a:t>
            </a:r>
          </a:p>
        </p:txBody>
      </p:sp>
      <p:sp>
        <p:nvSpPr>
          <p:cNvPr id="14" name="Rectangle 13"/>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6" name="TextBox 15"/>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26 / 75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FAMILLE 3 · HUILES FORTIFIANTES DU CUIR CHEVELU</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L'Huile de Ricin locale (Ricinus communis)</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Badge : ◐ PROMETTEUR  ·  La reine de l'épaississement qui exige une prudence stricte.</a:t>
            </a:r>
          </a:p>
        </p:txBody>
      </p:sp>
      <p:sp>
        <p:nvSpPr>
          <p:cNvPr id="6" name="Rounded Rectangle 5"/>
          <p:cNvSpPr/>
          <p:nvPr/>
        </p:nvSpPr>
        <p:spPr>
          <a:xfrm>
            <a:off x="73152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4892040" cy="45720"/>
          </a:xfrm>
          <a:prstGeom prst="rect">
            <a:avLst/>
          </a:prstGeom>
          <a:solidFill>
            <a:srgbClr val="2B3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09160" cy="3566160"/>
          </a:xfrm>
          <a:prstGeom prst="rect">
            <a:avLst/>
          </a:prstGeom>
          <a:noFill/>
        </p:spPr>
        <p:txBody>
          <a:bodyPr wrap="square" lIns="0" tIns="0" rIns="0" bIns="0">
            <a:spAutoFit/>
          </a:bodyPr>
          <a:lstStyle/>
          <a:p>
            <a:pPr>
              <a:spcAft>
                <a:spcPts val="800"/>
              </a:spcAft>
              <a:defRPr sz="1450" b="1">
                <a:solidFill>
                  <a:srgbClr val="2B3E63"/>
                </a:solidFill>
                <a:latin typeface="Georgia"/>
              </a:defRPr>
            </a:pPr>
            <a:r>
              <a:t>Ce qu'elle fait et la vérité sur la pousse</a:t>
            </a:r>
          </a:p>
          <a:p>
            <a:pPr>
              <a:spcAft>
                <a:spcPts val="400"/>
              </a:spcAft>
              <a:defRPr sz="1100" b="1">
                <a:solidFill>
                  <a:srgbClr val="2B3E63"/>
                </a:solidFill>
                <a:latin typeface="Arial"/>
              </a:defRPr>
            </a:pPr>
            <a:r>
              <a:t>La vérité biologique sans filtre : </a:t>
            </a:r>
            <a:r>
              <a:rPr sz="1100" b="0">
                <a:solidFill>
                  <a:srgbClr val="1C1B19"/>
                </a:solidFill>
                <a:latin typeface="Arial"/>
              </a:rPr>
              <a:t>L'huile de ricin NE FAIT PAS pousser les cheveux plus vite que le rythme génétique (environ 1 cm par mois). Tout produit promettant 5 cm en deux semaines est une illusion.</a:t>
            </a:r>
          </a:p>
          <a:p>
            <a:pPr>
              <a:spcAft>
                <a:spcPts val="400"/>
              </a:spcAft>
              <a:defRPr sz="1100" b="1">
                <a:solidFill>
                  <a:srgbClr val="2B3E63"/>
                </a:solidFill>
                <a:latin typeface="Arial"/>
              </a:defRPr>
            </a:pPr>
            <a:r>
              <a:t>Pourquoi elle donne l'illusion de la pousse : </a:t>
            </a:r>
            <a:r>
              <a:rPr sz="1100" b="0">
                <a:solidFill>
                  <a:srgbClr val="1C1B19"/>
                </a:solidFill>
                <a:latin typeface="Arial"/>
              </a:rPr>
              <a:t>Grâce à sa teneur unique en acide ricinoléique (90 %), elle est ultra-visqueuse. Elle s'accroche à la tige, comble les fissures microscopiques et donne immédiatement une sensation de densité et de corps exceptionnel.</a:t>
            </a:r>
          </a:p>
          <a:p>
            <a:pPr>
              <a:spcAft>
                <a:spcPts val="400"/>
              </a:spcAft>
              <a:defRPr sz="1100" b="1">
                <a:solidFill>
                  <a:srgbClr val="2B3E63"/>
                </a:solidFill>
                <a:latin typeface="Arial"/>
              </a:defRPr>
            </a:pPr>
            <a:r>
              <a:t>Action sur la circulation du cuir chevelu : </a:t>
            </a:r>
            <a:r>
              <a:rPr sz="1100" b="0">
                <a:solidFill>
                  <a:srgbClr val="1C1B19"/>
                </a:solidFill>
                <a:latin typeface="Arial"/>
              </a:rPr>
              <a:t>En massage doux, son épaisseur stimule mécaniquement le flux sanguin vers le bulbe pileux, favorisant l'ancrage de la racine.</a:t>
            </a:r>
          </a:p>
        </p:txBody>
      </p:sp>
      <p:sp>
        <p:nvSpPr>
          <p:cNvPr id="9" name="Rounded Rectangle 8"/>
          <p:cNvSpPr/>
          <p:nvPr/>
        </p:nvSpPr>
        <p:spPr>
          <a:xfrm>
            <a:off x="626364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481328"/>
            <a:ext cx="4892040" cy="45720"/>
          </a:xfrm>
          <a:prstGeom prst="rect">
            <a:avLst/>
          </a:prstGeom>
          <a:solidFill>
            <a:srgbClr val="A85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45920"/>
            <a:ext cx="4709160" cy="3566160"/>
          </a:xfrm>
          <a:prstGeom prst="rect">
            <a:avLst/>
          </a:prstGeom>
          <a:noFill/>
        </p:spPr>
        <p:txBody>
          <a:bodyPr wrap="square" lIns="0" tIns="0" rIns="0" bIns="0">
            <a:spAutoFit/>
          </a:bodyPr>
          <a:lstStyle/>
          <a:p>
            <a:pPr>
              <a:spcAft>
                <a:spcPts val="800"/>
              </a:spcAft>
              <a:defRPr sz="1450" b="1">
                <a:solidFill>
                  <a:srgbClr val="A85236"/>
                </a:solidFill>
                <a:latin typeface="Georgia"/>
              </a:defRPr>
            </a:pPr>
            <a:r>
              <a:t>Application, Quantités &amp; Règle de dilution</a:t>
            </a:r>
          </a:p>
          <a:p>
            <a:pPr>
              <a:spcAft>
                <a:spcPts val="400"/>
              </a:spcAft>
              <a:defRPr sz="1100" b="1">
                <a:solidFill>
                  <a:srgbClr val="A85236"/>
                </a:solidFill>
                <a:latin typeface="Arial"/>
              </a:defRPr>
            </a:pPr>
            <a:r>
              <a:t>Attention : LA RÈGLE D'OR DE DILUTION (50 %) : </a:t>
            </a:r>
            <a:r>
              <a:rPr sz="1100" b="0">
                <a:solidFill>
                  <a:srgbClr val="1C1B19"/>
                </a:solidFill>
                <a:latin typeface="Arial"/>
              </a:rPr>
              <a:t>Ne JAMAIS appliquer l'huile de ricin pure sur toute la tête ! Sa viscosité colle les mèches entre elles et arrache les cheveux sains lors du démêlage.</a:t>
            </a:r>
          </a:p>
          <a:p>
            <a:pPr>
              <a:spcAft>
                <a:spcPts val="400"/>
              </a:spcAft>
              <a:defRPr sz="1100" b="1">
                <a:solidFill>
                  <a:srgbClr val="A85236"/>
                </a:solidFill>
                <a:latin typeface="Arial"/>
              </a:defRPr>
            </a:pPr>
            <a:r>
              <a:t>La recette obligatoire : </a:t>
            </a:r>
            <a:r>
              <a:rPr sz="1100" b="0">
                <a:solidFill>
                  <a:srgbClr val="1C1B19"/>
                </a:solidFill>
                <a:latin typeface="Arial"/>
              </a:rPr>
              <a:t>Toujours mélanger 1 part d'huile de ricin pour 2 parts d'huile fluide (coco, olive ou sésame).</a:t>
            </a:r>
          </a:p>
          <a:p>
            <a:pPr>
              <a:spcAft>
                <a:spcPts val="400"/>
              </a:spcAft>
              <a:defRPr sz="1100" b="1">
                <a:solidFill>
                  <a:srgbClr val="A85236"/>
                </a:solidFill>
                <a:latin typeface="Arial"/>
              </a:defRPr>
            </a:pPr>
            <a:r>
              <a:t>Quantité exacte : </a:t>
            </a:r>
            <a:r>
              <a:rPr sz="1100" b="0">
                <a:solidFill>
                  <a:srgbClr val="1C1B19"/>
                </a:solidFill>
                <a:latin typeface="Arial"/>
              </a:rPr>
              <a:t>½ cuillère à café du mélange, prélevée sur le bout des doigts.</a:t>
            </a:r>
          </a:p>
          <a:p>
            <a:pPr>
              <a:spcAft>
                <a:spcPts val="400"/>
              </a:spcAft>
              <a:defRPr sz="1100" b="1">
                <a:solidFill>
                  <a:srgbClr val="A85236"/>
                </a:solidFill>
                <a:latin typeface="Arial"/>
              </a:defRPr>
            </a:pPr>
            <a:r>
              <a:t>Zones cibles : </a:t>
            </a:r>
            <a:r>
              <a:rPr sz="1100" b="0">
                <a:solidFill>
                  <a:srgbClr val="1C1B19"/>
                </a:solidFill>
                <a:latin typeface="Arial"/>
              </a:rPr>
              <a:t>En tapotant délicatement sur la lisière (edges) et les tempes fragilisées par les tresses. 2 fois par semaine maximum.</a:t>
            </a:r>
          </a:p>
        </p:txBody>
      </p:sp>
      <p:sp>
        <p:nvSpPr>
          <p:cNvPr id="12" name="Rounded Rectangle 11"/>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Le ricin fortifie et épaissit, mais toujours dilué ! Pure, elle devient une colle qui casse vos mèches.</a:t>
            </a:r>
          </a:p>
        </p:txBody>
      </p:sp>
      <p:sp>
        <p:nvSpPr>
          <p:cNvPr id="14" name="Rectangle 13"/>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6" name="TextBox 15"/>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27 / 75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FAMILLE 3 · TRÉSORS BOTANIQUES SAHÉLIENS</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Les Huiles précieuses de Baobab &amp; Moringa</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Deux élixirs africains d'exception pour réparer l'élasticité et purifier le crâne.</a:t>
            </a:r>
          </a:p>
        </p:txBody>
      </p:sp>
      <p:sp>
        <p:nvSpPr>
          <p:cNvPr id="6" name="Rounded Rectangle 5"/>
          <p:cNvSpPr/>
          <p:nvPr/>
        </p:nvSpPr>
        <p:spPr>
          <a:xfrm>
            <a:off x="73152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4892040" cy="45720"/>
          </a:xfrm>
          <a:prstGeom prst="rect">
            <a:avLst/>
          </a:prstGeom>
          <a:solidFill>
            <a:srgbClr val="B88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09160" cy="3566160"/>
          </a:xfrm>
          <a:prstGeom prst="rect">
            <a:avLst/>
          </a:prstGeom>
          <a:noFill/>
        </p:spPr>
        <p:txBody>
          <a:bodyPr wrap="square" lIns="0" tIns="0" rIns="0" bIns="0">
            <a:spAutoFit/>
          </a:bodyPr>
          <a:lstStyle/>
          <a:p>
            <a:pPr>
              <a:spcAft>
                <a:spcPts val="800"/>
              </a:spcAft>
              <a:defRPr sz="1450" b="1">
                <a:solidFill>
                  <a:srgbClr val="B8862B"/>
                </a:solidFill>
                <a:latin typeface="Georgia"/>
              </a:defRPr>
            </a:pPr>
            <a:r>
              <a:t>L'Huile de Baobab (○ TRADITION)</a:t>
            </a:r>
          </a:p>
          <a:p>
            <a:pPr>
              <a:spcAft>
                <a:spcPts val="400"/>
              </a:spcAft>
              <a:defRPr sz="1100" b="1">
                <a:solidFill>
                  <a:srgbClr val="B8862B"/>
                </a:solidFill>
                <a:latin typeface="Arial"/>
              </a:defRPr>
            </a:pPr>
            <a:r>
              <a:t>L'arbre de vie africain : </a:t>
            </a:r>
            <a:r>
              <a:rPr sz="1100" b="0">
                <a:solidFill>
                  <a:srgbClr val="1C1B19"/>
                </a:solidFill>
                <a:latin typeface="Arial"/>
              </a:rPr>
              <a:t>Pressée à froid des graines du fruit de baobab (pain de singe). Rare, fine et d'une absorption instantanée sans laisser de gras.</a:t>
            </a:r>
          </a:p>
          <a:p>
            <a:pPr>
              <a:spcAft>
                <a:spcPts val="400"/>
              </a:spcAft>
              <a:defRPr sz="1100" b="1">
                <a:solidFill>
                  <a:srgbClr val="B8862B"/>
                </a:solidFill>
                <a:latin typeface="Arial"/>
              </a:defRPr>
            </a:pPr>
            <a:r>
              <a:t>Le cocktail vitaminique A, D, E et F : </a:t>
            </a:r>
            <a:r>
              <a:rPr sz="1100" b="0">
                <a:solidFill>
                  <a:srgbClr val="1C1B19"/>
                </a:solidFill>
                <a:latin typeface="Arial"/>
              </a:rPr>
              <a:t>Riche en acides gras linoléique et palmitique. Elle redonne une élasticité miraculeuse aux boucles ternes et fatiguées.</a:t>
            </a:r>
          </a:p>
          <a:p>
            <a:pPr>
              <a:spcAft>
                <a:spcPts val="400"/>
              </a:spcAft>
              <a:defRPr sz="1100" b="1">
                <a:solidFill>
                  <a:srgbClr val="B8862B"/>
                </a:solidFill>
                <a:latin typeface="Arial"/>
              </a:defRPr>
            </a:pPr>
            <a:r>
              <a:t>Usage idéal : </a:t>
            </a:r>
            <a:r>
              <a:rPr sz="1100" b="0">
                <a:solidFill>
                  <a:srgbClr val="1C1B19"/>
                </a:solidFill>
                <a:latin typeface="Arial"/>
              </a:rPr>
              <a:t>3 à 5 gouttes chauffées dans les paumes en finition de coiffure pour lustrer les vanilles ou sceller les pointes fines sans les alourdir.</a:t>
            </a:r>
          </a:p>
        </p:txBody>
      </p:sp>
      <p:sp>
        <p:nvSpPr>
          <p:cNvPr id="9" name="Rounded Rectangle 8"/>
          <p:cNvSpPr/>
          <p:nvPr/>
        </p:nvSpPr>
        <p:spPr>
          <a:xfrm>
            <a:off x="626364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481328"/>
            <a:ext cx="4892040" cy="45720"/>
          </a:xfrm>
          <a:prstGeom prst="rect">
            <a:avLst/>
          </a:prstGeom>
          <a:solidFill>
            <a:srgbClr val="556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45920"/>
            <a:ext cx="4709160" cy="3566160"/>
          </a:xfrm>
          <a:prstGeom prst="rect">
            <a:avLst/>
          </a:prstGeom>
          <a:noFill/>
        </p:spPr>
        <p:txBody>
          <a:bodyPr wrap="square" lIns="0" tIns="0" rIns="0" bIns="0">
            <a:spAutoFit/>
          </a:bodyPr>
          <a:lstStyle/>
          <a:p>
            <a:pPr>
              <a:spcAft>
                <a:spcPts val="800"/>
              </a:spcAft>
              <a:defRPr sz="1450" b="1">
                <a:solidFill>
                  <a:srgbClr val="55663A"/>
                </a:solidFill>
                <a:latin typeface="Georgia"/>
              </a:defRPr>
            </a:pPr>
            <a:r>
              <a:t>L'Huile de Moringa locale (◐ PROMETTEUR)</a:t>
            </a:r>
          </a:p>
          <a:p>
            <a:pPr>
              <a:spcAft>
                <a:spcPts val="400"/>
              </a:spcAft>
              <a:defRPr sz="1100" b="1">
                <a:solidFill>
                  <a:srgbClr val="55663A"/>
                </a:solidFill>
                <a:latin typeface="Arial"/>
              </a:defRPr>
            </a:pPr>
            <a:r>
              <a:t>La richesse en acide béhénique : </a:t>
            </a:r>
            <a:r>
              <a:rPr sz="1100" b="0">
                <a:solidFill>
                  <a:srgbClr val="1C1B19"/>
                </a:solidFill>
                <a:latin typeface="Arial"/>
              </a:rPr>
              <a:t>L'huile de graines de moringa est appelée historiquement « huile de Ben ». Elle possède des propriétés antibactériennes et purifiantes majeures.</a:t>
            </a:r>
          </a:p>
          <a:p>
            <a:pPr>
              <a:spcAft>
                <a:spcPts val="400"/>
              </a:spcAft>
              <a:defRPr sz="1100" b="1">
                <a:solidFill>
                  <a:srgbClr val="55663A"/>
                </a:solidFill>
                <a:latin typeface="Arial"/>
              </a:defRPr>
            </a:pPr>
            <a:r>
              <a:t>Protection contre la poussière de ville : </a:t>
            </a:r>
            <a:r>
              <a:rPr sz="1100" b="0">
                <a:solidFill>
                  <a:srgbClr val="1C1B19"/>
                </a:solidFill>
                <a:latin typeface="Arial"/>
              </a:rPr>
              <a:t>Elle crée un bouclier invisible contre la pollution urbaine de Cotonou et les fumées de pot d'échappement qui oxydent la kératine.</a:t>
            </a:r>
          </a:p>
          <a:p>
            <a:pPr>
              <a:spcAft>
                <a:spcPts val="400"/>
              </a:spcAft>
              <a:defRPr sz="1100" b="1">
                <a:solidFill>
                  <a:srgbClr val="55663A"/>
                </a:solidFill>
                <a:latin typeface="Arial"/>
              </a:defRPr>
            </a:pPr>
            <a:r>
              <a:t>Usage idéal : </a:t>
            </a:r>
            <a:r>
              <a:rPr sz="1100" b="0">
                <a:solidFill>
                  <a:srgbClr val="1C1B19"/>
                </a:solidFill>
                <a:latin typeface="Arial"/>
              </a:rPr>
              <a:t>1 cuillère à café en massage du cuir chevelu en cas de démangeaisons ou de pellicules grasses.</a:t>
            </a:r>
          </a:p>
        </p:txBody>
      </p:sp>
      <p:sp>
        <p:nvSpPr>
          <p:cNvPr id="12" name="Rounded Rectangle 11"/>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Produites artisanalement au Nord du Bénin, ces deux huiles rivalisent avec les sérums les plus chers du marché mondial.</a:t>
            </a:r>
          </a:p>
        </p:txBody>
      </p:sp>
      <p:sp>
        <p:nvSpPr>
          <p:cNvPr id="14" name="Rectangle 13"/>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6" name="TextBox 15"/>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28 / 75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FAMILLE 3 · ACTIFS TRADITIONNELS DE PURIFICATION</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Nigelle, Huile de Palmiste (Tchobo) &amp; Oléine</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La pharmacopée béninoise ancestrale au service du cuir chevelu assaini.</a:t>
            </a:r>
          </a:p>
        </p:txBody>
      </p:sp>
      <p:sp>
        <p:nvSpPr>
          <p:cNvPr id="6" name="Rounded Rectangle 5"/>
          <p:cNvSpPr/>
          <p:nvPr/>
        </p:nvSpPr>
        <p:spPr>
          <a:xfrm>
            <a:off x="731520" y="1463040"/>
            <a:ext cx="33375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3063240" cy="45720"/>
          </a:xfrm>
          <a:prstGeom prst="rect">
            <a:avLst/>
          </a:prstGeom>
          <a:solidFill>
            <a:srgbClr val="2B3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2971800" cy="3566160"/>
          </a:xfrm>
          <a:prstGeom prst="rect">
            <a:avLst/>
          </a:prstGeom>
          <a:noFill/>
        </p:spPr>
        <p:txBody>
          <a:bodyPr wrap="square" lIns="0" tIns="0" rIns="0" bIns="0">
            <a:spAutoFit/>
          </a:bodyPr>
          <a:lstStyle/>
          <a:p>
            <a:pPr>
              <a:spcAft>
                <a:spcPts val="800"/>
              </a:spcAft>
              <a:defRPr sz="1450" b="1">
                <a:solidFill>
                  <a:srgbClr val="2B3E63"/>
                </a:solidFill>
                <a:latin typeface="Georgia"/>
              </a:defRPr>
            </a:pPr>
            <a:r>
              <a:t>Huile de Nigelle (◐ PROMETTEUR)</a:t>
            </a:r>
          </a:p>
          <a:p>
            <a:pPr>
              <a:spcAft>
                <a:spcPts val="400"/>
              </a:spcAft>
              <a:defRPr sz="1100">
                <a:solidFill>
                  <a:srgbClr val="1C1B19"/>
                </a:solidFill>
                <a:latin typeface="Arial"/>
              </a:defRPr>
            </a:pPr>
            <a:r>
              <a:t>• Actif phare : La thymoquinone, anti-inflammatoire et antifongique de référence.</a:t>
            </a:r>
          </a:p>
          <a:p>
            <a:pPr>
              <a:spcAft>
                <a:spcPts val="400"/>
              </a:spcAft>
              <a:defRPr sz="1100">
                <a:solidFill>
                  <a:srgbClr val="1C1B19"/>
                </a:solidFill>
                <a:latin typeface="Arial"/>
              </a:defRPr>
            </a:pPr>
            <a:r>
              <a:t>• Action : Élimine les démangeaisons insupportables sous les nattes et apaise les cuirs chevelus rougis.</a:t>
            </a:r>
          </a:p>
          <a:p>
            <a:pPr>
              <a:spcAft>
                <a:spcPts val="400"/>
              </a:spcAft>
              <a:defRPr sz="1100">
                <a:solidFill>
                  <a:srgbClr val="1C1B19"/>
                </a:solidFill>
                <a:latin typeface="Arial"/>
              </a:defRPr>
            </a:pPr>
            <a:r>
              <a:t>• Dose : 5 gouttes diluées dans 1 c. à soupe d'huile d'olive en massage 1 fois par semaine.</a:t>
            </a:r>
          </a:p>
        </p:txBody>
      </p:sp>
      <p:sp>
        <p:nvSpPr>
          <p:cNvPr id="9" name="Rounded Rectangle 8"/>
          <p:cNvSpPr/>
          <p:nvPr/>
        </p:nvSpPr>
        <p:spPr>
          <a:xfrm>
            <a:off x="4425696" y="1463040"/>
            <a:ext cx="33375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62856" y="1481328"/>
            <a:ext cx="3063240" cy="45720"/>
          </a:xfrm>
          <a:prstGeom prst="rect">
            <a:avLst/>
          </a:prstGeom>
          <a:solidFill>
            <a:srgbClr val="A85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08576" y="1645920"/>
            <a:ext cx="2971800" cy="3566160"/>
          </a:xfrm>
          <a:prstGeom prst="rect">
            <a:avLst/>
          </a:prstGeom>
          <a:noFill/>
        </p:spPr>
        <p:txBody>
          <a:bodyPr wrap="square" lIns="0" tIns="0" rIns="0" bIns="0">
            <a:spAutoFit/>
          </a:bodyPr>
          <a:lstStyle/>
          <a:p>
            <a:pPr>
              <a:spcAft>
                <a:spcPts val="800"/>
              </a:spcAft>
              <a:defRPr sz="1450" b="1">
                <a:solidFill>
                  <a:srgbClr val="A85236"/>
                </a:solidFill>
                <a:latin typeface="Georgia"/>
              </a:defRPr>
            </a:pPr>
            <a:r>
              <a:t>Huile de Palmiste / Tchobo (○ TRADITION)</a:t>
            </a:r>
          </a:p>
          <a:p>
            <a:pPr>
              <a:spcAft>
                <a:spcPts val="400"/>
              </a:spcAft>
              <a:defRPr sz="1100">
                <a:solidFill>
                  <a:srgbClr val="1C1B19"/>
                </a:solidFill>
                <a:latin typeface="Arial"/>
              </a:defRPr>
            </a:pPr>
            <a:r>
              <a:t>• Origine : Extraite par torréfaction des amandes de noix de palme (Manyanga au Cameroun, Tchobo au Bénin).</a:t>
            </a:r>
          </a:p>
          <a:p>
            <a:pPr>
              <a:spcAft>
                <a:spcPts val="400"/>
              </a:spcAft>
              <a:defRPr sz="1100">
                <a:solidFill>
                  <a:srgbClr val="1C1B19"/>
                </a:solidFill>
                <a:latin typeface="Arial"/>
              </a:defRPr>
            </a:pPr>
            <a:r>
              <a:t>• Action : Huile noire à odeur toastée, utilisée depuis des siècles pour assainir le crâne, traiter les mycoses et fortifier les cheveux d'enfants.</a:t>
            </a:r>
          </a:p>
          <a:p>
            <a:pPr>
              <a:spcAft>
                <a:spcPts val="400"/>
              </a:spcAft>
              <a:defRPr sz="1100">
                <a:solidFill>
                  <a:srgbClr val="1C1B19"/>
                </a:solidFill>
                <a:latin typeface="Arial"/>
              </a:defRPr>
            </a:pPr>
            <a:r>
              <a:t>• Dose : ½ c. à café sur les raies une heure avant le lavage.</a:t>
            </a:r>
          </a:p>
        </p:txBody>
      </p:sp>
      <p:sp>
        <p:nvSpPr>
          <p:cNvPr id="12" name="Rounded Rectangle 11"/>
          <p:cNvSpPr/>
          <p:nvPr/>
        </p:nvSpPr>
        <p:spPr>
          <a:xfrm>
            <a:off x="8119872" y="1463040"/>
            <a:ext cx="33375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57032" y="1481328"/>
            <a:ext cx="3063240" cy="45720"/>
          </a:xfrm>
          <a:prstGeom prst="rect">
            <a:avLst/>
          </a:prstGeom>
          <a:solidFill>
            <a:srgbClr val="B88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2752" y="1645920"/>
            <a:ext cx="2971800" cy="3566160"/>
          </a:xfrm>
          <a:prstGeom prst="rect">
            <a:avLst/>
          </a:prstGeom>
          <a:noFill/>
        </p:spPr>
        <p:txBody>
          <a:bodyPr wrap="square" lIns="0" tIns="0" rIns="0" bIns="0">
            <a:spAutoFit/>
          </a:bodyPr>
          <a:lstStyle/>
          <a:p>
            <a:pPr>
              <a:spcAft>
                <a:spcPts val="800"/>
              </a:spcAft>
              <a:defRPr sz="1450" b="1">
                <a:solidFill>
                  <a:srgbClr val="B8862B"/>
                </a:solidFill>
                <a:latin typeface="Georgia"/>
              </a:defRPr>
            </a:pPr>
            <a:r>
              <a:t>Oléine de Karité (○ TRADITION)</a:t>
            </a:r>
          </a:p>
          <a:p>
            <a:pPr>
              <a:spcAft>
                <a:spcPts val="400"/>
              </a:spcAft>
              <a:defRPr sz="1100">
                <a:solidFill>
                  <a:srgbClr val="1C1B19"/>
                </a:solidFill>
                <a:latin typeface="Arial"/>
              </a:defRPr>
            </a:pPr>
            <a:r>
              <a:t>• Origine : Fraction liquide obtenue par pression à froid douce du karité.</a:t>
            </a:r>
          </a:p>
          <a:p>
            <a:pPr>
              <a:spcAft>
                <a:spcPts val="400"/>
              </a:spcAft>
              <a:defRPr sz="1100">
                <a:solidFill>
                  <a:srgbClr val="1C1B19"/>
                </a:solidFill>
                <a:latin typeface="Arial"/>
              </a:defRPr>
            </a:pPr>
            <a:r>
              <a:t>• Action : Conserve tous les bienfaits protecteurs du karité brut tout en restant 100 % liquide et fluide à température ambiante.</a:t>
            </a:r>
          </a:p>
          <a:p>
            <a:pPr>
              <a:spcAft>
                <a:spcPts val="400"/>
              </a:spcAft>
              <a:defRPr sz="1100">
                <a:solidFill>
                  <a:srgbClr val="1C1B19"/>
                </a:solidFill>
                <a:latin typeface="Arial"/>
              </a:defRPr>
            </a:pPr>
            <a:r>
              <a:t>• Usage : Parfaite pour composer vos sprays hydratants quotidiens sans jamais boucher l'embout pulvérisateur.</a:t>
            </a:r>
          </a:p>
        </p:txBody>
      </p:sp>
      <p:sp>
        <p:nvSpPr>
          <p:cNvPr id="15" name="Rounded Rectangle 14"/>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Le Tchobo traditionnel béninois est un antiseptique naturel formidable qui assainit le cuir chevelu pour moins de 200 FCFA.</a:t>
            </a:r>
          </a:p>
        </p:txBody>
      </p:sp>
      <p:sp>
        <p:nvSpPr>
          <p:cNvPr id="17" name="Rectangle 16"/>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9" name="TextBox 18"/>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29 / 75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FAMILLE 4 · LES GELS &amp; MUCILAGES DÉMÊLANTS</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Le Gel de Gombo frais (Abelmoschus esculentus)</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Badge : ○ TRADITION  ·  Le démêlant naturel n°1 d'Afrique : glisse, douceur et zéro casse.</a:t>
            </a:r>
          </a:p>
        </p:txBody>
      </p:sp>
      <p:sp>
        <p:nvSpPr>
          <p:cNvPr id="6" name="Rounded Rectangle 5"/>
          <p:cNvSpPr/>
          <p:nvPr/>
        </p:nvSpPr>
        <p:spPr>
          <a:xfrm>
            <a:off x="73152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4892040" cy="45720"/>
          </a:xfrm>
          <a:prstGeom prst="rect">
            <a:avLst/>
          </a:prstGeom>
          <a:solidFill>
            <a:srgbClr val="556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09160" cy="3566160"/>
          </a:xfrm>
          <a:prstGeom prst="rect">
            <a:avLst/>
          </a:prstGeom>
          <a:noFill/>
        </p:spPr>
        <p:txBody>
          <a:bodyPr wrap="square" lIns="0" tIns="0" rIns="0" bIns="0">
            <a:spAutoFit/>
          </a:bodyPr>
          <a:lstStyle/>
          <a:p>
            <a:pPr>
              <a:spcAft>
                <a:spcPts val="800"/>
              </a:spcAft>
              <a:defRPr sz="1450" b="1">
                <a:solidFill>
                  <a:srgbClr val="55663A"/>
                </a:solidFill>
                <a:latin typeface="Georgia"/>
              </a:defRPr>
            </a:pPr>
            <a:r>
              <a:t>Ce qu'il fait et POURQUOI ça marche</a:t>
            </a:r>
          </a:p>
          <a:p>
            <a:pPr>
              <a:spcAft>
                <a:spcPts val="400"/>
              </a:spcAft>
              <a:defRPr sz="1100" b="1">
                <a:solidFill>
                  <a:srgbClr val="55663A"/>
                </a:solidFill>
                <a:latin typeface="Arial"/>
              </a:defRPr>
            </a:pPr>
            <a:r>
              <a:t>La magie des polysaccharides mucilagineux : </a:t>
            </a:r>
            <a:r>
              <a:rPr sz="1100" b="0">
                <a:solidFill>
                  <a:srgbClr val="1C1B19"/>
                </a:solidFill>
                <a:latin typeface="Arial"/>
              </a:rPr>
              <a:t>Le gombo contient une concentration extraordinaire de mucilages complexes (polymères de rhamnose, galactose et acide galacturonique).</a:t>
            </a:r>
          </a:p>
          <a:p>
            <a:pPr>
              <a:spcAft>
                <a:spcPts val="400"/>
              </a:spcAft>
              <a:defRPr sz="1100" b="1">
                <a:solidFill>
                  <a:srgbClr val="55663A"/>
                </a:solidFill>
                <a:latin typeface="Arial"/>
              </a:defRPr>
            </a:pPr>
            <a:r>
              <a:t>Une glisse supérieure aux soins industriels : </a:t>
            </a:r>
            <a:r>
              <a:rPr sz="1100" b="0">
                <a:solidFill>
                  <a:srgbClr val="1C1B19"/>
                </a:solidFill>
                <a:latin typeface="Arial"/>
              </a:rPr>
              <a:t>Au contact de l'eau, ces molécules forment un gel visqueux ultra-glissant qui enrobe chaque fibre capillaire d'un coussin protecteur.</a:t>
            </a:r>
          </a:p>
          <a:p>
            <a:pPr>
              <a:spcAft>
                <a:spcPts val="400"/>
              </a:spcAft>
              <a:defRPr sz="1100" b="1">
                <a:solidFill>
                  <a:srgbClr val="55663A"/>
                </a:solidFill>
                <a:latin typeface="Arial"/>
              </a:defRPr>
            </a:pPr>
            <a:r>
              <a:t>La fin de la casse au démêlage : </a:t>
            </a:r>
            <a:r>
              <a:rPr sz="1100" b="0">
                <a:solidFill>
                  <a:srgbClr val="1C1B19"/>
                </a:solidFill>
                <a:latin typeface="Arial"/>
              </a:rPr>
              <a:t>Les nœuds de fée et les mèches emmêlées glissent les unes contre les autres et se défont sous les doigts sans aucune résistance mécanique.</a:t>
            </a:r>
          </a:p>
          <a:p>
            <a:pPr>
              <a:spcAft>
                <a:spcPts val="400"/>
              </a:spcAft>
              <a:defRPr sz="1100" b="1">
                <a:solidFill>
                  <a:srgbClr val="55663A"/>
                </a:solidFill>
                <a:latin typeface="Arial"/>
              </a:defRPr>
            </a:pPr>
            <a:r>
              <a:t>Hydratation non grasse : </a:t>
            </a:r>
            <a:r>
              <a:rPr sz="1100" b="0">
                <a:solidFill>
                  <a:srgbClr val="1C1B19"/>
                </a:solidFill>
                <a:latin typeface="Arial"/>
              </a:rPr>
              <a:t>Apporte une eau gélifiée qui repulpe les boucles sans laisser aucun résidu gras ni pellicule blanche.</a:t>
            </a:r>
          </a:p>
        </p:txBody>
      </p:sp>
      <p:sp>
        <p:nvSpPr>
          <p:cNvPr id="9" name="Rounded Rectangle 8"/>
          <p:cNvSpPr/>
          <p:nvPr/>
        </p:nvSpPr>
        <p:spPr>
          <a:xfrm>
            <a:off x="626364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481328"/>
            <a:ext cx="4892040" cy="45720"/>
          </a:xfrm>
          <a:prstGeom prst="rect">
            <a:avLst/>
          </a:prstGeom>
          <a:solidFill>
            <a:srgbClr val="A85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45920"/>
            <a:ext cx="4709160" cy="3566160"/>
          </a:xfrm>
          <a:prstGeom prst="rect">
            <a:avLst/>
          </a:prstGeom>
          <a:noFill/>
        </p:spPr>
        <p:txBody>
          <a:bodyPr wrap="square" lIns="0" tIns="0" rIns="0" bIns="0">
            <a:spAutoFit/>
          </a:bodyPr>
          <a:lstStyle/>
          <a:p>
            <a:pPr>
              <a:spcAft>
                <a:spcPts val="800"/>
              </a:spcAft>
              <a:defRPr sz="1450" b="1">
                <a:solidFill>
                  <a:srgbClr val="A85236"/>
                </a:solidFill>
                <a:latin typeface="Georgia"/>
              </a:defRPr>
            </a:pPr>
            <a:r>
              <a:t>Recette minute, Utilisation &amp; Conservation</a:t>
            </a:r>
          </a:p>
          <a:p>
            <a:pPr>
              <a:spcAft>
                <a:spcPts val="400"/>
              </a:spcAft>
              <a:defRPr sz="1100" b="1">
                <a:solidFill>
                  <a:srgbClr val="A85236"/>
                </a:solidFill>
                <a:latin typeface="Arial"/>
              </a:defRPr>
            </a:pPr>
            <a:r>
              <a:t>La recette express à froid (la meilleure) : </a:t>
            </a:r>
            <a:r>
              <a:rPr sz="1100" b="0">
                <a:solidFill>
                  <a:srgbClr val="1C1B19"/>
                </a:solidFill>
                <a:latin typeface="Arial"/>
              </a:rPr>
              <a:t>Coupez 5 ou 6 gombos frais en rondelles dans 1 grand verre d'eau (250 ml). Laissez reposer au réfrigérateur toute la nuit. Filtrez le lendemain matin à travers un collant propre ou une passoire fine.</a:t>
            </a:r>
          </a:p>
          <a:p>
            <a:pPr>
              <a:spcAft>
                <a:spcPts val="400"/>
              </a:spcAft>
              <a:defRPr sz="1100" b="1">
                <a:solidFill>
                  <a:srgbClr val="A85236"/>
                </a:solidFill>
                <a:latin typeface="Arial"/>
              </a:defRPr>
            </a:pPr>
            <a:r>
              <a:t>Mode d'emploi : </a:t>
            </a:r>
            <a:r>
              <a:rPr sz="1100" b="0">
                <a:solidFill>
                  <a:srgbClr val="1C1B19"/>
                </a:solidFill>
                <a:latin typeface="Arial"/>
              </a:rPr>
              <a:t>Appliquez généreusement sur cheveux mouillés, section par section. Démêlez au doigt puis au peigne large en partant des pointes.</a:t>
            </a:r>
          </a:p>
          <a:p>
            <a:pPr>
              <a:spcAft>
                <a:spcPts val="400"/>
              </a:spcAft>
              <a:defRPr sz="1100" b="1">
                <a:solidFill>
                  <a:srgbClr val="A85236"/>
                </a:solidFill>
                <a:latin typeface="Arial"/>
              </a:defRPr>
            </a:pPr>
            <a:r>
              <a:t>Attention : Conservation stricte : </a:t>
            </a:r>
            <a:r>
              <a:rPr sz="1100" b="0">
                <a:solidFill>
                  <a:srgbClr val="1C1B19"/>
                </a:solidFill>
                <a:latin typeface="Arial"/>
              </a:rPr>
              <a:t>3 à 5 jours au réfrigérateur. Si vous en préparez d'avance, congelez le gel dans un bac à glaçons : 2 glaçons décongelés par jour de soin !</a:t>
            </a:r>
          </a:p>
          <a:p>
            <a:pPr>
              <a:spcAft>
                <a:spcPts val="400"/>
              </a:spcAft>
              <a:defRPr sz="1100" b="1">
                <a:solidFill>
                  <a:srgbClr val="A85236"/>
                </a:solidFill>
                <a:latin typeface="Arial"/>
              </a:defRPr>
            </a:pPr>
            <a:r>
              <a:t>Coût : </a:t>
            </a:r>
            <a:r>
              <a:rPr sz="1100" b="0">
                <a:solidFill>
                  <a:srgbClr val="1C1B19"/>
                </a:solidFill>
                <a:latin typeface="Arial"/>
              </a:rPr>
              <a:t>100 FCFA pour une tête complète.</a:t>
            </a:r>
          </a:p>
        </p:txBody>
      </p:sp>
      <p:sp>
        <p:nvSpPr>
          <p:cNvPr id="12" name="Rounded Rectangle 11"/>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Le gel de gombo est le plus grand cadeau de la cuisine africaine à nos cheveux 4C. Il transforme la séance de démêlage en un moment de pur plaisir.</a:t>
            </a:r>
          </a:p>
        </p:txBody>
      </p:sp>
      <p:sp>
        <p:nvSpPr>
          <p:cNvPr id="14" name="Rectangle 13"/>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6" name="TextBox 15"/>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30 / 75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FAMILLE 4 · DÉFINITION ET TENUE VÉGÉTALE</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Le Gel de Graines de Lin (Linum usitatissimum)</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Badge : ○ TRADITION  ·  Le gel coiffant naturel qui définit les boucles sans cartonner.</a:t>
            </a:r>
          </a:p>
        </p:txBody>
      </p:sp>
      <p:sp>
        <p:nvSpPr>
          <p:cNvPr id="6" name="Rounded Rectangle 5"/>
          <p:cNvSpPr/>
          <p:nvPr/>
        </p:nvSpPr>
        <p:spPr>
          <a:xfrm>
            <a:off x="73152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4892040" cy="45720"/>
          </a:xfrm>
          <a:prstGeom prst="rect">
            <a:avLst/>
          </a:prstGeom>
          <a:solidFill>
            <a:srgbClr val="2B3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09160" cy="3566160"/>
          </a:xfrm>
          <a:prstGeom prst="rect">
            <a:avLst/>
          </a:prstGeom>
          <a:noFill/>
        </p:spPr>
        <p:txBody>
          <a:bodyPr wrap="square" lIns="0" tIns="0" rIns="0" bIns="0">
            <a:spAutoFit/>
          </a:bodyPr>
          <a:lstStyle/>
          <a:p>
            <a:pPr>
              <a:spcAft>
                <a:spcPts val="800"/>
              </a:spcAft>
              <a:defRPr sz="1450" b="1">
                <a:solidFill>
                  <a:srgbClr val="2B3E63"/>
                </a:solidFill>
                <a:latin typeface="Georgia"/>
              </a:defRPr>
            </a:pPr>
            <a:r>
              <a:t>Ce qu'il fait et POURQUOI ça marche</a:t>
            </a:r>
          </a:p>
          <a:p>
            <a:pPr>
              <a:spcAft>
                <a:spcPts val="400"/>
              </a:spcAft>
              <a:defRPr sz="1100" b="1">
                <a:solidFill>
                  <a:srgbClr val="2B3E63"/>
                </a:solidFill>
                <a:latin typeface="Arial"/>
              </a:defRPr>
            </a:pPr>
            <a:r>
              <a:t>Gaine de polysaccharides lissants : </a:t>
            </a:r>
            <a:r>
              <a:rPr sz="1100" b="0">
                <a:solidFill>
                  <a:srgbClr val="1C1B19"/>
                </a:solidFill>
                <a:latin typeface="Arial"/>
              </a:rPr>
              <a:t>Les graines de lin libèrent à chaud un mucilage riche en oméga-3 végétaux et en polymères filmogènes naturels.</a:t>
            </a:r>
          </a:p>
          <a:p>
            <a:pPr>
              <a:spcAft>
                <a:spcPts val="400"/>
              </a:spcAft>
              <a:defRPr sz="1100" b="1">
                <a:solidFill>
                  <a:srgbClr val="2B3E63"/>
                </a:solidFill>
                <a:latin typeface="Arial"/>
              </a:defRPr>
            </a:pPr>
            <a:r>
              <a:t>Définition nette des boucles et twists : </a:t>
            </a:r>
            <a:r>
              <a:rPr sz="1100" b="0">
                <a:solidFill>
                  <a:srgbClr val="1C1B19"/>
                </a:solidFill>
                <a:latin typeface="Arial"/>
              </a:rPr>
              <a:t>En séchant sur la chevelure humide, le gel se rétracte légèrement et maintient le dessin de la boucle (curl definition) ou la tenue des vanilles pendant 4 à 6 jours.</a:t>
            </a:r>
          </a:p>
          <a:p>
            <a:pPr>
              <a:spcAft>
                <a:spcPts val="400"/>
              </a:spcAft>
              <a:defRPr sz="1100" b="1">
                <a:solidFill>
                  <a:srgbClr val="2B3E63"/>
                </a:solidFill>
                <a:latin typeface="Arial"/>
              </a:defRPr>
            </a:pPr>
            <a:r>
              <a:t>Zéro résidu blanc, zéro assèchement : </a:t>
            </a:r>
            <a:r>
              <a:rPr sz="1100" b="0">
                <a:solidFill>
                  <a:srgbClr val="1C1B19"/>
                </a:solidFill>
                <a:latin typeface="Arial"/>
              </a:rPr>
              <a:t>Contrairement aux gels du commerce bourrés d'alcool dénaturé et de PVP qui assèchent et s'effritent en pellicules blanches, le gel de lin laisse le cheveu brillant, souple et hydraté.</a:t>
            </a:r>
          </a:p>
        </p:txBody>
      </p:sp>
      <p:sp>
        <p:nvSpPr>
          <p:cNvPr id="9" name="Rounded Rectangle 8"/>
          <p:cNvSpPr/>
          <p:nvPr/>
        </p:nvSpPr>
        <p:spPr>
          <a:xfrm>
            <a:off x="626364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481328"/>
            <a:ext cx="4892040" cy="45720"/>
          </a:xfrm>
          <a:prstGeom prst="rect">
            <a:avLst/>
          </a:prstGeom>
          <a:solidFill>
            <a:srgbClr val="B88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45920"/>
            <a:ext cx="4709160" cy="3566160"/>
          </a:xfrm>
          <a:prstGeom prst="rect">
            <a:avLst/>
          </a:prstGeom>
          <a:noFill/>
        </p:spPr>
        <p:txBody>
          <a:bodyPr wrap="square" lIns="0" tIns="0" rIns="0" bIns="0">
            <a:spAutoFit/>
          </a:bodyPr>
          <a:lstStyle/>
          <a:p>
            <a:pPr>
              <a:spcAft>
                <a:spcPts val="800"/>
              </a:spcAft>
              <a:defRPr sz="1450" b="1">
                <a:solidFill>
                  <a:srgbClr val="B8862B"/>
                </a:solidFill>
                <a:latin typeface="Georgia"/>
              </a:defRPr>
            </a:pPr>
            <a:r>
              <a:t>Recette, Dosage &amp; Astuce de tenue</a:t>
            </a:r>
          </a:p>
          <a:p>
            <a:pPr>
              <a:spcAft>
                <a:spcPts val="400"/>
              </a:spcAft>
              <a:defRPr sz="1100" b="1">
                <a:solidFill>
                  <a:srgbClr val="B8862B"/>
                </a:solidFill>
                <a:latin typeface="Arial"/>
              </a:defRPr>
            </a:pPr>
            <a:r>
              <a:t>La recette inratable en 8 minutes : </a:t>
            </a:r>
            <a:r>
              <a:rPr sz="1100" b="0">
                <a:solidFill>
                  <a:srgbClr val="1C1B19"/>
                </a:solidFill>
                <a:latin typeface="Arial"/>
              </a:rPr>
              <a:t>Mettez 2 cuillères à soupe de graines de lin dans 1 grand verre d'eau (250 ml). Portez à ébullition douce pendant 7 à 8 minutes en remuant. Dès que l'écume blanche monte et que le liquide a la consistance d'un blanc d'œuf : coupez le feu et filtrez immédiatement à chaud à travers un bas en nylon.</a:t>
            </a:r>
          </a:p>
          <a:p>
            <a:pPr>
              <a:spcAft>
                <a:spcPts val="400"/>
              </a:spcAft>
              <a:defRPr sz="1100" b="1">
                <a:solidFill>
                  <a:srgbClr val="B8862B"/>
                </a:solidFill>
                <a:latin typeface="Arial"/>
              </a:defRPr>
            </a:pPr>
            <a:r>
              <a:t>Dosage : </a:t>
            </a:r>
            <a:r>
              <a:rPr sz="1100" b="0">
                <a:solidFill>
                  <a:srgbClr val="1C1B19"/>
                </a:solidFill>
                <a:latin typeface="Arial"/>
              </a:rPr>
              <a:t>1 cuillère à soupe pour cheveux courts · 2 à 4 cuillères pour cheveux longs, mèche par mèche sur cheveux mouillés.</a:t>
            </a:r>
          </a:p>
          <a:p>
            <a:pPr>
              <a:spcAft>
                <a:spcPts val="400"/>
              </a:spcAft>
              <a:defRPr sz="1100" b="1">
                <a:solidFill>
                  <a:srgbClr val="B8862B"/>
                </a:solidFill>
                <a:latin typeface="Arial"/>
              </a:defRPr>
            </a:pPr>
            <a:r>
              <a:t>Conservation : </a:t>
            </a:r>
            <a:r>
              <a:rPr sz="1100" b="0">
                <a:solidFill>
                  <a:srgbClr val="1C1B19"/>
                </a:solidFill>
                <a:latin typeface="Arial"/>
              </a:rPr>
              <a:t>1 à 2 semaines au réfrigérateur avec 3 gouttes d'huile essentielle de romarin.</a:t>
            </a:r>
          </a:p>
        </p:txBody>
      </p:sp>
      <p:sp>
        <p:nvSpPr>
          <p:cNvPr id="12" name="Rounded Rectangle 11"/>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Les graines filtrées peuvent être recongelées et réutilisées une seconde fois pour une nouvelle fournée de gel !</a:t>
            </a:r>
          </a:p>
        </p:txBody>
      </p:sp>
      <p:sp>
        <p:nvSpPr>
          <p:cNvPr id="14" name="Rectangle 13"/>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6" name="TextBox 15"/>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31 / 75</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FAMILLE 4 · L'HYDRATATION ENZYMATIQUE APAISANTE</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L'Aloé Vera frais du jardin (Aloe barbadensis)</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Badge : ○ TRADITION  ·  98 % d'eau pure structurée pour apaiser le crâne en feu.</a:t>
            </a:r>
          </a:p>
        </p:txBody>
      </p:sp>
      <p:sp>
        <p:nvSpPr>
          <p:cNvPr id="6" name="Rounded Rectangle 5"/>
          <p:cNvSpPr/>
          <p:nvPr/>
        </p:nvSpPr>
        <p:spPr>
          <a:xfrm>
            <a:off x="73152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4892040" cy="45720"/>
          </a:xfrm>
          <a:prstGeom prst="rect">
            <a:avLst/>
          </a:prstGeom>
          <a:solidFill>
            <a:srgbClr val="556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09160" cy="3566160"/>
          </a:xfrm>
          <a:prstGeom prst="rect">
            <a:avLst/>
          </a:prstGeom>
          <a:noFill/>
        </p:spPr>
        <p:txBody>
          <a:bodyPr wrap="square" lIns="0" tIns="0" rIns="0" bIns="0">
            <a:spAutoFit/>
          </a:bodyPr>
          <a:lstStyle/>
          <a:p>
            <a:pPr>
              <a:spcAft>
                <a:spcPts val="800"/>
              </a:spcAft>
              <a:defRPr sz="1450" b="1">
                <a:solidFill>
                  <a:srgbClr val="55663A"/>
                </a:solidFill>
                <a:latin typeface="Georgia"/>
              </a:defRPr>
            </a:pPr>
            <a:r>
              <a:t>Ce qu'il fait et POURQUOI ça marche</a:t>
            </a:r>
          </a:p>
          <a:p>
            <a:pPr>
              <a:spcAft>
                <a:spcPts val="400"/>
              </a:spcAft>
              <a:defRPr sz="1100" b="1">
                <a:solidFill>
                  <a:srgbClr val="55663A"/>
                </a:solidFill>
                <a:latin typeface="Arial"/>
              </a:defRPr>
            </a:pPr>
            <a:r>
              <a:t>L'eau vivante végétale : </a:t>
            </a:r>
            <a:r>
              <a:rPr sz="1100" b="0">
                <a:solidFill>
                  <a:srgbClr val="1C1B19"/>
                </a:solidFill>
                <a:latin typeface="Arial"/>
              </a:rPr>
              <a:t>Le mucilage transparent de la feuille d'aloé contient 98 % d'eau liée à des polysaccharides (acémannane), 20 minéraux, 18 acides aminés et des vitamines B et C.</a:t>
            </a:r>
          </a:p>
          <a:p>
            <a:pPr>
              <a:spcAft>
                <a:spcPts val="400"/>
              </a:spcAft>
              <a:defRPr sz="1100" b="1">
                <a:solidFill>
                  <a:srgbClr val="55663A"/>
                </a:solidFill>
                <a:latin typeface="Arial"/>
              </a:defRPr>
            </a:pPr>
            <a:r>
              <a:t>pH acide naturel régulateur (pH 4,5) : </a:t>
            </a:r>
            <a:r>
              <a:rPr sz="1100" b="0">
                <a:solidFill>
                  <a:srgbClr val="1C1B19"/>
                </a:solidFill>
                <a:latin typeface="Arial"/>
              </a:rPr>
              <a:t>Son acidité physiologique referme instantanément les écailles et restaure le film hydrolipidique protecteur du cuir chevelu.</a:t>
            </a:r>
          </a:p>
          <a:p>
            <a:pPr>
              <a:spcAft>
                <a:spcPts val="400"/>
              </a:spcAft>
              <a:defRPr sz="1100" b="1">
                <a:solidFill>
                  <a:srgbClr val="55663A"/>
                </a:solidFill>
                <a:latin typeface="Arial"/>
              </a:defRPr>
            </a:pPr>
            <a:r>
              <a:t>Anti-inflammatoire et antiprurigineux : </a:t>
            </a:r>
            <a:r>
              <a:rPr sz="1100" b="0">
                <a:solidFill>
                  <a:srgbClr val="1C1B19"/>
                </a:solidFill>
                <a:latin typeface="Arial"/>
              </a:rPr>
              <a:t>Apaise immédiatement les démangeaisons, tiraillements et échauffements provoqués par la pose de tresses ou le soleil d'Afrique.</a:t>
            </a:r>
          </a:p>
        </p:txBody>
      </p:sp>
      <p:sp>
        <p:nvSpPr>
          <p:cNvPr id="9" name="Rounded Rectangle 8"/>
          <p:cNvSpPr/>
          <p:nvPr/>
        </p:nvSpPr>
        <p:spPr>
          <a:xfrm>
            <a:off x="626364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481328"/>
            <a:ext cx="4892040" cy="45720"/>
          </a:xfrm>
          <a:prstGeom prst="rect">
            <a:avLst/>
          </a:prstGeom>
          <a:solidFill>
            <a:srgbClr val="A85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45920"/>
            <a:ext cx="4709160" cy="3566160"/>
          </a:xfrm>
          <a:prstGeom prst="rect">
            <a:avLst/>
          </a:prstGeom>
          <a:noFill/>
        </p:spPr>
        <p:txBody>
          <a:bodyPr wrap="square" lIns="0" tIns="0" rIns="0" bIns="0">
            <a:spAutoFit/>
          </a:bodyPr>
          <a:lstStyle/>
          <a:p>
            <a:pPr>
              <a:spcAft>
                <a:spcPts val="800"/>
              </a:spcAft>
              <a:defRPr sz="1450" b="1">
                <a:solidFill>
                  <a:srgbClr val="A85236"/>
                </a:solidFill>
                <a:latin typeface="Georgia"/>
              </a:defRPr>
            </a:pPr>
            <a:r>
              <a:t>Préparation impérative &amp; Recette de spray</a:t>
            </a:r>
          </a:p>
          <a:p>
            <a:pPr>
              <a:spcAft>
                <a:spcPts val="400"/>
              </a:spcAft>
              <a:defRPr sz="1100" b="1">
                <a:solidFill>
                  <a:srgbClr val="A85236"/>
                </a:solidFill>
                <a:latin typeface="Arial"/>
              </a:defRPr>
            </a:pPr>
            <a:r>
              <a:t>Attention : LA PRÉCAUTION DE L'ALOÏNE (JAUNE) : </a:t>
            </a:r>
            <a:r>
              <a:rPr sz="1100" b="0">
                <a:solidFill>
                  <a:srgbClr val="1C1B19"/>
                </a:solidFill>
                <a:latin typeface="Arial"/>
              </a:rPr>
              <a:t>Coupez la base de la feuille et laissez-la tremper debout dans un verre d'eau pendant 15 minutes. Un liquide jaune amer et toxique (l'aloïne, très irritante) s'écoule. Jetez ce liquide et ne gardez que le gel cristal transparent au centre !</a:t>
            </a:r>
          </a:p>
          <a:p>
            <a:pPr>
              <a:spcAft>
                <a:spcPts val="400"/>
              </a:spcAft>
              <a:defRPr sz="1100" b="1">
                <a:solidFill>
                  <a:srgbClr val="A85236"/>
                </a:solidFill>
                <a:latin typeface="Arial"/>
              </a:defRPr>
            </a:pPr>
            <a:r>
              <a:t>La recette du spray quotidien magique : </a:t>
            </a:r>
            <a:r>
              <a:rPr sz="1100" b="0">
                <a:solidFill>
                  <a:srgbClr val="1C1B19"/>
                </a:solidFill>
                <a:latin typeface="Arial"/>
              </a:rPr>
              <a:t>Mixez 2 c. à soupe de gel cristal avec 1 verre d'eau de source et 1 c. à café d'huile de coco ou de sésame. Filtrez au collant.</a:t>
            </a:r>
          </a:p>
          <a:p>
            <a:pPr>
              <a:spcAft>
                <a:spcPts val="400"/>
              </a:spcAft>
              <a:defRPr sz="1100" b="1">
                <a:solidFill>
                  <a:srgbClr val="A85236"/>
                </a:solidFill>
                <a:latin typeface="Arial"/>
              </a:defRPr>
            </a:pPr>
            <a:r>
              <a:t>Utilisation sous tresses : </a:t>
            </a:r>
            <a:r>
              <a:rPr sz="1100" b="0">
                <a:solidFill>
                  <a:srgbClr val="1C1B19"/>
                </a:solidFill>
                <a:latin typeface="Arial"/>
              </a:rPr>
              <a:t>Vaporisez entre les raies 2 à 3 fois par semaine pour garder le cuir chevelu frais et sans pellicules.</a:t>
            </a:r>
          </a:p>
        </p:txBody>
      </p:sp>
      <p:sp>
        <p:nvSpPr>
          <p:cNvPr id="12" name="Rounded Rectangle 11"/>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Utilisez toujours la feuille fraîche de votre cour ou du marché. Les gels industriels en tube contiennent souvent 90 % d'eau ordinaire épaissie aux polymères.</a:t>
            </a:r>
          </a:p>
        </p:txBody>
      </p:sp>
      <p:sp>
        <p:nvSpPr>
          <p:cNvPr id="14" name="Rectangle 13"/>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6" name="TextBox 15"/>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32 / 75</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FAMILLE 4 · BOTANIQUE CULINAIRE LOCALE</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Infusion de Bissap &amp; Feuilles de Jute (Ewedu)</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Deux ingrédients du marché de Dantokpa aux vertus capillaires méconnues.</a:t>
            </a:r>
          </a:p>
        </p:txBody>
      </p:sp>
      <p:sp>
        <p:nvSpPr>
          <p:cNvPr id="6" name="Rounded Rectangle 5"/>
          <p:cNvSpPr/>
          <p:nvPr/>
        </p:nvSpPr>
        <p:spPr>
          <a:xfrm>
            <a:off x="73152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4892040" cy="45720"/>
          </a:xfrm>
          <a:prstGeom prst="rect">
            <a:avLst/>
          </a:prstGeom>
          <a:solidFill>
            <a:srgbClr val="A85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09160" cy="3566160"/>
          </a:xfrm>
          <a:prstGeom prst="rect">
            <a:avLst/>
          </a:prstGeom>
          <a:noFill/>
        </p:spPr>
        <p:txBody>
          <a:bodyPr wrap="square" lIns="0" tIns="0" rIns="0" bIns="0">
            <a:spAutoFit/>
          </a:bodyPr>
          <a:lstStyle/>
          <a:p>
            <a:pPr>
              <a:spcAft>
                <a:spcPts val="800"/>
              </a:spcAft>
              <a:defRPr sz="1450" b="1">
                <a:solidFill>
                  <a:srgbClr val="A85236"/>
                </a:solidFill>
                <a:latin typeface="Georgia"/>
              </a:defRPr>
            </a:pPr>
            <a:r>
              <a:t>L'Infusion de Fleurs de Bissap (◐ PROMETTEUR)</a:t>
            </a:r>
          </a:p>
          <a:p>
            <a:pPr>
              <a:spcAft>
                <a:spcPts val="400"/>
              </a:spcAft>
              <a:defRPr sz="1100" b="1">
                <a:solidFill>
                  <a:srgbClr val="A85236"/>
                </a:solidFill>
                <a:latin typeface="Arial"/>
              </a:defRPr>
            </a:pPr>
            <a:r>
              <a:t>Richesse en acides de fruits et vitamine C : </a:t>
            </a:r>
            <a:r>
              <a:rPr sz="1100" b="0">
                <a:solidFill>
                  <a:srgbClr val="1C1B19"/>
                </a:solidFill>
                <a:latin typeface="Arial"/>
              </a:rPr>
              <a:t>Les calices d'Hibiscus sabdariffa sont saturés d'acides citrique et malique qui resserrent les écailles comme un miroir.</a:t>
            </a:r>
          </a:p>
          <a:p>
            <a:pPr>
              <a:spcAft>
                <a:spcPts val="400"/>
              </a:spcAft>
              <a:defRPr sz="1100" b="1">
                <a:solidFill>
                  <a:srgbClr val="A85236"/>
                </a:solidFill>
                <a:latin typeface="Arial"/>
              </a:defRPr>
            </a:pPr>
            <a:r>
              <a:t>Stimulation de la pousse : </a:t>
            </a:r>
            <a:r>
              <a:rPr sz="1100" b="0">
                <a:solidFill>
                  <a:srgbClr val="1C1B19"/>
                </a:solidFill>
                <a:latin typeface="Arial"/>
              </a:rPr>
              <a:t>Favorise la microcirculation sanguine au niveau du bulbe et lutte contre l'affinement prématuré de la chevelure.</a:t>
            </a:r>
          </a:p>
          <a:p>
            <a:pPr>
              <a:spcAft>
                <a:spcPts val="400"/>
              </a:spcAft>
              <a:defRPr sz="1100" b="1">
                <a:solidFill>
                  <a:srgbClr val="A85236"/>
                </a:solidFill>
                <a:latin typeface="Arial"/>
              </a:defRPr>
            </a:pPr>
            <a:r>
              <a:t>Recette de dernière eau de rinçage : </a:t>
            </a:r>
            <a:r>
              <a:rPr sz="1100" b="0">
                <a:solidFill>
                  <a:srgbClr val="1C1B19"/>
                </a:solidFill>
                <a:latin typeface="Arial"/>
              </a:rPr>
              <a:t>Faites infuser 1 poignée de fleurs séchées dans 500 ml d'eau bouillante pendant 15 minutes. Laissez refroidir, filtrez. Utilisez en dernier rinçage sur cheveux sombres pour une brillance spectaculaire.</a:t>
            </a:r>
          </a:p>
        </p:txBody>
      </p:sp>
      <p:sp>
        <p:nvSpPr>
          <p:cNvPr id="9" name="Rounded Rectangle 8"/>
          <p:cNvSpPr/>
          <p:nvPr/>
        </p:nvSpPr>
        <p:spPr>
          <a:xfrm>
            <a:off x="626364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481328"/>
            <a:ext cx="4892040" cy="45720"/>
          </a:xfrm>
          <a:prstGeom prst="rect">
            <a:avLst/>
          </a:prstGeom>
          <a:solidFill>
            <a:srgbClr val="556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45920"/>
            <a:ext cx="4709160" cy="3566160"/>
          </a:xfrm>
          <a:prstGeom prst="rect">
            <a:avLst/>
          </a:prstGeom>
          <a:noFill/>
        </p:spPr>
        <p:txBody>
          <a:bodyPr wrap="square" lIns="0" tIns="0" rIns="0" bIns="0">
            <a:spAutoFit/>
          </a:bodyPr>
          <a:lstStyle/>
          <a:p>
            <a:pPr>
              <a:spcAft>
                <a:spcPts val="800"/>
              </a:spcAft>
              <a:defRPr sz="1450" b="1">
                <a:solidFill>
                  <a:srgbClr val="55663A"/>
                </a:solidFill>
                <a:latin typeface="Georgia"/>
              </a:defRPr>
            </a:pPr>
            <a:r>
              <a:t>Les Feuilles de Jute / Ewedu / Crin-crin (○ TRADITION)</a:t>
            </a:r>
          </a:p>
          <a:p>
            <a:pPr>
              <a:spcAft>
                <a:spcPts val="400"/>
              </a:spcAft>
              <a:defRPr sz="1100" b="1">
                <a:solidFill>
                  <a:srgbClr val="55663A"/>
                </a:solidFill>
                <a:latin typeface="Arial"/>
              </a:defRPr>
            </a:pPr>
            <a:r>
              <a:t>Le secret démêlant pour enfants : </a:t>
            </a:r>
            <a:r>
              <a:rPr sz="1100" b="0">
                <a:solidFill>
                  <a:srgbClr val="1C1B19"/>
                </a:solidFill>
                <a:latin typeface="Arial"/>
              </a:rPr>
              <a:t>Les feuilles de Corchorus olitorius (appelées crin-crin au Bénin, ewedu au Nigéria) produisent un mucilage extrêmement glissant.</a:t>
            </a:r>
          </a:p>
          <a:p>
            <a:pPr>
              <a:spcAft>
                <a:spcPts val="400"/>
              </a:spcAft>
              <a:defRPr sz="1100" b="1">
                <a:solidFill>
                  <a:srgbClr val="55663A"/>
                </a:solidFill>
                <a:latin typeface="Arial"/>
              </a:defRPr>
            </a:pPr>
            <a:r>
              <a:t>Alternative sans aucun coût au gombo : </a:t>
            </a:r>
            <a:r>
              <a:rPr sz="1100" b="0">
                <a:solidFill>
                  <a:srgbClr val="1C1B19"/>
                </a:solidFill>
                <a:latin typeface="Arial"/>
              </a:rPr>
              <a:t>Écrasez une poignée de feuilles fraîches dans un peu d'eau tiède pour extraire le suc gluant.</a:t>
            </a:r>
          </a:p>
          <a:p>
            <a:pPr>
              <a:spcAft>
                <a:spcPts val="400"/>
              </a:spcAft>
              <a:defRPr sz="1100" b="1">
                <a:solidFill>
                  <a:srgbClr val="55663A"/>
                </a:solidFill>
                <a:latin typeface="Arial"/>
              </a:defRPr>
            </a:pPr>
            <a:r>
              <a:t>Application : </a:t>
            </a:r>
            <a:r>
              <a:rPr sz="1100" b="0">
                <a:solidFill>
                  <a:srgbClr val="1C1B19"/>
                </a:solidFill>
                <a:latin typeface="Arial"/>
              </a:rPr>
              <a:t>Idéal pour démêler la chevelure fragile des petites filles sans douleur et sans larmes avant de réaliser des nattes collées.</a:t>
            </a:r>
          </a:p>
        </p:txBody>
      </p:sp>
      <p:sp>
        <p:nvSpPr>
          <p:cNvPr id="12" name="Rounded Rectangle 11"/>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La cuisine africaine regorge d'actifs de classe mondiale : nos grands-mères avaient tout compris bien avant les laboratoires de cosmétique moderne.</a:t>
            </a:r>
          </a:p>
        </p:txBody>
      </p:sp>
      <p:sp>
        <p:nvSpPr>
          <p:cNvPr id="14" name="Rectangle 13"/>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6" name="TextBox 15"/>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33 / 75</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FAMILLE 5 · PROTÉINES &amp; RECONSTRUCTION</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Le Soin Protéiné à l'Œuf entier</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Badge : ◐ PROMETTEUR  ·  Le plâtre d'urgence des chevelures élastiques et cassantes.</a:t>
            </a:r>
          </a:p>
        </p:txBody>
      </p:sp>
      <p:sp>
        <p:nvSpPr>
          <p:cNvPr id="6" name="Rounded Rectangle 5"/>
          <p:cNvSpPr/>
          <p:nvPr/>
        </p:nvSpPr>
        <p:spPr>
          <a:xfrm>
            <a:off x="73152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4892040" cy="45720"/>
          </a:xfrm>
          <a:prstGeom prst="rect">
            <a:avLst/>
          </a:prstGeom>
          <a:solidFill>
            <a:srgbClr val="2B3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09160" cy="3566160"/>
          </a:xfrm>
          <a:prstGeom prst="rect">
            <a:avLst/>
          </a:prstGeom>
          <a:noFill/>
        </p:spPr>
        <p:txBody>
          <a:bodyPr wrap="square" lIns="0" tIns="0" rIns="0" bIns="0">
            <a:spAutoFit/>
          </a:bodyPr>
          <a:lstStyle/>
          <a:p>
            <a:pPr>
              <a:spcAft>
                <a:spcPts val="800"/>
              </a:spcAft>
              <a:defRPr sz="1450" b="1">
                <a:solidFill>
                  <a:srgbClr val="2B3E63"/>
                </a:solidFill>
                <a:latin typeface="Georgia"/>
              </a:defRPr>
            </a:pPr>
            <a:r>
              <a:t>Ce qu'il fait et POURQUOI ça marche</a:t>
            </a:r>
          </a:p>
          <a:p>
            <a:pPr>
              <a:spcAft>
                <a:spcPts val="400"/>
              </a:spcAft>
              <a:defRPr sz="1100" b="1">
                <a:solidFill>
                  <a:srgbClr val="2B3E63"/>
                </a:solidFill>
                <a:latin typeface="Arial"/>
              </a:defRPr>
            </a:pPr>
            <a:r>
              <a:t>L'apport d'ovalbumine et de lécithine : </a:t>
            </a:r>
            <a:r>
              <a:rPr sz="1100" b="0">
                <a:solidFill>
                  <a:srgbClr val="1C1B19"/>
                </a:solidFill>
                <a:latin typeface="Arial"/>
              </a:rPr>
              <a:t>Le blanc d'œuf apporte des protéines pures solubles ; le jaune apporte des lipides émulsifiants et de la biotine (vitamine B8).</a:t>
            </a:r>
          </a:p>
          <a:p>
            <a:pPr>
              <a:spcAft>
                <a:spcPts val="400"/>
              </a:spcAft>
              <a:defRPr sz="1100" b="1">
                <a:solidFill>
                  <a:srgbClr val="2B3E63"/>
                </a:solidFill>
                <a:latin typeface="Arial"/>
              </a:defRPr>
            </a:pPr>
            <a:r>
              <a:t>Le comblement temporaire des fissures : </a:t>
            </a:r>
            <a:r>
              <a:rPr sz="1100" b="0">
                <a:solidFill>
                  <a:srgbClr val="1C1B19"/>
                </a:solidFill>
                <a:latin typeface="Arial"/>
              </a:rPr>
              <a:t>Les molécules de protéines de l'œuf se déposent sur les zones abîmées de la cuticule. Elles forment un pansement temporaire qui redonne du corps et de la résistance à la tige.</a:t>
            </a:r>
          </a:p>
          <a:p>
            <a:pPr>
              <a:spcAft>
                <a:spcPts val="400"/>
              </a:spcAft>
              <a:defRPr sz="1100" b="1">
                <a:solidFill>
                  <a:srgbClr val="2B3E63"/>
                </a:solidFill>
                <a:latin typeface="Arial"/>
              </a:defRPr>
            </a:pPr>
            <a:r>
              <a:t>L'effet gainant immédiat : </a:t>
            </a:r>
            <a:r>
              <a:rPr sz="1100" b="0">
                <a:solidFill>
                  <a:srgbClr val="1C1B19"/>
                </a:solidFill>
                <a:latin typeface="Arial"/>
              </a:rPr>
              <a:t>Dès le premier soin, le cheveu semble deux fois plus épais et cesse de s'étirer comme du chewing-gum.</a:t>
            </a:r>
          </a:p>
        </p:txBody>
      </p:sp>
      <p:sp>
        <p:nvSpPr>
          <p:cNvPr id="9" name="Rounded Rectangle 8"/>
          <p:cNvSpPr/>
          <p:nvPr/>
        </p:nvSpPr>
        <p:spPr>
          <a:xfrm>
            <a:off x="626364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481328"/>
            <a:ext cx="4892040" cy="45720"/>
          </a:xfrm>
          <a:prstGeom prst="rect">
            <a:avLst/>
          </a:prstGeom>
          <a:solidFill>
            <a:srgbClr val="A85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45920"/>
            <a:ext cx="4709160" cy="3566160"/>
          </a:xfrm>
          <a:prstGeom prst="rect">
            <a:avLst/>
          </a:prstGeom>
          <a:noFill/>
        </p:spPr>
        <p:txBody>
          <a:bodyPr wrap="square" lIns="0" tIns="0" rIns="0" bIns="0">
            <a:spAutoFit/>
          </a:bodyPr>
          <a:lstStyle/>
          <a:p>
            <a:pPr>
              <a:spcAft>
                <a:spcPts val="800"/>
              </a:spcAft>
              <a:defRPr sz="1450" b="1">
                <a:solidFill>
                  <a:srgbClr val="A85236"/>
                </a:solidFill>
                <a:latin typeface="Georgia"/>
              </a:defRPr>
            </a:pPr>
            <a:r>
              <a:t>Recette, Fréquence &amp; Règle de température</a:t>
            </a:r>
          </a:p>
          <a:p>
            <a:pPr>
              <a:spcAft>
                <a:spcPts val="400"/>
              </a:spcAft>
              <a:defRPr sz="1100" b="1">
                <a:solidFill>
                  <a:srgbClr val="A85236"/>
                </a:solidFill>
                <a:latin typeface="Arial"/>
              </a:defRPr>
            </a:pPr>
            <a:r>
              <a:t>La recette équilibrée : </a:t>
            </a:r>
            <a:r>
              <a:rPr sz="1100" b="0">
                <a:solidFill>
                  <a:srgbClr val="1C1B19"/>
                </a:solidFill>
                <a:latin typeface="Arial"/>
              </a:rPr>
              <a:t>1 œuf entier battu énergiquement + 1 c. à soupe d'huile d'olive + 1 c. à café de miel pur. Bien homogénéiser.</a:t>
            </a:r>
          </a:p>
          <a:p>
            <a:pPr>
              <a:spcAft>
                <a:spcPts val="400"/>
              </a:spcAft>
              <a:defRPr sz="1100" b="1">
                <a:solidFill>
                  <a:srgbClr val="A85236"/>
                </a:solidFill>
                <a:latin typeface="Arial"/>
              </a:defRPr>
            </a:pPr>
            <a:r>
              <a:t>Attention : RÈGLE DE RINÇAGE VITALE (EAU TIÈDE OU FROIDE) : </a:t>
            </a:r>
            <a:r>
              <a:rPr sz="1100" b="0">
                <a:solidFill>
                  <a:srgbClr val="1C1B19"/>
                </a:solidFill>
                <a:latin typeface="Arial"/>
              </a:rPr>
              <a:t>Ne rincez JAMAIS un masque à l'œuf avec de l'eau chaude ! À partir de 45 °C, l'œuf cuit instantanément dans vos cheveux : vous vous retrouverez avec des morceaux d'omelette collés impossibles à enlever sans arracher les mèches.</a:t>
            </a:r>
          </a:p>
          <a:p>
            <a:pPr>
              <a:spcAft>
                <a:spcPts val="400"/>
              </a:spcAft>
              <a:defRPr sz="1100" b="1">
                <a:solidFill>
                  <a:srgbClr val="A85236"/>
                </a:solidFill>
                <a:latin typeface="Arial"/>
              </a:defRPr>
            </a:pPr>
            <a:r>
              <a:t>Fréquence stricte : </a:t>
            </a:r>
            <a:r>
              <a:rPr sz="1100" b="0">
                <a:solidFill>
                  <a:srgbClr val="1C1B19"/>
                </a:solidFill>
                <a:latin typeface="Arial"/>
              </a:rPr>
              <a:t>1 fois par mois maximum (ou tous les 2 mois sur cheveux sains). Un excès de protéines durcit le cheveu et le casse net.</a:t>
            </a:r>
          </a:p>
          <a:p>
            <a:pPr>
              <a:spcAft>
                <a:spcPts val="400"/>
              </a:spcAft>
              <a:defRPr sz="1100" b="1">
                <a:solidFill>
                  <a:srgbClr val="A85236"/>
                </a:solidFill>
                <a:latin typeface="Arial"/>
              </a:defRPr>
            </a:pPr>
            <a:r>
              <a:t>Coût : </a:t>
            </a:r>
            <a:r>
              <a:rPr sz="1100" b="0">
                <a:solidFill>
                  <a:srgbClr val="1C1B19"/>
                </a:solidFill>
                <a:latin typeface="Arial"/>
              </a:rPr>
              <a:t>100 à 120 FCFA.</a:t>
            </a:r>
          </a:p>
        </p:txBody>
      </p:sp>
      <p:sp>
        <p:nvSpPr>
          <p:cNvPr id="12" name="Rounded Rectangle 11"/>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L'œuf est un reconstructeur d'urgence, pas un soin de confort. À réserver aux lendemains de détresse ou après défrisage.</a:t>
            </a:r>
          </a:p>
        </p:txBody>
      </p:sp>
      <p:sp>
        <p:nvSpPr>
          <p:cNvPr id="14" name="Rectangle 13"/>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6" name="TextBox 15"/>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34 / 75</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FAMILLE 5 · ACIDE LACTIQUE &amp; NETTOYAGE DOUX</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Le Yaourt Nature &amp; Lait caillé local</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Badge : ○ TRADITION  ·  Le lissage cuticulaire doux et l'assainissement du cuir chevelu.</a:t>
            </a:r>
          </a:p>
        </p:txBody>
      </p:sp>
      <p:sp>
        <p:nvSpPr>
          <p:cNvPr id="6" name="Rounded Rectangle 5"/>
          <p:cNvSpPr/>
          <p:nvPr/>
        </p:nvSpPr>
        <p:spPr>
          <a:xfrm>
            <a:off x="73152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4892040" cy="45720"/>
          </a:xfrm>
          <a:prstGeom prst="rect">
            <a:avLst/>
          </a:prstGeom>
          <a:solidFill>
            <a:srgbClr val="556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09160" cy="3566160"/>
          </a:xfrm>
          <a:prstGeom prst="rect">
            <a:avLst/>
          </a:prstGeom>
          <a:noFill/>
        </p:spPr>
        <p:txBody>
          <a:bodyPr wrap="square" lIns="0" tIns="0" rIns="0" bIns="0">
            <a:spAutoFit/>
          </a:bodyPr>
          <a:lstStyle/>
          <a:p>
            <a:pPr>
              <a:spcAft>
                <a:spcPts val="800"/>
              </a:spcAft>
              <a:defRPr sz="1450" b="1">
                <a:solidFill>
                  <a:srgbClr val="55663A"/>
                </a:solidFill>
                <a:latin typeface="Georgia"/>
              </a:defRPr>
            </a:pPr>
            <a:r>
              <a:t>Ce qu'il fait et POURQUOI ça marche</a:t>
            </a:r>
          </a:p>
          <a:p>
            <a:pPr>
              <a:spcAft>
                <a:spcPts val="400"/>
              </a:spcAft>
              <a:defRPr sz="1100" b="1">
                <a:solidFill>
                  <a:srgbClr val="55663A"/>
                </a:solidFill>
                <a:latin typeface="Arial"/>
              </a:defRPr>
            </a:pPr>
            <a:r>
              <a:t>La puissance de l'acide lactique (AHA naturel) : </a:t>
            </a:r>
            <a:r>
              <a:rPr sz="1100" b="0">
                <a:solidFill>
                  <a:srgbClr val="1C1B19"/>
                </a:solidFill>
                <a:latin typeface="Arial"/>
              </a:rPr>
              <a:t>L'acide lactique présent dans les produits laitiers fermentés dissout en douceur les cellules mortes et les résidus de sébum qui bouchent les pores du cuir chevelu.</a:t>
            </a:r>
          </a:p>
          <a:p>
            <a:pPr>
              <a:spcAft>
                <a:spcPts val="400"/>
              </a:spcAft>
              <a:defRPr sz="1100" b="1">
                <a:solidFill>
                  <a:srgbClr val="55663A"/>
                </a:solidFill>
                <a:latin typeface="Arial"/>
              </a:defRPr>
            </a:pPr>
            <a:r>
              <a:t>Fermeture mécanique des cuticules : </a:t>
            </a:r>
            <a:r>
              <a:rPr sz="1100" b="0">
                <a:solidFill>
                  <a:srgbClr val="1C1B19"/>
                </a:solidFill>
                <a:latin typeface="Arial"/>
              </a:rPr>
              <a:t>Son pH naturellement acide (pH 4 à 4,5) referme les écailles soulevées et élimine la rugosité au toucher.</a:t>
            </a:r>
          </a:p>
          <a:p>
            <a:pPr>
              <a:spcAft>
                <a:spcPts val="400"/>
              </a:spcAft>
              <a:defRPr sz="1100" b="1">
                <a:solidFill>
                  <a:srgbClr val="55663A"/>
                </a:solidFill>
                <a:latin typeface="Arial"/>
              </a:defRPr>
            </a:pPr>
            <a:r>
              <a:t>Protéines de lactosérum douces : </a:t>
            </a:r>
            <a:r>
              <a:rPr sz="1100" b="0">
                <a:solidFill>
                  <a:srgbClr val="1C1B19"/>
                </a:solidFill>
                <a:latin typeface="Arial"/>
              </a:rPr>
              <a:t>Contrairement à l'œuf qui peut durcir la fibre, les protéines de lait sont plus douces et conviennent parfaitement aux cheveux à porosité basse.</a:t>
            </a:r>
          </a:p>
        </p:txBody>
      </p:sp>
      <p:sp>
        <p:nvSpPr>
          <p:cNvPr id="9" name="Rounded Rectangle 8"/>
          <p:cNvSpPr/>
          <p:nvPr/>
        </p:nvSpPr>
        <p:spPr>
          <a:xfrm>
            <a:off x="626364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481328"/>
            <a:ext cx="4892040" cy="45720"/>
          </a:xfrm>
          <a:prstGeom prst="rect">
            <a:avLst/>
          </a:prstGeom>
          <a:solidFill>
            <a:srgbClr val="B88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45920"/>
            <a:ext cx="4709160" cy="3566160"/>
          </a:xfrm>
          <a:prstGeom prst="rect">
            <a:avLst/>
          </a:prstGeom>
          <a:noFill/>
        </p:spPr>
        <p:txBody>
          <a:bodyPr wrap="square" lIns="0" tIns="0" rIns="0" bIns="0">
            <a:spAutoFit/>
          </a:bodyPr>
          <a:lstStyle/>
          <a:p>
            <a:pPr>
              <a:spcAft>
                <a:spcPts val="800"/>
              </a:spcAft>
              <a:defRPr sz="1450" b="1">
                <a:solidFill>
                  <a:srgbClr val="B8862B"/>
                </a:solidFill>
                <a:latin typeface="Georgia"/>
              </a:defRPr>
            </a:pPr>
            <a:r>
              <a:t>Recette du masque fondant &amp; Utilisation</a:t>
            </a:r>
          </a:p>
          <a:p>
            <a:pPr>
              <a:spcAft>
                <a:spcPts val="400"/>
              </a:spcAft>
              <a:defRPr sz="1100" b="1">
                <a:solidFill>
                  <a:srgbClr val="B8862B"/>
                </a:solidFill>
                <a:latin typeface="Arial"/>
              </a:defRPr>
            </a:pPr>
            <a:r>
              <a:t>La recette clarifiante et hydratante : </a:t>
            </a:r>
            <a:r>
              <a:rPr sz="1100" b="0">
                <a:solidFill>
                  <a:srgbClr val="1C1B19"/>
                </a:solidFill>
                <a:latin typeface="Arial"/>
              </a:rPr>
              <a:t>4 cuillères à soupe de yaourt nature entier (non sucré) ou de lait caillé frais + 1 cuillère à soupe de miel pur + 1 cuillère à café d'huile de coco.</a:t>
            </a:r>
          </a:p>
          <a:p>
            <a:pPr>
              <a:spcAft>
                <a:spcPts val="400"/>
              </a:spcAft>
              <a:defRPr sz="1100" b="1">
                <a:solidFill>
                  <a:srgbClr val="B8862B"/>
                </a:solidFill>
                <a:latin typeface="Arial"/>
              </a:defRPr>
            </a:pPr>
            <a:r>
              <a:t>Temps de pose : </a:t>
            </a:r>
            <a:r>
              <a:rPr sz="1100" b="0">
                <a:solidFill>
                  <a:srgbClr val="1C1B19"/>
                </a:solidFill>
                <a:latin typeface="Arial"/>
              </a:rPr>
              <a:t>20 minutes sous charlotte, puis rinçage tiède soigné.</a:t>
            </a:r>
          </a:p>
          <a:p>
            <a:pPr>
              <a:spcAft>
                <a:spcPts val="400"/>
              </a:spcAft>
              <a:defRPr sz="1100" b="1">
                <a:solidFill>
                  <a:srgbClr val="B8862B"/>
                </a:solidFill>
                <a:latin typeface="Arial"/>
              </a:defRPr>
            </a:pPr>
            <a:r>
              <a:t>Indication reine : </a:t>
            </a:r>
            <a:r>
              <a:rPr sz="1100" b="0">
                <a:solidFill>
                  <a:srgbClr val="1C1B19"/>
                </a:solidFill>
                <a:latin typeface="Arial"/>
              </a:rPr>
              <a:t>Idéal pour assainir un cuir chevelu qui démange après avoir porté des tresses pendant un mois.</a:t>
            </a:r>
          </a:p>
          <a:p>
            <a:pPr>
              <a:spcAft>
                <a:spcPts val="400"/>
              </a:spcAft>
              <a:defRPr sz="1100" b="1">
                <a:solidFill>
                  <a:srgbClr val="B8862B"/>
                </a:solidFill>
                <a:latin typeface="Arial"/>
              </a:defRPr>
            </a:pPr>
            <a:r>
              <a:t>Attention : Précaution : </a:t>
            </a:r>
            <a:r>
              <a:rPr sz="1100" b="0">
                <a:solidFill>
                  <a:srgbClr val="1C1B19"/>
                </a:solidFill>
                <a:latin typeface="Arial"/>
              </a:rPr>
              <a:t>Bien rincer à grande eau tiède pour éviter toute odeur acide résiduelle en séchant.</a:t>
            </a:r>
          </a:p>
        </p:txBody>
      </p:sp>
      <p:sp>
        <p:nvSpPr>
          <p:cNvPr id="12" name="Rounded Rectangle 11"/>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Le yaourt nature est le meilleur soin de transition après la dépose de tresses pour décoller la poussière accumulée à la racine.</a:t>
            </a:r>
          </a:p>
        </p:txBody>
      </p:sp>
      <p:sp>
        <p:nvSpPr>
          <p:cNvPr id="14" name="Rectangle 13"/>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6" name="TextBox 15"/>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35 / 75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FAMILLE 5 · LA CURE ASIATIQUE ADAPTÉE AU 4C</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L'Eau de Riz fermentée (La méthode Yao)</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Badge : ◐ PROMETTEUR  ·  Une cure de force à manier avec discernement.</a:t>
            </a:r>
          </a:p>
        </p:txBody>
      </p:sp>
      <p:sp>
        <p:nvSpPr>
          <p:cNvPr id="6" name="Rounded Rectangle 5"/>
          <p:cNvSpPr/>
          <p:nvPr/>
        </p:nvSpPr>
        <p:spPr>
          <a:xfrm>
            <a:off x="73152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4892040" cy="45720"/>
          </a:xfrm>
          <a:prstGeom prst="rect">
            <a:avLst/>
          </a:prstGeom>
          <a:solidFill>
            <a:srgbClr val="2B3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09160" cy="3566160"/>
          </a:xfrm>
          <a:prstGeom prst="rect">
            <a:avLst/>
          </a:prstGeom>
          <a:noFill/>
        </p:spPr>
        <p:txBody>
          <a:bodyPr wrap="square" lIns="0" tIns="0" rIns="0" bIns="0">
            <a:spAutoFit/>
          </a:bodyPr>
          <a:lstStyle/>
          <a:p>
            <a:pPr>
              <a:spcAft>
                <a:spcPts val="800"/>
              </a:spcAft>
              <a:defRPr sz="1450" b="1">
                <a:solidFill>
                  <a:srgbClr val="2B3E63"/>
                </a:solidFill>
                <a:latin typeface="Georgia"/>
              </a:defRPr>
            </a:pPr>
            <a:r>
              <a:t>Ce qu'elle fait et POURQUOI ça marche</a:t>
            </a:r>
          </a:p>
          <a:p>
            <a:pPr>
              <a:spcAft>
                <a:spcPts val="400"/>
              </a:spcAft>
              <a:defRPr sz="1100" b="1">
                <a:solidFill>
                  <a:srgbClr val="2B3E63"/>
                </a:solidFill>
                <a:latin typeface="Arial"/>
              </a:defRPr>
            </a:pPr>
            <a:r>
              <a:t>Le secret de l'Inositol : </a:t>
            </a:r>
            <a:r>
              <a:rPr sz="1100" b="0">
                <a:solidFill>
                  <a:srgbClr val="1C1B19"/>
                </a:solidFill>
                <a:latin typeface="Arial"/>
              </a:rPr>
              <a:t>L'eau de riz fermentée est gorgée d'inositol, un glucide cyclique capable de pénétrer le cheveu abîmé et d'y rester même après rinçage pour le protéger des frottements.</a:t>
            </a:r>
          </a:p>
          <a:p>
            <a:pPr>
              <a:spcAft>
                <a:spcPts val="400"/>
              </a:spcAft>
              <a:defRPr sz="1100" b="1">
                <a:solidFill>
                  <a:srgbClr val="2B3E63"/>
                </a:solidFill>
                <a:latin typeface="Arial"/>
              </a:defRPr>
            </a:pPr>
            <a:r>
              <a:t>Acides aminés et vitamines du groupe B : </a:t>
            </a:r>
            <a:r>
              <a:rPr sz="1100" b="0">
                <a:solidFill>
                  <a:srgbClr val="1C1B19"/>
                </a:solidFill>
                <a:latin typeface="Arial"/>
              </a:rPr>
              <a:t>Le processus de fermentation abaisse le pH de l'eau de riz et multiplie sa concentration en antioxydants et minéraux fortifiants.</a:t>
            </a:r>
          </a:p>
          <a:p>
            <a:pPr>
              <a:spcAft>
                <a:spcPts val="400"/>
              </a:spcAft>
              <a:defRPr sz="1100" b="1">
                <a:solidFill>
                  <a:srgbClr val="2B3E63"/>
                </a:solidFill>
                <a:latin typeface="Arial"/>
              </a:defRPr>
            </a:pPr>
            <a:r>
              <a:t>Le mythe des cheveux géants : </a:t>
            </a:r>
            <a:r>
              <a:rPr sz="1100" b="0">
                <a:solidFill>
                  <a:srgbClr val="1C1B19"/>
                </a:solidFill>
                <a:latin typeface="Arial"/>
              </a:rPr>
              <a:t>Les femmes Yao du village de Huangluo ont des cheveux de 2 mètres grâce à la génétique ET à ce soin. Cela ne fera pas pousser vos cheveux de 20 cm, mais cela stoppe net la casse des longueurs.</a:t>
            </a:r>
          </a:p>
        </p:txBody>
      </p:sp>
      <p:sp>
        <p:nvSpPr>
          <p:cNvPr id="9" name="Rounded Rectangle 8"/>
          <p:cNvSpPr/>
          <p:nvPr/>
        </p:nvSpPr>
        <p:spPr>
          <a:xfrm>
            <a:off x="626364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481328"/>
            <a:ext cx="4892040" cy="45720"/>
          </a:xfrm>
          <a:prstGeom prst="rect">
            <a:avLst/>
          </a:prstGeom>
          <a:solidFill>
            <a:srgbClr val="A85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45920"/>
            <a:ext cx="4709160" cy="3566160"/>
          </a:xfrm>
          <a:prstGeom prst="rect">
            <a:avLst/>
          </a:prstGeom>
          <a:noFill/>
        </p:spPr>
        <p:txBody>
          <a:bodyPr wrap="square" lIns="0" tIns="0" rIns="0" bIns="0">
            <a:spAutoFit/>
          </a:bodyPr>
          <a:lstStyle/>
          <a:p>
            <a:pPr>
              <a:spcAft>
                <a:spcPts val="800"/>
              </a:spcAft>
              <a:defRPr sz="1450" b="1">
                <a:solidFill>
                  <a:srgbClr val="A85236"/>
                </a:solidFill>
                <a:latin typeface="Georgia"/>
              </a:defRPr>
            </a:pPr>
            <a:r>
              <a:t>Protocole de fermentation &amp; Posologie</a:t>
            </a:r>
          </a:p>
          <a:p>
            <a:pPr>
              <a:spcAft>
                <a:spcPts val="400"/>
              </a:spcAft>
              <a:defRPr sz="1100" b="1">
                <a:solidFill>
                  <a:srgbClr val="A85236"/>
                </a:solidFill>
                <a:latin typeface="Arial"/>
              </a:defRPr>
            </a:pPr>
            <a:r>
              <a:t>La préparation propre : </a:t>
            </a:r>
            <a:r>
              <a:rPr sz="1100" b="0">
                <a:solidFill>
                  <a:srgbClr val="1C1B19"/>
                </a:solidFill>
                <a:latin typeface="Arial"/>
              </a:rPr>
              <a:t>Rincez ½ verre de riz blanc local pour enlever les impuretés. Placez le riz dans un bocal propre avec 2 grands verres d'eau (500 ml). Laissez fermenter à l'abri de la lumière pendant 24 heures (la préparation commence à sentir légèrement aigre). Filtrez.</a:t>
            </a:r>
          </a:p>
          <a:p>
            <a:pPr>
              <a:spcAft>
                <a:spcPts val="400"/>
              </a:spcAft>
              <a:defRPr sz="1100" b="1">
                <a:solidFill>
                  <a:srgbClr val="A85236"/>
                </a:solidFill>
                <a:latin typeface="Arial"/>
              </a:defRPr>
            </a:pPr>
            <a:r>
              <a:t>Mode d'application : </a:t>
            </a:r>
            <a:r>
              <a:rPr sz="1100" b="0">
                <a:solidFill>
                  <a:srgbClr val="1C1B19"/>
                </a:solidFill>
                <a:latin typeface="Arial"/>
              </a:rPr>
              <a:t>Versez en eau de rinçage après le shampoing. Laissez poser 15 minutes sous bonnet, puis rincez abondamment à l'eau claire.</a:t>
            </a:r>
          </a:p>
          <a:p>
            <a:pPr>
              <a:spcAft>
                <a:spcPts val="400"/>
              </a:spcAft>
              <a:defRPr sz="1100" b="1">
                <a:solidFill>
                  <a:srgbClr val="A85236"/>
                </a:solidFill>
                <a:latin typeface="Arial"/>
              </a:defRPr>
            </a:pPr>
            <a:r>
              <a:t>Attention : LA RÈGLE VITALE : </a:t>
            </a:r>
            <a:r>
              <a:rPr sz="1100" b="0">
                <a:solidFill>
                  <a:srgbClr val="1C1B19"/>
                </a:solidFill>
                <a:latin typeface="Arial"/>
              </a:rPr>
              <a:t>1 FOIS PAR MOIS MAXIMUM ! Utilisée trop souvent sur cheveu 4C, l'eau de riz provoque une surcharge en amidon et protéines : le cheveu devient rigide et casse.</a:t>
            </a:r>
          </a:p>
          <a:p>
            <a:pPr>
              <a:spcAft>
                <a:spcPts val="400"/>
              </a:spcAft>
              <a:defRPr sz="1100">
                <a:solidFill>
                  <a:srgbClr val="1C1B19"/>
                </a:solidFill>
                <a:latin typeface="Arial"/>
              </a:defRPr>
            </a:pPr>
            <a:r>
              <a:t>• Ne jamais utiliser chez les enfants de moins de 10 ans.</a:t>
            </a:r>
          </a:p>
        </p:txBody>
      </p:sp>
      <p:sp>
        <p:nvSpPr>
          <p:cNvPr id="12" name="Rounded Rectangle 11"/>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L'eau de riz est un traitement de renforcement ponctuel pour cheveux mous et dévitalisés. Ne tombez jamais dans l'excès quotidien.</a:t>
            </a:r>
          </a:p>
        </p:txBody>
      </p:sp>
      <p:sp>
        <p:nvSpPr>
          <p:cNvPr id="14" name="Rectangle 13"/>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6" name="TextBox 15"/>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36 / 75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FAMILLE 6 · LES HUMECTANTS SUPRÊMES</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Le Miel pur sauvage du Bénin</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Badge : ◐ PROMETTEUR  ·  L'aimant à eau naturel qui transforme la texture du cheveu.</a:t>
            </a:r>
          </a:p>
        </p:txBody>
      </p:sp>
      <p:sp>
        <p:nvSpPr>
          <p:cNvPr id="6" name="Rounded Rectangle 5"/>
          <p:cNvSpPr/>
          <p:nvPr/>
        </p:nvSpPr>
        <p:spPr>
          <a:xfrm>
            <a:off x="73152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4892040" cy="45720"/>
          </a:xfrm>
          <a:prstGeom prst="rect">
            <a:avLst/>
          </a:prstGeom>
          <a:solidFill>
            <a:srgbClr val="B88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09160" cy="3566160"/>
          </a:xfrm>
          <a:prstGeom prst="rect">
            <a:avLst/>
          </a:prstGeom>
          <a:noFill/>
        </p:spPr>
        <p:txBody>
          <a:bodyPr wrap="square" lIns="0" tIns="0" rIns="0" bIns="0">
            <a:spAutoFit/>
          </a:bodyPr>
          <a:lstStyle/>
          <a:p>
            <a:pPr>
              <a:spcAft>
                <a:spcPts val="800"/>
              </a:spcAft>
              <a:defRPr sz="1450" b="1">
                <a:solidFill>
                  <a:srgbClr val="B8862B"/>
                </a:solidFill>
                <a:latin typeface="Georgia"/>
              </a:defRPr>
            </a:pPr>
            <a:r>
              <a:t>Ce qu'il fait et POURQUOI ça marche</a:t>
            </a:r>
          </a:p>
          <a:p>
            <a:pPr>
              <a:spcAft>
                <a:spcPts val="400"/>
              </a:spcAft>
              <a:defRPr sz="1100" b="1">
                <a:solidFill>
                  <a:srgbClr val="B8862B"/>
                </a:solidFill>
                <a:latin typeface="Arial"/>
              </a:defRPr>
            </a:pPr>
            <a:r>
              <a:t>La propriété humectante inégalée : </a:t>
            </a:r>
            <a:r>
              <a:rPr sz="1100" b="0">
                <a:solidFill>
                  <a:srgbClr val="1C1B19"/>
                </a:solidFill>
                <a:latin typeface="Arial"/>
              </a:rPr>
              <a:t>Le miel est composé à 80 % de sucres naturels (fructose, glucose). Sa structure hygroscopique capte littéralement les molécules d'eau de l'atmosphère pour les fixer au cœur de la kératine.</a:t>
            </a:r>
          </a:p>
          <a:p>
            <a:pPr>
              <a:spcAft>
                <a:spcPts val="400"/>
              </a:spcAft>
              <a:defRPr sz="1100" b="1">
                <a:solidFill>
                  <a:srgbClr val="B8862B"/>
                </a:solidFill>
                <a:latin typeface="Arial"/>
              </a:defRPr>
            </a:pPr>
            <a:r>
              <a:t>L'adoucissement des cuticules rêches : </a:t>
            </a:r>
            <a:r>
              <a:rPr sz="1100" b="0">
                <a:solidFill>
                  <a:srgbClr val="1C1B19"/>
                </a:solidFill>
                <a:latin typeface="Arial"/>
              </a:rPr>
              <a:t>Riche en enzymes et oligo-éléments, il assouplit les mèches rigides et apporte une brillance dorée soyeuse incomparable.</a:t>
            </a:r>
          </a:p>
          <a:p>
            <a:pPr>
              <a:spcAft>
                <a:spcPts val="400"/>
              </a:spcAft>
              <a:defRPr sz="1100" b="1">
                <a:solidFill>
                  <a:srgbClr val="B8862B"/>
                </a:solidFill>
                <a:latin typeface="Arial"/>
              </a:defRPr>
            </a:pPr>
            <a:r>
              <a:t>Propriétés antiseptiques douces : </a:t>
            </a:r>
            <a:r>
              <a:rPr sz="1100" b="0">
                <a:solidFill>
                  <a:srgbClr val="1C1B19"/>
                </a:solidFill>
                <a:latin typeface="Arial"/>
              </a:rPr>
              <a:t>Contient de faibles quantités de peroxyde d'hydrogène enzymatique naturel qui assainissent les micro-lésions du cuir chevelu sans irriter.</a:t>
            </a:r>
          </a:p>
        </p:txBody>
      </p:sp>
      <p:sp>
        <p:nvSpPr>
          <p:cNvPr id="9" name="Rounded Rectangle 8"/>
          <p:cNvSpPr/>
          <p:nvPr/>
        </p:nvSpPr>
        <p:spPr>
          <a:xfrm>
            <a:off x="626364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481328"/>
            <a:ext cx="4892040" cy="45720"/>
          </a:xfrm>
          <a:prstGeom prst="rect">
            <a:avLst/>
          </a:prstGeom>
          <a:solidFill>
            <a:srgbClr val="556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45920"/>
            <a:ext cx="4709160" cy="3566160"/>
          </a:xfrm>
          <a:prstGeom prst="rect">
            <a:avLst/>
          </a:prstGeom>
          <a:noFill/>
        </p:spPr>
        <p:txBody>
          <a:bodyPr wrap="square" lIns="0" tIns="0" rIns="0" bIns="0">
            <a:spAutoFit/>
          </a:bodyPr>
          <a:lstStyle/>
          <a:p>
            <a:pPr>
              <a:spcAft>
                <a:spcPts val="800"/>
              </a:spcAft>
              <a:defRPr sz="1450" b="1">
                <a:solidFill>
                  <a:srgbClr val="55663A"/>
                </a:solidFill>
                <a:latin typeface="Georgia"/>
              </a:defRPr>
            </a:pPr>
            <a:r>
              <a:t>Dosage, Recette de masque &amp; Précaution</a:t>
            </a:r>
          </a:p>
          <a:p>
            <a:pPr>
              <a:spcAft>
                <a:spcPts val="400"/>
              </a:spcAft>
              <a:defRPr sz="1100" b="1">
                <a:solidFill>
                  <a:srgbClr val="55663A"/>
                </a:solidFill>
                <a:latin typeface="Arial"/>
              </a:defRPr>
            </a:pPr>
            <a:r>
              <a:t>Dosage parfait : </a:t>
            </a:r>
            <a:r>
              <a:rPr sz="1100" b="0">
                <a:solidFill>
                  <a:srgbClr val="1C1B19"/>
                </a:solidFill>
                <a:latin typeface="Arial"/>
              </a:rPr>
              <a:t>1 cuillère à café pour un masque court · 1 cuillère à soupe pour cheveux mi-longs à longs. Toujours dilué dans un corps gras ou aqueux.</a:t>
            </a:r>
          </a:p>
          <a:p>
            <a:pPr>
              <a:spcAft>
                <a:spcPts val="400"/>
              </a:spcAft>
              <a:defRPr sz="1100" b="1">
                <a:solidFill>
                  <a:srgbClr val="55663A"/>
                </a:solidFill>
                <a:latin typeface="Arial"/>
              </a:defRPr>
            </a:pPr>
            <a:r>
              <a:t>La recette du masque d'or hebdomadaire : </a:t>
            </a:r>
            <a:r>
              <a:rPr sz="1100" b="0">
                <a:solidFill>
                  <a:srgbClr val="1C1B19"/>
                </a:solidFill>
                <a:latin typeface="Arial"/>
              </a:rPr>
              <a:t>1 c. à soupe de miel pur + 1 c. à soupe d'huile d'olive + 2 c. à soupe de yaourt ou de gel de gombo. Poser 20 minutes sous serviette tiède.</a:t>
            </a:r>
          </a:p>
          <a:p>
            <a:pPr>
              <a:spcAft>
                <a:spcPts val="400"/>
              </a:spcAft>
              <a:defRPr sz="1100" b="1">
                <a:solidFill>
                  <a:srgbClr val="55663A"/>
                </a:solidFill>
                <a:latin typeface="Arial"/>
              </a:defRPr>
            </a:pPr>
            <a:r>
              <a:t>Attention : Précaution importante : </a:t>
            </a:r>
            <a:r>
              <a:rPr sz="1100" b="0">
                <a:solidFill>
                  <a:srgbClr val="1C1B19"/>
                </a:solidFill>
                <a:latin typeface="Arial"/>
              </a:rPr>
              <a:t>Exiger un vrai miel pur local (Bembèrèkè, Djougou). Les faux miels vendus en bord de route coupés au sirop de sucre brûlé n'ont aucun pouvoir humectant et collent les cheveux.</a:t>
            </a:r>
          </a:p>
          <a:p>
            <a:pPr>
              <a:spcAft>
                <a:spcPts val="400"/>
              </a:spcAft>
              <a:defRPr sz="1100">
                <a:solidFill>
                  <a:srgbClr val="1C1B19"/>
                </a:solidFill>
                <a:latin typeface="Arial"/>
              </a:defRPr>
            </a:pPr>
            <a:r>
              <a:t>• En période d'harmattan très sec : toujours sceller au karité après un soin au miel !</a:t>
            </a:r>
          </a:p>
        </p:txBody>
      </p:sp>
      <p:sp>
        <p:nvSpPr>
          <p:cNvPr id="12" name="Rounded Rectangle 11"/>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Le miel est l'ingrédient magique pour redonner vie aux cheveux cartonnés par le soleil et l'eau dure.</a:t>
            </a:r>
          </a:p>
        </p:txBody>
      </p:sp>
      <p:sp>
        <p:nvSpPr>
          <p:cNvPr id="14" name="Rectangle 13"/>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6" name="TextBox 15"/>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37 / 75</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FAMILLE 6 · COCKTAILS NUTRITIFS D'URGENCE</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Banane très mûre &amp; Avocat écrasé</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Badge : ○ TRADITION  ·  Le masque de secours nutritionnel quand les pointes crient famine.</a:t>
            </a:r>
          </a:p>
        </p:txBody>
      </p:sp>
      <p:sp>
        <p:nvSpPr>
          <p:cNvPr id="6" name="Rounded Rectangle 5"/>
          <p:cNvSpPr/>
          <p:nvPr/>
        </p:nvSpPr>
        <p:spPr>
          <a:xfrm>
            <a:off x="73152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4892040" cy="45720"/>
          </a:xfrm>
          <a:prstGeom prst="rect">
            <a:avLst/>
          </a:prstGeom>
          <a:solidFill>
            <a:srgbClr val="A85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09160" cy="3566160"/>
          </a:xfrm>
          <a:prstGeom prst="rect">
            <a:avLst/>
          </a:prstGeom>
          <a:noFill/>
        </p:spPr>
        <p:txBody>
          <a:bodyPr wrap="square" lIns="0" tIns="0" rIns="0" bIns="0">
            <a:spAutoFit/>
          </a:bodyPr>
          <a:lstStyle/>
          <a:p>
            <a:pPr>
              <a:spcAft>
                <a:spcPts val="800"/>
              </a:spcAft>
              <a:defRPr sz="1450" b="1">
                <a:solidFill>
                  <a:srgbClr val="A85236"/>
                </a:solidFill>
                <a:latin typeface="Georgia"/>
              </a:defRPr>
            </a:pPr>
            <a:r>
              <a:t>Ce qu'ils apportent à la fibre</a:t>
            </a:r>
          </a:p>
          <a:p>
            <a:pPr>
              <a:spcAft>
                <a:spcPts val="400"/>
              </a:spcAft>
              <a:defRPr sz="1100" b="1">
                <a:solidFill>
                  <a:srgbClr val="A85236"/>
                </a:solidFill>
                <a:latin typeface="Arial"/>
              </a:defRPr>
            </a:pPr>
            <a:r>
              <a:t>La banane mûre (potassium et silice) : </a:t>
            </a:r>
            <a:r>
              <a:rPr sz="1100" b="0">
                <a:solidFill>
                  <a:srgbClr val="1C1B19"/>
                </a:solidFill>
                <a:latin typeface="Arial"/>
              </a:rPr>
              <a:t>La banane tigrée ou noire regorge de potassium, d'huiles naturelles et de silice végétale. Elle renforce l'élasticité et adoucit les cheveux les plus rêches.</a:t>
            </a:r>
          </a:p>
          <a:p>
            <a:pPr>
              <a:spcAft>
                <a:spcPts val="400"/>
              </a:spcAft>
              <a:defRPr sz="1100" b="1">
                <a:solidFill>
                  <a:srgbClr val="A85236"/>
                </a:solidFill>
                <a:latin typeface="Arial"/>
              </a:defRPr>
            </a:pPr>
            <a:r>
              <a:t>L'avocat frais (cocktail lipidique complet) : </a:t>
            </a:r>
            <a:r>
              <a:rPr sz="1100" b="0">
                <a:solidFill>
                  <a:srgbClr val="1C1B19"/>
                </a:solidFill>
                <a:latin typeface="Arial"/>
              </a:rPr>
              <a:t>L'avocat est saturé d'acides gras mono-insaturés (acide oléique), de phytostérols et de vitamines B6 et E.</a:t>
            </a:r>
          </a:p>
          <a:p>
            <a:pPr>
              <a:spcAft>
                <a:spcPts val="400"/>
              </a:spcAft>
              <a:defRPr sz="1100" b="1">
                <a:solidFill>
                  <a:srgbClr val="A85236"/>
                </a:solidFill>
                <a:latin typeface="Arial"/>
              </a:defRPr>
            </a:pPr>
            <a:r>
              <a:t>L'effet masque doudou d'urgence : </a:t>
            </a:r>
            <a:r>
              <a:rPr sz="1100" b="0">
                <a:solidFill>
                  <a:srgbClr val="1C1B19"/>
                </a:solidFill>
                <a:latin typeface="Arial"/>
              </a:rPr>
              <a:t>Cette combinaison sauve les chevelures brûlées par le soleil de midi ou asséchées après un mois de mer ou de plage à Grand-Popo.</a:t>
            </a:r>
          </a:p>
        </p:txBody>
      </p:sp>
      <p:sp>
        <p:nvSpPr>
          <p:cNvPr id="9" name="Rounded Rectangle 8"/>
          <p:cNvSpPr/>
          <p:nvPr/>
        </p:nvSpPr>
        <p:spPr>
          <a:xfrm>
            <a:off x="626364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481328"/>
            <a:ext cx="4892040" cy="45720"/>
          </a:xfrm>
          <a:prstGeom prst="rect">
            <a:avLst/>
          </a:prstGeom>
          <a:solidFill>
            <a:srgbClr val="2B3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45920"/>
            <a:ext cx="4709160" cy="3566160"/>
          </a:xfrm>
          <a:prstGeom prst="rect">
            <a:avLst/>
          </a:prstGeom>
          <a:noFill/>
        </p:spPr>
        <p:txBody>
          <a:bodyPr wrap="square" lIns="0" tIns="0" rIns="0" bIns="0">
            <a:spAutoFit/>
          </a:bodyPr>
          <a:lstStyle/>
          <a:p>
            <a:pPr>
              <a:spcAft>
                <a:spcPts val="800"/>
              </a:spcAft>
              <a:defRPr sz="1450" b="1">
                <a:solidFill>
                  <a:srgbClr val="2B3E63"/>
                </a:solidFill>
                <a:latin typeface="Georgia"/>
              </a:defRPr>
            </a:pPr>
            <a:r>
              <a:t>Attention : LE PIÈGE DU MIXAGE (RÈGLE CRUCIALE)</a:t>
            </a:r>
          </a:p>
          <a:p>
            <a:pPr>
              <a:spcAft>
                <a:spcPts val="400"/>
              </a:spcAft>
              <a:defRPr sz="1100" b="1">
                <a:solidFill>
                  <a:srgbClr val="2B3E63"/>
                </a:solidFill>
                <a:latin typeface="Arial"/>
              </a:defRPr>
            </a:pPr>
            <a:r>
              <a:t>LE CAUCHEMAR DES MORCEAUX DE BANANE : </a:t>
            </a:r>
            <a:r>
              <a:rPr sz="1100" b="0">
                <a:solidFill>
                  <a:srgbClr val="1C1B19"/>
                </a:solidFill>
                <a:latin typeface="Arial"/>
              </a:rPr>
              <a:t>Si vous écrasez la banane à la fourchette, des millions de micro-morceaux blanchâtres vont s'incruster dans vos boucles 4C. En séchant, ils durcissent comme de la colle et vous obligent à arracher vos cheveux au peigne pour les enlever.</a:t>
            </a:r>
          </a:p>
          <a:p>
            <a:pPr>
              <a:spcAft>
                <a:spcPts val="400"/>
              </a:spcAft>
              <a:defRPr sz="1100" b="1">
                <a:solidFill>
                  <a:srgbClr val="2B3E63"/>
                </a:solidFill>
                <a:latin typeface="Arial"/>
              </a:defRPr>
            </a:pPr>
            <a:r>
              <a:t>La seule méthode autorisée : </a:t>
            </a:r>
            <a:r>
              <a:rPr sz="1100" b="0">
                <a:solidFill>
                  <a:srgbClr val="1C1B19"/>
                </a:solidFill>
                <a:latin typeface="Arial"/>
              </a:rPr>
              <a:t>1. Mixer la banane et l'avocat au blender électrique avec 2 cuillères à soupe d'eau ou de gel de gombo jusqu'à obtenir une crème liquide sans aucun grain.
2. Filtrer obligatoirement à travers un bas en nylon / collant propre !</a:t>
            </a:r>
          </a:p>
          <a:p>
            <a:pPr>
              <a:spcAft>
                <a:spcPts val="400"/>
              </a:spcAft>
              <a:defRPr sz="1100" b="1">
                <a:solidFill>
                  <a:srgbClr val="2B3E63"/>
                </a:solidFill>
                <a:latin typeface="Arial"/>
              </a:defRPr>
            </a:pPr>
            <a:r>
              <a:t>Dose : </a:t>
            </a:r>
            <a:r>
              <a:rPr sz="1100" b="0">
                <a:solidFill>
                  <a:srgbClr val="1C1B19"/>
                </a:solidFill>
                <a:latin typeface="Arial"/>
              </a:rPr>
              <a:t>½ banane + ¼ d'avocat + 1 c. à café de miel. Poser 30 minutes, puis rincer abondamment.</a:t>
            </a:r>
          </a:p>
        </p:txBody>
      </p:sp>
      <p:sp>
        <p:nvSpPr>
          <p:cNvPr id="12" name="Rounded Rectangle 11"/>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Si vous n'avez pas de blender et de filtre, NE FAITES PAS de masque à la banane ! Optez pour le miel et l'huile d'olive.</a:t>
            </a:r>
          </a:p>
        </p:txBody>
      </p:sp>
      <p:sp>
        <p:nvSpPr>
          <p:cNvPr id="14" name="Rectangle 13"/>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6" name="TextBox 15"/>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38 / 75</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FAMILLE 7 · LES NETTOYANTS ANCESTRAUX</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Le Savon Noir africain traditionnel béninois</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Badge : ○ TRADITION  ·  La détoxification pure du cuir chevelu sans aucun sulfate industriel.</a:t>
            </a:r>
          </a:p>
        </p:txBody>
      </p:sp>
      <p:sp>
        <p:nvSpPr>
          <p:cNvPr id="6" name="Rounded Rectangle 5"/>
          <p:cNvSpPr/>
          <p:nvPr/>
        </p:nvSpPr>
        <p:spPr>
          <a:xfrm>
            <a:off x="73152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4892040" cy="45720"/>
          </a:xfrm>
          <a:prstGeom prst="rect">
            <a:avLst/>
          </a:prstGeom>
          <a:solidFill>
            <a:srgbClr val="2B3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09160" cy="3566160"/>
          </a:xfrm>
          <a:prstGeom prst="rect">
            <a:avLst/>
          </a:prstGeom>
          <a:noFill/>
        </p:spPr>
        <p:txBody>
          <a:bodyPr wrap="square" lIns="0" tIns="0" rIns="0" bIns="0">
            <a:spAutoFit/>
          </a:bodyPr>
          <a:lstStyle/>
          <a:p>
            <a:pPr>
              <a:spcAft>
                <a:spcPts val="800"/>
              </a:spcAft>
              <a:defRPr sz="1450" b="1">
                <a:solidFill>
                  <a:srgbClr val="2B3E63"/>
                </a:solidFill>
                <a:latin typeface="Georgia"/>
              </a:defRPr>
            </a:pPr>
            <a:r>
              <a:t>Ce qu'il fait et POURQUOI ça marche</a:t>
            </a:r>
          </a:p>
          <a:p>
            <a:pPr>
              <a:spcAft>
                <a:spcPts val="400"/>
              </a:spcAft>
              <a:defRPr sz="1100" b="1">
                <a:solidFill>
                  <a:srgbClr val="2B3E63"/>
                </a:solidFill>
                <a:latin typeface="Arial"/>
              </a:defRPr>
            </a:pPr>
            <a:r>
              <a:t>La saponification potassique ancestrale : </a:t>
            </a:r>
            <a:r>
              <a:rPr sz="1100" b="0">
                <a:solidFill>
                  <a:srgbClr val="1C1B19"/>
                </a:solidFill>
                <a:latin typeface="Arial"/>
              </a:rPr>
              <a:t>Fabriqué à base de cendres de peaux de bananes plantain, cabosses de cacao et huile de palmiste ou karité. C'est un savon naturellement riche en glycérine.</a:t>
            </a:r>
          </a:p>
          <a:p>
            <a:pPr>
              <a:spcAft>
                <a:spcPts val="400"/>
              </a:spcAft>
              <a:defRPr sz="1100" b="1">
                <a:solidFill>
                  <a:srgbClr val="2B3E63"/>
                </a:solidFill>
                <a:latin typeface="Arial"/>
              </a:defRPr>
            </a:pPr>
            <a:r>
              <a:t>Purification en profondeur : </a:t>
            </a:r>
            <a:r>
              <a:rPr sz="1100" b="0">
                <a:solidFill>
                  <a:srgbClr val="1C1B19"/>
                </a:solidFill>
                <a:latin typeface="Arial"/>
              </a:rPr>
              <a:t>Dissout les accumulations d'huiles oxydées, la sueur et la poussière accumulées sous les tresses sans sulfates agressifs (SLS).</a:t>
            </a:r>
          </a:p>
          <a:p>
            <a:pPr>
              <a:spcAft>
                <a:spcPts val="400"/>
              </a:spcAft>
              <a:defRPr sz="1100" b="1">
                <a:solidFill>
                  <a:srgbClr val="2B3E63"/>
                </a:solidFill>
                <a:latin typeface="Arial"/>
              </a:defRPr>
            </a:pPr>
            <a:r>
              <a:t>Le revers de la médaille : son pH alcalin (pH 9-10) : </a:t>
            </a:r>
            <a:r>
              <a:rPr sz="1100" b="0">
                <a:solidFill>
                  <a:srgbClr val="1C1B19"/>
                </a:solidFill>
                <a:latin typeface="Arial"/>
              </a:rPr>
              <a:t>Le savon noir a un pH basique. Il ouvre grand les écailles de la cuticule. C'est formidable pour nettoyer, mais désastreux si on ne referme pas les écailles ensuite !</a:t>
            </a:r>
          </a:p>
        </p:txBody>
      </p:sp>
      <p:sp>
        <p:nvSpPr>
          <p:cNvPr id="9" name="Rounded Rectangle 8"/>
          <p:cNvSpPr/>
          <p:nvPr/>
        </p:nvSpPr>
        <p:spPr>
          <a:xfrm>
            <a:off x="626364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481328"/>
            <a:ext cx="4892040" cy="45720"/>
          </a:xfrm>
          <a:prstGeom prst="rect">
            <a:avLst/>
          </a:prstGeom>
          <a:solidFill>
            <a:srgbClr val="A85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45920"/>
            <a:ext cx="4709160" cy="3566160"/>
          </a:xfrm>
          <a:prstGeom prst="rect">
            <a:avLst/>
          </a:prstGeom>
          <a:noFill/>
        </p:spPr>
        <p:txBody>
          <a:bodyPr wrap="square" lIns="0" tIns="0" rIns="0" bIns="0">
            <a:spAutoFit/>
          </a:bodyPr>
          <a:lstStyle/>
          <a:p>
            <a:pPr>
              <a:spcAft>
                <a:spcPts val="800"/>
              </a:spcAft>
              <a:defRPr sz="1450" b="1">
                <a:solidFill>
                  <a:srgbClr val="A85236"/>
                </a:solidFill>
                <a:latin typeface="Georgia"/>
              </a:defRPr>
            </a:pPr>
            <a:r>
              <a:t>Attention : LES 2 RÈGLES DE SÉCURITÉ ABSOLUES</a:t>
            </a:r>
          </a:p>
          <a:p>
            <a:pPr>
              <a:spcAft>
                <a:spcPts val="400"/>
              </a:spcAft>
              <a:defRPr sz="1100" b="1">
                <a:solidFill>
                  <a:srgbClr val="A85236"/>
                </a:solidFill>
                <a:latin typeface="Arial"/>
              </a:defRPr>
            </a:pPr>
            <a:r>
              <a:t>RÈGLE 1 : NE JAMAIS FROTTER LE MORCEAU PUR SUR LA TÊTE : </a:t>
            </a:r>
            <a:r>
              <a:rPr sz="1100" b="0">
                <a:solidFill>
                  <a:srgbClr val="1C1B19"/>
                </a:solidFill>
                <a:latin typeface="Arial"/>
              </a:rPr>
              <a:t>Prenez 1 petite cuillère à café de savon noir émietté et dissolvez-la dans 1 grand verre d'eau tiède (250 ml). Utilisez uniquement cette eau mousseuse sur vos racines !</a:t>
            </a:r>
          </a:p>
          <a:p>
            <a:pPr>
              <a:spcAft>
                <a:spcPts val="400"/>
              </a:spcAft>
              <a:defRPr sz="1100" b="1">
                <a:solidFill>
                  <a:srgbClr val="A85236"/>
                </a:solidFill>
                <a:latin typeface="Arial"/>
              </a:defRPr>
            </a:pPr>
            <a:r>
              <a:t>RÈGLE 2 : LE RINÇAGE ACIDE EST OBLIGATOIRE : </a:t>
            </a:r>
            <a:r>
              <a:rPr sz="1100" b="0">
                <a:solidFill>
                  <a:srgbClr val="1C1B19"/>
                </a:solidFill>
                <a:latin typeface="Arial"/>
              </a:rPr>
              <a:t>Après avoir rincé le savon noir à l'eau claire, appliquez immédiatement un rinçage au vinaigre de cidre (1 c. à soupe par verre d'eau). Le vinaigre neutralise le pH alcalin et referme les écailles en 30 secondes.</a:t>
            </a:r>
          </a:p>
          <a:p>
            <a:pPr>
              <a:spcAft>
                <a:spcPts val="400"/>
              </a:spcAft>
              <a:defRPr sz="1100" b="1">
                <a:solidFill>
                  <a:srgbClr val="A85236"/>
                </a:solidFill>
                <a:latin typeface="Arial"/>
              </a:defRPr>
            </a:pPr>
            <a:r>
              <a:t>Fréquence : </a:t>
            </a:r>
            <a:r>
              <a:rPr sz="1100" b="0">
                <a:solidFill>
                  <a:srgbClr val="1C1B19"/>
                </a:solidFill>
                <a:latin typeface="Arial"/>
              </a:rPr>
              <a:t>1 fois tous les 15 jours (ou 1 fois par mois).</a:t>
            </a:r>
          </a:p>
          <a:p>
            <a:pPr>
              <a:spcAft>
                <a:spcPts val="400"/>
              </a:spcAft>
              <a:defRPr sz="1100" b="1">
                <a:solidFill>
                  <a:srgbClr val="A85236"/>
                </a:solidFill>
                <a:latin typeface="Arial"/>
              </a:defRPr>
            </a:pPr>
            <a:r>
              <a:t>Coût : </a:t>
            </a:r>
            <a:r>
              <a:rPr sz="1100" b="0">
                <a:solidFill>
                  <a:srgbClr val="1C1B19"/>
                </a:solidFill>
                <a:latin typeface="Arial"/>
              </a:rPr>
              <a:t>200 FCFA la boule pour 6 mois d'utilisation.</a:t>
            </a:r>
          </a:p>
        </p:txBody>
      </p:sp>
      <p:sp>
        <p:nvSpPr>
          <p:cNvPr id="12" name="Rounded Rectangle 11"/>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Savon noir dilué + Rinçage acide au vinaigre = Le duo nettoyant le plus pur, sain et économique au monde.</a:t>
            </a:r>
          </a:p>
        </p:txBody>
      </p:sp>
      <p:sp>
        <p:nvSpPr>
          <p:cNvPr id="14" name="Rectangle 13"/>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6" name="TextBox 15"/>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39 / 75</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FAMILLE 7 · LA CLARIFICATION MINÉRALE</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Les Argiles minérales : Kaolin &amp; Terre de barre</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Badge : ○ TRADITION  ·  Le lavage détoxifiant qui respecte le sébum naturel.</a:t>
            </a:r>
          </a:p>
        </p:txBody>
      </p:sp>
      <p:sp>
        <p:nvSpPr>
          <p:cNvPr id="6" name="Rounded Rectangle 5"/>
          <p:cNvSpPr/>
          <p:nvPr/>
        </p:nvSpPr>
        <p:spPr>
          <a:xfrm>
            <a:off x="73152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4892040" cy="45720"/>
          </a:xfrm>
          <a:prstGeom prst="rect">
            <a:avLst/>
          </a:prstGeom>
          <a:solidFill>
            <a:srgbClr val="556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09160" cy="3566160"/>
          </a:xfrm>
          <a:prstGeom prst="rect">
            <a:avLst/>
          </a:prstGeom>
          <a:noFill/>
        </p:spPr>
        <p:txBody>
          <a:bodyPr wrap="square" lIns="0" tIns="0" rIns="0" bIns="0">
            <a:spAutoFit/>
          </a:bodyPr>
          <a:lstStyle/>
          <a:p>
            <a:pPr>
              <a:spcAft>
                <a:spcPts val="800"/>
              </a:spcAft>
              <a:defRPr sz="1450" b="1">
                <a:solidFill>
                  <a:srgbClr val="55663A"/>
                </a:solidFill>
                <a:latin typeface="Georgia"/>
              </a:defRPr>
            </a:pPr>
            <a:r>
              <a:t>L'action buvard électrostatique</a:t>
            </a:r>
          </a:p>
          <a:p>
            <a:pPr>
              <a:spcAft>
                <a:spcPts val="400"/>
              </a:spcAft>
              <a:defRPr sz="1100" b="1">
                <a:solidFill>
                  <a:srgbClr val="55663A"/>
                </a:solidFill>
                <a:latin typeface="Arial"/>
              </a:defRPr>
            </a:pPr>
            <a:r>
              <a:t>La charge négative des argiles : </a:t>
            </a:r>
            <a:r>
              <a:rPr sz="1100" b="0">
                <a:solidFill>
                  <a:srgbClr val="1C1B19"/>
                </a:solidFill>
                <a:latin typeface="Arial"/>
              </a:rPr>
              <a:t>Les argiles possèdent des feuillets minéraux chargés négativement. Elles attirent comme un aimant les toxines, impuretés et excès de sébum chargés positivement.</a:t>
            </a:r>
          </a:p>
          <a:p>
            <a:pPr>
              <a:spcAft>
                <a:spcPts val="400"/>
              </a:spcAft>
              <a:defRPr sz="1100" b="1">
                <a:solidFill>
                  <a:srgbClr val="55663A"/>
                </a:solidFill>
                <a:latin typeface="Arial"/>
              </a:defRPr>
            </a:pPr>
            <a:r>
              <a:t>Nettoyage sans décapage lipidique : </a:t>
            </a:r>
            <a:r>
              <a:rPr sz="1100" b="0">
                <a:solidFill>
                  <a:srgbClr val="1C1B19"/>
                </a:solidFill>
                <a:latin typeface="Arial"/>
              </a:rPr>
              <a:t>Contrairement aux tensioactifs qui décapent tout, l'argile respecte le film lipidique naturel de la fibre. Les boucles restent douces et définies dès la sortie du bain.</a:t>
            </a:r>
          </a:p>
          <a:p>
            <a:pPr>
              <a:spcAft>
                <a:spcPts val="400"/>
              </a:spcAft>
              <a:defRPr sz="1100" b="1">
                <a:solidFill>
                  <a:srgbClr val="55663A"/>
                </a:solidFill>
                <a:latin typeface="Arial"/>
              </a:defRPr>
            </a:pPr>
            <a:r>
              <a:t>Le Kaolin béninois (argile blanche) : </a:t>
            </a:r>
            <a:r>
              <a:rPr sz="1100" b="0">
                <a:solidFill>
                  <a:srgbClr val="1C1B19"/>
                </a:solidFill>
                <a:latin typeface="Arial"/>
              </a:rPr>
              <a:t>C'est l'argile la plus douce et la plus neutre. Idéale pour les cuirs chevelus secs et sensibles.</a:t>
            </a:r>
          </a:p>
        </p:txBody>
      </p:sp>
      <p:sp>
        <p:nvSpPr>
          <p:cNvPr id="9" name="Rounded Rectangle 8"/>
          <p:cNvSpPr/>
          <p:nvPr/>
        </p:nvSpPr>
        <p:spPr>
          <a:xfrm>
            <a:off x="626364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481328"/>
            <a:ext cx="4892040" cy="45720"/>
          </a:xfrm>
          <a:prstGeom prst="rect">
            <a:avLst/>
          </a:prstGeom>
          <a:solidFill>
            <a:srgbClr val="B88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45920"/>
            <a:ext cx="4709160" cy="3566160"/>
          </a:xfrm>
          <a:prstGeom prst="rect">
            <a:avLst/>
          </a:prstGeom>
          <a:noFill/>
        </p:spPr>
        <p:txBody>
          <a:bodyPr wrap="square" lIns="0" tIns="0" rIns="0" bIns="0">
            <a:spAutoFit/>
          </a:bodyPr>
          <a:lstStyle/>
          <a:p>
            <a:pPr>
              <a:spcAft>
                <a:spcPts val="800"/>
              </a:spcAft>
              <a:defRPr sz="1450" b="1">
                <a:solidFill>
                  <a:srgbClr val="B8862B"/>
                </a:solidFill>
                <a:latin typeface="Georgia"/>
              </a:defRPr>
            </a:pPr>
            <a:r>
              <a:t>Recette de la crème lavante minérale</a:t>
            </a:r>
          </a:p>
          <a:p>
            <a:pPr>
              <a:spcAft>
                <a:spcPts val="400"/>
              </a:spcAft>
              <a:defRPr sz="1100" b="1">
                <a:solidFill>
                  <a:srgbClr val="B8862B"/>
                </a:solidFill>
                <a:latin typeface="Arial"/>
              </a:defRPr>
            </a:pPr>
            <a:r>
              <a:t>La recette onctueuse : </a:t>
            </a:r>
            <a:r>
              <a:rPr sz="1100" b="0">
                <a:solidFill>
                  <a:srgbClr val="1C1B19"/>
                </a:solidFill>
                <a:latin typeface="Arial"/>
              </a:rPr>
              <a:t>3 cuillères à soupe de poudre de kaolin + 1 verre d'eau tiède (ou infusion de bissap) + 1 cuillère à café d'huile de coco.</a:t>
            </a:r>
          </a:p>
          <a:p>
            <a:pPr>
              <a:spcAft>
                <a:spcPts val="400"/>
              </a:spcAft>
              <a:defRPr sz="1100" b="1">
                <a:solidFill>
                  <a:srgbClr val="B8862B"/>
                </a:solidFill>
                <a:latin typeface="Arial"/>
              </a:defRPr>
            </a:pPr>
            <a:r>
              <a:t>Attention : Règle d'or de manipulation : </a:t>
            </a:r>
            <a:r>
              <a:rPr sz="1100" b="0">
                <a:solidFill>
                  <a:srgbClr val="1C1B19"/>
                </a:solidFill>
                <a:latin typeface="Arial"/>
              </a:rPr>
              <a:t>N'utilisez jamais d'ustensile ou de cuillère en métal pour manipuler l'argile (le métal décharge les propriétés ioniques de l'argile). Utilisez du bois, du verre ou du plastique !</a:t>
            </a:r>
          </a:p>
          <a:p>
            <a:pPr>
              <a:spcAft>
                <a:spcPts val="400"/>
              </a:spcAft>
              <a:defRPr sz="1100" b="1">
                <a:solidFill>
                  <a:srgbClr val="B8862B"/>
                </a:solidFill>
                <a:latin typeface="Arial"/>
              </a:defRPr>
            </a:pPr>
            <a:r>
              <a:t>Temps de pose : </a:t>
            </a:r>
            <a:r>
              <a:rPr sz="1100" b="0">
                <a:solidFill>
                  <a:srgbClr val="1C1B19"/>
                </a:solidFill>
                <a:latin typeface="Arial"/>
              </a:rPr>
              <a:t>10 minutes sur le cuir chevelu. Rincez abondamment avant que l'argile ne sèche complètement et ne devienne dure comme de la pierre.</a:t>
            </a:r>
          </a:p>
        </p:txBody>
      </p:sp>
      <p:sp>
        <p:nvSpPr>
          <p:cNvPr id="12" name="Rounded Rectangle 11"/>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Une clarification à l'argile une fois par mois remet les compteurs à zéro et redonne toute leur brillance aux cheveux saturés d'huiles.</a:t>
            </a:r>
          </a:p>
        </p:txBody>
      </p:sp>
      <p:sp>
        <p:nvSpPr>
          <p:cNvPr id="14" name="Rectangle 13"/>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6" name="TextBox 15"/>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40 / 75</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FAMILLE 8 · LE RÉGULATEUR DE PH SOUVERAIN</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Le Vinaigre de Cidre de pomme (pH 3,5)</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Badge : ◐ PROMETTEUR  ·  Le flacon le plus indispensable de toute votre salle de bain.</a:t>
            </a:r>
          </a:p>
        </p:txBody>
      </p:sp>
      <p:sp>
        <p:nvSpPr>
          <p:cNvPr id="6" name="Rounded Rectangle 5"/>
          <p:cNvSpPr/>
          <p:nvPr/>
        </p:nvSpPr>
        <p:spPr>
          <a:xfrm>
            <a:off x="73152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4892040" cy="45720"/>
          </a:xfrm>
          <a:prstGeom prst="rect">
            <a:avLst/>
          </a:prstGeom>
          <a:solidFill>
            <a:srgbClr val="A85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09160" cy="3566160"/>
          </a:xfrm>
          <a:prstGeom prst="rect">
            <a:avLst/>
          </a:prstGeom>
          <a:noFill/>
        </p:spPr>
        <p:txBody>
          <a:bodyPr wrap="square" lIns="0" tIns="0" rIns="0" bIns="0">
            <a:spAutoFit/>
          </a:bodyPr>
          <a:lstStyle/>
          <a:p>
            <a:pPr>
              <a:spcAft>
                <a:spcPts val="800"/>
              </a:spcAft>
              <a:defRPr sz="1450" b="1">
                <a:solidFill>
                  <a:srgbClr val="A85236"/>
                </a:solidFill>
                <a:latin typeface="Georgia"/>
              </a:defRPr>
            </a:pPr>
            <a:r>
              <a:t>Ce qu'il fait et POURQUOI ça marche</a:t>
            </a:r>
          </a:p>
          <a:p>
            <a:pPr>
              <a:spcAft>
                <a:spcPts val="400"/>
              </a:spcAft>
              <a:defRPr sz="1100" b="1">
                <a:solidFill>
                  <a:srgbClr val="A85236"/>
                </a:solidFill>
                <a:latin typeface="Arial"/>
              </a:defRPr>
            </a:pPr>
            <a:r>
              <a:t>L'acidité physiologique parfaite (pH 3 à 3,5) : </a:t>
            </a:r>
            <a:r>
              <a:rPr sz="1100" b="0">
                <a:solidFill>
                  <a:srgbClr val="1C1B19"/>
                </a:solidFill>
                <a:latin typeface="Arial"/>
              </a:rPr>
              <a:t>Le cheveu et le cuir chevelu ont un pH naturellement acide (entre 4,5 et 5,5). Le savon, l'eau du robinet et la transpiration élèvent ce pH et ouvrent les écailles.</a:t>
            </a:r>
          </a:p>
          <a:p>
            <a:pPr>
              <a:spcAft>
                <a:spcPts val="400"/>
              </a:spcAft>
              <a:defRPr sz="1100" b="1">
                <a:solidFill>
                  <a:srgbClr val="A85236"/>
                </a:solidFill>
                <a:latin typeface="Arial"/>
              </a:defRPr>
            </a:pPr>
            <a:r>
              <a:t>Le resserrement instantané des écailles : </a:t>
            </a:r>
            <a:r>
              <a:rPr sz="1100" b="0">
                <a:solidFill>
                  <a:srgbClr val="1C1B19"/>
                </a:solidFill>
                <a:latin typeface="Arial"/>
              </a:rPr>
              <a:t>L'acide acétique contenu dans le vinaigre de cidre contracte la cuticule. Les écailles se plaquent hermétiquement les unes sur les autres.</a:t>
            </a:r>
          </a:p>
          <a:p>
            <a:pPr>
              <a:spcAft>
                <a:spcPts val="400"/>
              </a:spcAft>
              <a:defRPr sz="1100" b="1">
                <a:solidFill>
                  <a:srgbClr val="A85236"/>
                </a:solidFill>
                <a:latin typeface="Arial"/>
              </a:defRPr>
            </a:pPr>
            <a:r>
              <a:t>L'élimination totale du calcaire de forage : </a:t>
            </a:r>
            <a:r>
              <a:rPr sz="1100" b="0">
                <a:solidFill>
                  <a:srgbClr val="1C1B19"/>
                </a:solidFill>
                <a:latin typeface="Arial"/>
              </a:rPr>
              <a:t>Le vinaigre dissout les ions calcium et magnésium déposés par l'eau dure de Cotonou et fait briller le cheveu comme un miroir.</a:t>
            </a:r>
          </a:p>
          <a:p>
            <a:pPr>
              <a:spcAft>
                <a:spcPts val="400"/>
              </a:spcAft>
              <a:defRPr sz="1100" b="1">
                <a:solidFill>
                  <a:srgbClr val="A85236"/>
                </a:solidFill>
                <a:latin typeface="Arial"/>
              </a:defRPr>
            </a:pPr>
            <a:r>
              <a:t>Action antipelliculaire : </a:t>
            </a:r>
            <a:r>
              <a:rPr sz="1100" b="0">
                <a:solidFill>
                  <a:srgbClr val="1C1B19"/>
                </a:solidFill>
                <a:latin typeface="Arial"/>
              </a:rPr>
              <a:t>Empêche la prolifération du champignon Malassezia responsable des pellicules.</a:t>
            </a:r>
          </a:p>
        </p:txBody>
      </p:sp>
      <p:sp>
        <p:nvSpPr>
          <p:cNvPr id="9" name="Rounded Rectangle 8"/>
          <p:cNvSpPr/>
          <p:nvPr/>
        </p:nvSpPr>
        <p:spPr>
          <a:xfrm>
            <a:off x="626364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481328"/>
            <a:ext cx="4892040" cy="45720"/>
          </a:xfrm>
          <a:prstGeom prst="rect">
            <a:avLst/>
          </a:prstGeom>
          <a:solidFill>
            <a:srgbClr val="2B3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45920"/>
            <a:ext cx="4709160" cy="3566160"/>
          </a:xfrm>
          <a:prstGeom prst="rect">
            <a:avLst/>
          </a:prstGeom>
          <a:noFill/>
        </p:spPr>
        <p:txBody>
          <a:bodyPr wrap="square" lIns="0" tIns="0" rIns="0" bIns="0">
            <a:spAutoFit/>
          </a:bodyPr>
          <a:lstStyle/>
          <a:p>
            <a:pPr>
              <a:spcAft>
                <a:spcPts val="800"/>
              </a:spcAft>
              <a:defRPr sz="1450" b="1">
                <a:solidFill>
                  <a:srgbClr val="2B3E63"/>
                </a:solidFill>
                <a:latin typeface="Georgia"/>
              </a:defRPr>
            </a:pPr>
            <a:r>
              <a:t>Dosage, Application &amp; Démystification de l'odeur</a:t>
            </a:r>
          </a:p>
          <a:p>
            <a:pPr>
              <a:spcAft>
                <a:spcPts val="400"/>
              </a:spcAft>
              <a:defRPr sz="1100" b="1">
                <a:solidFill>
                  <a:srgbClr val="2B3E63"/>
                </a:solidFill>
                <a:latin typeface="Arial"/>
              </a:defRPr>
            </a:pPr>
            <a:r>
              <a:t>LA PROPORTION EXACTE : </a:t>
            </a:r>
            <a:r>
              <a:rPr sz="1100" b="0">
                <a:solidFill>
                  <a:srgbClr val="1C1B19"/>
                </a:solidFill>
                <a:latin typeface="Arial"/>
              </a:rPr>
              <a:t>1 cuillère à soupe de vinaigre de cidre pour 1 grand verre d'eau tiède (250 ml). Ne JAMAIS l'utiliser pur sous peine de brûler le cuir chevelu !</a:t>
            </a:r>
          </a:p>
          <a:p>
            <a:pPr>
              <a:spcAft>
                <a:spcPts val="400"/>
              </a:spcAft>
              <a:defRPr sz="1100" b="1">
                <a:solidFill>
                  <a:srgbClr val="2B3E63"/>
                </a:solidFill>
                <a:latin typeface="Arial"/>
              </a:defRPr>
            </a:pPr>
            <a:r>
              <a:t>Mode d'emploi : </a:t>
            </a:r>
            <a:r>
              <a:rPr sz="1100" b="0">
                <a:solidFill>
                  <a:srgbClr val="1C1B19"/>
                </a:solidFill>
                <a:latin typeface="Arial"/>
              </a:rPr>
              <a:t>Versez lentement en dernier rinçage sur vos longueurs après avoir rincé vos masques. Ne rincez pas à l'eau du robinet ensuite (vous redéposeriez du calcaire) !</a:t>
            </a:r>
          </a:p>
          <a:p>
            <a:pPr>
              <a:spcAft>
                <a:spcPts val="400"/>
              </a:spcAft>
              <a:defRPr sz="1100" b="1">
                <a:solidFill>
                  <a:srgbClr val="2B3E63"/>
                </a:solidFill>
                <a:latin typeface="Arial"/>
              </a:defRPr>
            </a:pPr>
            <a:r>
              <a:t>La question de l'odeur : </a:t>
            </a:r>
            <a:r>
              <a:rPr sz="1100" b="0">
                <a:solidFill>
                  <a:srgbClr val="1C1B19"/>
                </a:solidFill>
                <a:latin typeface="Arial"/>
              </a:rPr>
              <a:t>Rassurez-vous : l'odeur de vinaigre s'évapore totalement et disparaît dès que les cheveux sont secs. Vous ne sentirez pas la salade !</a:t>
            </a:r>
          </a:p>
          <a:p>
            <a:pPr>
              <a:spcAft>
                <a:spcPts val="400"/>
              </a:spcAft>
              <a:defRPr sz="1100" b="1">
                <a:solidFill>
                  <a:srgbClr val="2B3E63"/>
                </a:solidFill>
                <a:latin typeface="Arial"/>
              </a:defRPr>
            </a:pPr>
            <a:r>
              <a:t>Coût : </a:t>
            </a:r>
            <a:r>
              <a:rPr sz="1100" b="0">
                <a:solidFill>
                  <a:srgbClr val="1C1B19"/>
                </a:solidFill>
                <a:latin typeface="Arial"/>
              </a:rPr>
              <a:t>30 FCFA par rinçage (bouteille à 800 FCFA).</a:t>
            </a:r>
          </a:p>
        </p:txBody>
      </p:sp>
      <p:sp>
        <p:nvSpPr>
          <p:cNvPr id="12" name="Rounded Rectangle 11"/>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Si vous ne deviez garder qu'un seul produit de ce chapitre avec le karité, ce serait le vinaigre de cidre. Il change vos cheveux dès la première minute.</a:t>
            </a:r>
          </a:p>
        </p:txBody>
      </p:sp>
      <p:sp>
        <p:nvSpPr>
          <p:cNvPr id="14" name="Rectangle 13"/>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6" name="TextBox 15"/>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41 / 75</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FAMILLE 9 · POUDRES VÉGÉTALES PURIFIANTES</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Poudres de Moringa &amp; Neem local</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Badge : ◐ PROMETTEUR  ·  La santé de la racine par les feuilles médicinales.</a:t>
            </a:r>
          </a:p>
        </p:txBody>
      </p:sp>
      <p:sp>
        <p:nvSpPr>
          <p:cNvPr id="6" name="Rounded Rectangle 5"/>
          <p:cNvSpPr/>
          <p:nvPr/>
        </p:nvSpPr>
        <p:spPr>
          <a:xfrm>
            <a:off x="73152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4892040" cy="45720"/>
          </a:xfrm>
          <a:prstGeom prst="rect">
            <a:avLst/>
          </a:prstGeom>
          <a:solidFill>
            <a:srgbClr val="556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09160" cy="3566160"/>
          </a:xfrm>
          <a:prstGeom prst="rect">
            <a:avLst/>
          </a:prstGeom>
          <a:noFill/>
        </p:spPr>
        <p:txBody>
          <a:bodyPr wrap="square" lIns="0" tIns="0" rIns="0" bIns="0">
            <a:spAutoFit/>
          </a:bodyPr>
          <a:lstStyle/>
          <a:p>
            <a:pPr>
              <a:spcAft>
                <a:spcPts val="800"/>
              </a:spcAft>
              <a:defRPr sz="1450" b="1">
                <a:solidFill>
                  <a:srgbClr val="55663A"/>
                </a:solidFill>
                <a:latin typeface="Georgia"/>
              </a:defRPr>
            </a:pPr>
            <a:r>
              <a:t>La Poudre de Feuilles de Moringa</a:t>
            </a:r>
          </a:p>
          <a:p>
            <a:pPr>
              <a:spcAft>
                <a:spcPts val="400"/>
              </a:spcAft>
              <a:defRPr sz="1100" b="1">
                <a:solidFill>
                  <a:srgbClr val="55663A"/>
                </a:solidFill>
                <a:latin typeface="Arial"/>
              </a:defRPr>
            </a:pPr>
            <a:r>
              <a:t>L'arbre aux miracles du Bénin : </a:t>
            </a:r>
            <a:r>
              <a:rPr sz="1100" b="0">
                <a:solidFill>
                  <a:srgbClr val="1C1B19"/>
                </a:solidFill>
                <a:latin typeface="Arial"/>
              </a:rPr>
              <a:t>Les feuilles séchées et broyées de Moringa oleifera sont l'aliment végétal le plus concentré en nutriments au monde (vitamines A, B, fer, zinc, acides aminés soufrés).</a:t>
            </a:r>
          </a:p>
          <a:p>
            <a:pPr>
              <a:spcAft>
                <a:spcPts val="400"/>
              </a:spcAft>
              <a:defRPr sz="1100" b="1">
                <a:solidFill>
                  <a:srgbClr val="55663A"/>
                </a:solidFill>
                <a:latin typeface="Arial"/>
              </a:defRPr>
            </a:pPr>
            <a:r>
              <a:t>Action en masque racine : </a:t>
            </a:r>
            <a:r>
              <a:rPr sz="1100" b="0">
                <a:solidFill>
                  <a:srgbClr val="1C1B19"/>
                </a:solidFill>
                <a:latin typeface="Arial"/>
              </a:rPr>
              <a:t>Nourrit directement la circulation sanguine péricapillaire et fortifie la kératine naissante à la racine.</a:t>
            </a:r>
          </a:p>
          <a:p>
            <a:pPr>
              <a:spcAft>
                <a:spcPts val="400"/>
              </a:spcAft>
              <a:defRPr sz="1100" b="1">
                <a:solidFill>
                  <a:srgbClr val="55663A"/>
                </a:solidFill>
                <a:latin typeface="Arial"/>
              </a:defRPr>
            </a:pPr>
            <a:r>
              <a:t>Recette : </a:t>
            </a:r>
            <a:r>
              <a:rPr sz="1100" b="0">
                <a:solidFill>
                  <a:srgbClr val="1C1B19"/>
                </a:solidFill>
                <a:latin typeface="Arial"/>
              </a:rPr>
              <a:t>1 cuillère à soupe de poudre de moringa mélangée à 3 cuillères à soupe d'eau tiède et 1 cuillère à café d'huile de coco. Poser 15 minutes avant le lavage.</a:t>
            </a:r>
          </a:p>
        </p:txBody>
      </p:sp>
      <p:sp>
        <p:nvSpPr>
          <p:cNvPr id="9" name="Rounded Rectangle 8"/>
          <p:cNvSpPr/>
          <p:nvPr/>
        </p:nvSpPr>
        <p:spPr>
          <a:xfrm>
            <a:off x="626364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481328"/>
            <a:ext cx="4892040" cy="45720"/>
          </a:xfrm>
          <a:prstGeom prst="rect">
            <a:avLst/>
          </a:prstGeom>
          <a:solidFill>
            <a:srgbClr val="A85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45920"/>
            <a:ext cx="4709160" cy="3566160"/>
          </a:xfrm>
          <a:prstGeom prst="rect">
            <a:avLst/>
          </a:prstGeom>
          <a:noFill/>
        </p:spPr>
        <p:txBody>
          <a:bodyPr wrap="square" lIns="0" tIns="0" rIns="0" bIns="0">
            <a:spAutoFit/>
          </a:bodyPr>
          <a:lstStyle/>
          <a:p>
            <a:pPr>
              <a:spcAft>
                <a:spcPts val="800"/>
              </a:spcAft>
              <a:defRPr sz="1450" b="1">
                <a:solidFill>
                  <a:srgbClr val="A85236"/>
                </a:solidFill>
                <a:latin typeface="Georgia"/>
              </a:defRPr>
            </a:pPr>
            <a:r>
              <a:t>La Poudre de Feuilles de Neem (Azadirachta indica)</a:t>
            </a:r>
          </a:p>
          <a:p>
            <a:pPr>
              <a:spcAft>
                <a:spcPts val="400"/>
              </a:spcAft>
              <a:defRPr sz="1100" b="1">
                <a:solidFill>
                  <a:srgbClr val="A85236"/>
                </a:solidFill>
                <a:latin typeface="Arial"/>
              </a:defRPr>
            </a:pPr>
            <a:r>
              <a:t>L'antifongique naturel le plus puissant d'Afrique : </a:t>
            </a:r>
            <a:r>
              <a:rPr sz="1100" b="0">
                <a:solidFill>
                  <a:srgbClr val="1C1B19"/>
                </a:solidFill>
                <a:latin typeface="Arial"/>
              </a:rPr>
              <a:t>Le neem (margousier) contient de l'azadirachtine et de la nimbidine, deux molécules destructrices de champignons et bactéries.</a:t>
            </a:r>
          </a:p>
          <a:p>
            <a:pPr>
              <a:spcAft>
                <a:spcPts val="400"/>
              </a:spcAft>
              <a:defRPr sz="1100" b="1">
                <a:solidFill>
                  <a:srgbClr val="A85236"/>
                </a:solidFill>
                <a:latin typeface="Arial"/>
              </a:defRPr>
            </a:pPr>
            <a:r>
              <a:t>L'éradication des pellicules et gratouilles : </a:t>
            </a:r>
            <a:r>
              <a:rPr sz="1100" b="0">
                <a:solidFill>
                  <a:srgbClr val="1C1B19"/>
                </a:solidFill>
                <a:latin typeface="Arial"/>
              </a:rPr>
              <a:t>Élimine les pellicules tenaces, calme les démangeaisons intolérables et assainit les racines étouffées.</a:t>
            </a:r>
          </a:p>
          <a:p>
            <a:pPr>
              <a:spcAft>
                <a:spcPts val="400"/>
              </a:spcAft>
              <a:defRPr sz="1100" b="1">
                <a:solidFill>
                  <a:srgbClr val="A85236"/>
                </a:solidFill>
                <a:latin typeface="Arial"/>
              </a:defRPr>
            </a:pPr>
            <a:r>
              <a:t>Posologie : </a:t>
            </a:r>
            <a:r>
              <a:rPr sz="1100" b="0">
                <a:solidFill>
                  <a:srgbClr val="1C1B19"/>
                </a:solidFill>
                <a:latin typeface="Arial"/>
              </a:rPr>
              <a:t>1 cuillère à café dans votre shampoing doux ou votre masque clarifiant. Utiliser tous les 15 jours jusqu'à disparition complète des pellicules.</a:t>
            </a:r>
          </a:p>
        </p:txBody>
      </p:sp>
      <p:sp>
        <p:nvSpPr>
          <p:cNvPr id="12" name="Rounded Rectangle 11"/>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Ces deux poudres se trouvent sur tous les marchés traditionnels ou se fabriquent gratuitement en pilant des feuilles de sa cour séchées à l'ombre.</a:t>
            </a:r>
          </a:p>
        </p:txBody>
      </p:sp>
      <p:sp>
        <p:nvSpPr>
          <p:cNvPr id="14" name="Rectangle 13"/>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6" name="TextBox 15"/>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42 / 75</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FAMILLE 10 · LES ESSENCES CONCENTRÉES</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Huiles Essentielles : Romarin, Menthe &amp; Tea Tree</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Badge : ● ÉTAYÉ / ◐ PROMETTEUR  ·  Des actifs surpuissants à doser à la goutte près.</a:t>
            </a:r>
          </a:p>
        </p:txBody>
      </p:sp>
      <p:sp>
        <p:nvSpPr>
          <p:cNvPr id="6" name="Rounded Rectangle 5"/>
          <p:cNvSpPr/>
          <p:nvPr/>
        </p:nvSpPr>
        <p:spPr>
          <a:xfrm>
            <a:off x="73152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4892040" cy="45720"/>
          </a:xfrm>
          <a:prstGeom prst="rect">
            <a:avLst/>
          </a:prstGeom>
          <a:solidFill>
            <a:srgbClr val="2B3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09160" cy="3566160"/>
          </a:xfrm>
          <a:prstGeom prst="rect">
            <a:avLst/>
          </a:prstGeom>
          <a:noFill/>
        </p:spPr>
        <p:txBody>
          <a:bodyPr wrap="square" lIns="0" tIns="0" rIns="0" bIns="0">
            <a:spAutoFit/>
          </a:bodyPr>
          <a:lstStyle/>
          <a:p>
            <a:pPr>
              <a:spcAft>
                <a:spcPts val="800"/>
              </a:spcAft>
              <a:defRPr sz="1450" b="1">
                <a:solidFill>
                  <a:srgbClr val="2B3E63"/>
                </a:solidFill>
                <a:latin typeface="Georgia"/>
              </a:defRPr>
            </a:pPr>
            <a:r>
              <a:t>Les trois essences reines de la chevelure</a:t>
            </a:r>
          </a:p>
          <a:p>
            <a:pPr>
              <a:spcAft>
                <a:spcPts val="400"/>
              </a:spcAft>
              <a:defRPr sz="1100" b="1">
                <a:solidFill>
                  <a:srgbClr val="2B3E63"/>
                </a:solidFill>
                <a:latin typeface="Arial"/>
              </a:defRPr>
            </a:pPr>
            <a:r>
              <a:t>HE de Romarin à cinéole (◐ PROMETTEUR) : </a:t>
            </a:r>
            <a:r>
              <a:rPr sz="1100" b="0">
                <a:solidFill>
                  <a:srgbClr val="1C1B19"/>
                </a:solidFill>
                <a:latin typeface="Arial"/>
              </a:rPr>
              <a:t>L'étude Panahi et al. (2015) a comparé l'huile de romarin au minoxidil 2 % pendant 6 mois : résultats comparables sur la densité capillaire avec moins de démangeaisons.</a:t>
            </a:r>
          </a:p>
          <a:p>
            <a:pPr>
              <a:spcAft>
                <a:spcPts val="400"/>
              </a:spcAft>
              <a:defRPr sz="1100" b="1">
                <a:solidFill>
                  <a:srgbClr val="2B3E63"/>
                </a:solidFill>
                <a:latin typeface="Arial"/>
              </a:defRPr>
            </a:pPr>
            <a:r>
              <a:t>HE de Menthe poivrée (◐ PROMETTEUR) : </a:t>
            </a:r>
            <a:r>
              <a:rPr sz="1100" b="0">
                <a:solidFill>
                  <a:srgbClr val="1C1B19"/>
                </a:solidFill>
                <a:latin typeface="Arial"/>
              </a:rPr>
              <a:t>Le menthol dilate les micro-vaisseaux sanguins du cuir chevelu et procure une sensation de fraîcheur vivifiante immédiate.</a:t>
            </a:r>
          </a:p>
          <a:p>
            <a:pPr>
              <a:spcAft>
                <a:spcPts val="400"/>
              </a:spcAft>
              <a:defRPr sz="1100" b="1">
                <a:solidFill>
                  <a:srgbClr val="2B3E63"/>
                </a:solidFill>
                <a:latin typeface="Arial"/>
              </a:defRPr>
            </a:pPr>
            <a:r>
              <a:t>HE de Tea Tree / Arbre à thé (● ÉTAYÉ) : </a:t>
            </a:r>
            <a:r>
              <a:rPr sz="1100" b="0">
                <a:solidFill>
                  <a:srgbClr val="1C1B19"/>
                </a:solidFill>
                <a:latin typeface="Arial"/>
              </a:rPr>
              <a:t>L'antifongique le plus documenté au monde contre les pellicules et la dermatite séborrhéique.</a:t>
            </a:r>
          </a:p>
        </p:txBody>
      </p:sp>
      <p:sp>
        <p:nvSpPr>
          <p:cNvPr id="9" name="Rounded Rectangle 8"/>
          <p:cNvSpPr/>
          <p:nvPr/>
        </p:nvSpPr>
        <p:spPr>
          <a:xfrm>
            <a:off x="626364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481328"/>
            <a:ext cx="4892040" cy="45720"/>
          </a:xfrm>
          <a:prstGeom prst="rect">
            <a:avLst/>
          </a:prstGeom>
          <a:solidFill>
            <a:srgbClr val="A85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45920"/>
            <a:ext cx="4709160" cy="3566160"/>
          </a:xfrm>
          <a:prstGeom prst="rect">
            <a:avLst/>
          </a:prstGeom>
          <a:noFill/>
        </p:spPr>
        <p:txBody>
          <a:bodyPr wrap="square" lIns="0" tIns="0" rIns="0" bIns="0">
            <a:spAutoFit/>
          </a:bodyPr>
          <a:lstStyle/>
          <a:p>
            <a:pPr>
              <a:spcAft>
                <a:spcPts val="800"/>
              </a:spcAft>
              <a:defRPr sz="1450" b="1">
                <a:solidFill>
                  <a:srgbClr val="A85236"/>
                </a:solidFill>
                <a:latin typeface="Georgia"/>
              </a:defRPr>
            </a:pPr>
            <a:r>
              <a:t>Attention : RÈGLE DE DILUTION ABSOLUE AU MILLIMÈTRE</a:t>
            </a:r>
          </a:p>
          <a:p>
            <a:pPr>
              <a:spcAft>
                <a:spcPts val="400"/>
              </a:spcAft>
              <a:defRPr sz="1100" b="1">
                <a:solidFill>
                  <a:srgbClr val="A85236"/>
                </a:solidFill>
                <a:latin typeface="Arial"/>
              </a:defRPr>
            </a:pPr>
            <a:r>
              <a:t>JAMAIS PURE SUR LA PEAU : </a:t>
            </a:r>
            <a:r>
              <a:rPr sz="1100" b="0">
                <a:solidFill>
                  <a:srgbClr val="1C1B19"/>
                </a:solidFill>
                <a:latin typeface="Arial"/>
              </a:rPr>
              <a:t>Une seule goutte d'huile essentielle pure sur le crâne peut provoquer une brûlure chimique sévère, un eczéma ou une chute de cheveux irréversible.</a:t>
            </a:r>
          </a:p>
          <a:p>
            <a:pPr>
              <a:spcAft>
                <a:spcPts val="400"/>
              </a:spcAft>
              <a:defRPr sz="1100" b="1">
                <a:solidFill>
                  <a:srgbClr val="A85236"/>
                </a:solidFill>
                <a:latin typeface="Arial"/>
              </a:defRPr>
            </a:pPr>
            <a:r>
              <a:t>La règle de dilution à 1 % (la seule sûre) : </a:t>
            </a:r>
            <a:r>
              <a:rPr sz="1100" b="0">
                <a:solidFill>
                  <a:srgbClr val="1C1B19"/>
                </a:solidFill>
                <a:latin typeface="Arial"/>
              </a:rPr>
              <a:t>3 à 6 gouttes d'huile essentielle MAXIMUM pour 2 grandes cuillères à soupe (30 ml) d'huile végétale support (coco ou olive).</a:t>
            </a:r>
          </a:p>
          <a:p>
            <a:pPr>
              <a:spcAft>
                <a:spcPts val="400"/>
              </a:spcAft>
              <a:defRPr sz="1100" b="1">
                <a:solidFill>
                  <a:srgbClr val="A85236"/>
                </a:solidFill>
                <a:latin typeface="Arial"/>
              </a:defRPr>
            </a:pPr>
            <a:r>
              <a:t>Interdictions formelles : </a:t>
            </a:r>
            <a:r>
              <a:rPr sz="1100" b="0">
                <a:solidFill>
                  <a:srgbClr val="1C1B19"/>
                </a:solidFill>
                <a:latin typeface="Arial"/>
              </a:rPr>
              <a:t>• Femmes enceintes et allaitantes (interdiction absolue).
• Enfants de moins de 7 ans.
• Toujours faire le test au creux du coude 24h avant !</a:t>
            </a:r>
          </a:p>
        </p:txBody>
      </p:sp>
      <p:sp>
        <p:nvSpPr>
          <p:cNvPr id="12" name="Rounded Rectangle 11"/>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Une fiole de 10 ml d'huile essentielle dure plus d'une année. Comptez vos gouttes : la puissance est dans la retenue.</a:t>
            </a:r>
          </a:p>
        </p:txBody>
      </p:sp>
      <p:sp>
        <p:nvSpPr>
          <p:cNvPr id="14" name="Rectangle 13"/>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6" name="TextBox 15"/>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43 / 75</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PARTIE 2 · CHAPITRE 11 — SYNTHÈSE GÉNÉRALE</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Le Tableau Maître des 25 ingrédients de cuisine</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La double page de référence à garder en mémoire pour chaque soin.</a:t>
            </a:r>
          </a:p>
        </p:txBody>
      </p:sp>
      <p:graphicFrame>
        <p:nvGraphicFramePr>
          <p:cNvPr id="6" name="Table 5"/>
          <p:cNvGraphicFramePr>
            <a:graphicFrameLocks noGrp="1"/>
          </p:cNvGraphicFramePr>
          <p:nvPr/>
        </p:nvGraphicFramePr>
        <p:xfrm>
          <a:off x="731520" y="1463040"/>
          <a:ext cx="10728655" cy="3840480"/>
        </p:xfrm>
        <a:graphic>
          <a:graphicData uri="http://schemas.openxmlformats.org/drawingml/2006/table">
            <a:tbl>
              <a:tblPr firstRow="1" bandRow="1">
                <a:tableStyleId>{5C22544A-7EE6-4342-B048-85BDC9FD1C3A}</a:tableStyleId>
              </a:tblPr>
              <a:tblGrid>
                <a:gridCol w="2145731"/>
                <a:gridCol w="2145731"/>
                <a:gridCol w="2145731"/>
                <a:gridCol w="2145731"/>
                <a:gridCol w="2145731"/>
              </a:tblGrid>
              <a:tr h="295421">
                <a:tc>
                  <a:txBody>
                    <a:bodyPr wrap="square"/>
                    <a:lstStyle/>
                    <a:p>
                      <a:pPr>
                        <a:defRPr sz="1000" b="1">
                          <a:solidFill>
                            <a:srgbClr val="D9A13B"/>
                          </a:solidFill>
                          <a:latin typeface="Arial"/>
                        </a:defRPr>
                      </a:pPr>
                      <a:r>
                        <a:t>Ingrédient</a:t>
                      </a:r>
                    </a:p>
                  </a:txBody>
                  <a:tcPr>
                    <a:solidFill>
                      <a:srgbClr val="1B2740"/>
                    </a:solidFill>
                  </a:tcPr>
                </a:tc>
                <a:tc>
                  <a:txBody>
                    <a:bodyPr wrap="square"/>
                    <a:lstStyle/>
                    <a:p>
                      <a:pPr>
                        <a:defRPr sz="1000" b="1">
                          <a:solidFill>
                            <a:srgbClr val="D9A13B"/>
                          </a:solidFill>
                          <a:latin typeface="Arial"/>
                        </a:defRPr>
                      </a:pPr>
                      <a:r>
                        <a:t>Ce qu'il fait (POURQUOI)</a:t>
                      </a:r>
                    </a:p>
                  </a:txBody>
                  <a:tcPr>
                    <a:solidFill>
                      <a:srgbClr val="1B2740"/>
                    </a:solidFill>
                  </a:tcPr>
                </a:tc>
                <a:tc>
                  <a:txBody>
                    <a:bodyPr wrap="square"/>
                    <a:lstStyle/>
                    <a:p>
                      <a:pPr>
                        <a:defRPr sz="1000" b="1">
                          <a:solidFill>
                            <a:srgbClr val="D9A13B"/>
                          </a:solidFill>
                          <a:latin typeface="Arial"/>
                        </a:defRPr>
                      </a:pPr>
                      <a:r>
                        <a:t>Quantité repère</a:t>
                      </a:r>
                    </a:p>
                  </a:txBody>
                  <a:tcPr>
                    <a:solidFill>
                      <a:srgbClr val="1B2740"/>
                    </a:solidFill>
                  </a:tcPr>
                </a:tc>
                <a:tc>
                  <a:txBody>
                    <a:bodyPr wrap="square"/>
                    <a:lstStyle/>
                    <a:p>
                      <a:pPr>
                        <a:defRPr sz="1000" b="1">
                          <a:solidFill>
                            <a:srgbClr val="D9A13B"/>
                          </a:solidFill>
                          <a:latin typeface="Arial"/>
                        </a:defRPr>
                      </a:pPr>
                      <a:r>
                        <a:t>Fréquence</a:t>
                      </a:r>
                    </a:p>
                  </a:txBody>
                  <a:tcPr>
                    <a:solidFill>
                      <a:srgbClr val="1B2740"/>
                    </a:solidFill>
                  </a:tcPr>
                </a:tc>
                <a:tc>
                  <a:txBody>
                    <a:bodyPr wrap="square"/>
                    <a:lstStyle/>
                    <a:p>
                      <a:pPr>
                        <a:defRPr sz="1000" b="1">
                          <a:solidFill>
                            <a:srgbClr val="D9A13B"/>
                          </a:solidFill>
                          <a:latin typeface="Arial"/>
                        </a:defRPr>
                      </a:pPr>
                      <a:r>
                        <a:t>Précaution clé</a:t>
                      </a:r>
                    </a:p>
                  </a:txBody>
                  <a:tcPr>
                    <a:solidFill>
                      <a:srgbClr val="1B2740"/>
                    </a:solidFill>
                  </a:tcPr>
                </a:tc>
              </a:tr>
              <a:tr h="295421">
                <a:tc>
                  <a:txBody>
                    <a:bodyPr wrap="square"/>
                    <a:lstStyle/>
                    <a:p>
                      <a:pPr>
                        <a:defRPr sz="950" b="1">
                          <a:solidFill>
                            <a:srgbClr val="2B3E63"/>
                          </a:solidFill>
                          <a:latin typeface="Arial"/>
                        </a:defRPr>
                      </a:pPr>
                      <a:r>
                        <a:t>Huile de coco</a:t>
                      </a:r>
                    </a:p>
                  </a:txBody>
                  <a:tcPr>
                    <a:solidFill>
                      <a:srgbClr val="FFFFFF"/>
                    </a:solidFill>
                  </a:tcPr>
                </a:tc>
                <a:tc>
                  <a:txBody>
                    <a:bodyPr wrap="square"/>
                    <a:lstStyle/>
                    <a:p>
                      <a:pPr>
                        <a:defRPr sz="950">
                          <a:solidFill>
                            <a:srgbClr val="1C1B19"/>
                          </a:solidFill>
                          <a:latin typeface="Arial"/>
                        </a:defRPr>
                      </a:pPr>
                      <a:r>
                        <a:t>Pénètre le cortex (-40 % perte protéines)</a:t>
                      </a:r>
                    </a:p>
                  </a:txBody>
                  <a:tcPr>
                    <a:solidFill>
                      <a:srgbClr val="FFFFFF"/>
                    </a:solidFill>
                  </a:tcPr>
                </a:tc>
                <a:tc>
                  <a:txBody>
                    <a:bodyPr wrap="square"/>
                    <a:lstStyle/>
                    <a:p>
                      <a:pPr>
                        <a:defRPr sz="950">
                          <a:solidFill>
                            <a:srgbClr val="1C1B19"/>
                          </a:solidFill>
                          <a:latin typeface="Arial"/>
                        </a:defRPr>
                      </a:pPr>
                      <a:r>
                        <a:t>1 c. à c. à 1 c. à s.</a:t>
                      </a:r>
                    </a:p>
                  </a:txBody>
                  <a:tcPr>
                    <a:solidFill>
                      <a:srgbClr val="FFFFFF"/>
                    </a:solidFill>
                  </a:tcPr>
                </a:tc>
                <a:tc>
                  <a:txBody>
                    <a:bodyPr wrap="square"/>
                    <a:lstStyle/>
                    <a:p>
                      <a:pPr>
                        <a:defRPr sz="950">
                          <a:solidFill>
                            <a:srgbClr val="1C1B19"/>
                          </a:solidFill>
                          <a:latin typeface="Arial"/>
                        </a:defRPr>
                      </a:pPr>
                      <a:r>
                        <a:t>Avant chaque lavage</a:t>
                      </a:r>
                    </a:p>
                  </a:txBody>
                  <a:tcPr>
                    <a:solidFill>
                      <a:srgbClr val="FFFFFF"/>
                    </a:solidFill>
                  </a:tcPr>
                </a:tc>
                <a:tc>
                  <a:txBody>
                    <a:bodyPr wrap="square"/>
                    <a:lstStyle/>
                    <a:p>
                      <a:pPr>
                        <a:defRPr sz="950">
                          <a:solidFill>
                            <a:srgbClr val="1C1B19"/>
                          </a:solidFill>
                          <a:latin typeface="Arial"/>
                        </a:defRPr>
                      </a:pPr>
                      <a:r>
                        <a:t>Fige sous 24 °C ; sur cheveux secs</a:t>
                      </a:r>
                    </a:p>
                  </a:txBody>
                  <a:tcPr>
                    <a:solidFill>
                      <a:srgbClr val="FFFFFF"/>
                    </a:solidFill>
                  </a:tcPr>
                </a:tc>
              </a:tr>
              <a:tr h="295421">
                <a:tc>
                  <a:txBody>
                    <a:bodyPr wrap="square"/>
                    <a:lstStyle/>
                    <a:p>
                      <a:pPr>
                        <a:defRPr sz="950" b="1">
                          <a:solidFill>
                            <a:srgbClr val="2B3E63"/>
                          </a:solidFill>
                          <a:latin typeface="Arial"/>
                        </a:defRPr>
                      </a:pPr>
                      <a:r>
                        <a:t>Beurre de karité</a:t>
                      </a:r>
                    </a:p>
                  </a:txBody>
                  <a:tcPr>
                    <a:solidFill>
                      <a:srgbClr val="F5EEE0"/>
                    </a:solidFill>
                  </a:tcPr>
                </a:tc>
                <a:tc>
                  <a:txBody>
                    <a:bodyPr wrap="square"/>
                    <a:lstStyle/>
                    <a:p>
                      <a:pPr>
                        <a:defRPr sz="950">
                          <a:solidFill>
                            <a:srgbClr val="1C1B19"/>
                          </a:solidFill>
                          <a:latin typeface="Arial"/>
                        </a:defRPr>
                      </a:pPr>
                      <a:r>
                        <a:t>Scelle l'eau dans la fibre, anti-harmattan</a:t>
                      </a:r>
                    </a:p>
                  </a:txBody>
                  <a:tcPr>
                    <a:solidFill>
                      <a:srgbClr val="F5EEE0"/>
                    </a:solidFill>
                  </a:tcPr>
                </a:tc>
                <a:tc>
                  <a:txBody>
                    <a:bodyPr wrap="square"/>
                    <a:lstStyle/>
                    <a:p>
                      <a:pPr>
                        <a:defRPr sz="950">
                          <a:solidFill>
                            <a:srgbClr val="1C1B19"/>
                          </a:solidFill>
                          <a:latin typeface="Arial"/>
                        </a:defRPr>
                      </a:pPr>
                      <a:r>
                        <a:t>1 noisette à 2 noix</a:t>
                      </a:r>
                    </a:p>
                  </a:txBody>
                  <a:tcPr>
                    <a:solidFill>
                      <a:srgbClr val="F5EEE0"/>
                    </a:solidFill>
                  </a:tcPr>
                </a:tc>
                <a:tc>
                  <a:txBody>
                    <a:bodyPr wrap="square"/>
                    <a:lstStyle/>
                    <a:p>
                      <a:pPr>
                        <a:defRPr sz="950">
                          <a:solidFill>
                            <a:srgbClr val="1C1B19"/>
                          </a:solidFill>
                          <a:latin typeface="Arial"/>
                        </a:defRPr>
                      </a:pPr>
                      <a:r>
                        <a:t>2 à 3× / semaine</a:t>
                      </a:r>
                    </a:p>
                  </a:txBody>
                  <a:tcPr>
                    <a:solidFill>
                      <a:srgbClr val="F5EEE0"/>
                    </a:solidFill>
                  </a:tcPr>
                </a:tc>
                <a:tc>
                  <a:txBody>
                    <a:bodyPr wrap="square"/>
                    <a:lstStyle/>
                    <a:p>
                      <a:pPr>
                        <a:defRPr sz="950">
                          <a:solidFill>
                            <a:srgbClr val="1C1B19"/>
                          </a:solidFill>
                          <a:latin typeface="Arial"/>
                        </a:defRPr>
                      </a:pPr>
                      <a:r>
                        <a:t>Toujours sur cheveux humides</a:t>
                      </a:r>
                    </a:p>
                  </a:txBody>
                  <a:tcPr>
                    <a:solidFill>
                      <a:srgbClr val="F5EEE0"/>
                    </a:solidFill>
                  </a:tcPr>
                </a:tc>
              </a:tr>
              <a:tr h="295421">
                <a:tc>
                  <a:txBody>
                    <a:bodyPr wrap="square"/>
                    <a:lstStyle/>
                    <a:p>
                      <a:pPr>
                        <a:defRPr sz="950" b="1">
                          <a:solidFill>
                            <a:srgbClr val="2B3E63"/>
                          </a:solidFill>
                          <a:latin typeface="Arial"/>
                        </a:defRPr>
                      </a:pPr>
                      <a:r>
                        <a:t>Huile d'olive</a:t>
                      </a:r>
                    </a:p>
                  </a:txBody>
                  <a:tcPr>
                    <a:solidFill>
                      <a:srgbClr val="FFFFFF"/>
                    </a:solidFill>
                  </a:tcPr>
                </a:tc>
                <a:tc>
                  <a:txBody>
                    <a:bodyPr wrap="square"/>
                    <a:lstStyle/>
                    <a:p>
                      <a:pPr>
                        <a:defRPr sz="950">
                          <a:solidFill>
                            <a:srgbClr val="1C1B19"/>
                          </a:solidFill>
                          <a:latin typeface="Arial"/>
                        </a:defRPr>
                      </a:pPr>
                      <a:r>
                        <a:t>Assouplit la cuticule, élimine le rêche</a:t>
                      </a:r>
                    </a:p>
                  </a:txBody>
                  <a:tcPr>
                    <a:solidFill>
                      <a:srgbClr val="FFFFFF"/>
                    </a:solidFill>
                  </a:tcPr>
                </a:tc>
                <a:tc>
                  <a:txBody>
                    <a:bodyPr wrap="square"/>
                    <a:lstStyle/>
                    <a:p>
                      <a:pPr>
                        <a:defRPr sz="950">
                          <a:solidFill>
                            <a:srgbClr val="1C1B19"/>
                          </a:solidFill>
                          <a:latin typeface="Arial"/>
                        </a:defRPr>
                      </a:pPr>
                      <a:r>
                        <a:t>1 à 2 c. à soupe</a:t>
                      </a:r>
                    </a:p>
                  </a:txBody>
                  <a:tcPr>
                    <a:solidFill>
                      <a:srgbClr val="FFFFFF"/>
                    </a:solidFill>
                  </a:tcPr>
                </a:tc>
                <a:tc>
                  <a:txBody>
                    <a:bodyPr wrap="square"/>
                    <a:lstStyle/>
                    <a:p>
                      <a:pPr>
                        <a:defRPr sz="950">
                          <a:solidFill>
                            <a:srgbClr val="1C1B19"/>
                          </a:solidFill>
                          <a:latin typeface="Arial"/>
                        </a:defRPr>
                      </a:pPr>
                      <a:r>
                        <a:t>1× / semaine</a:t>
                      </a:r>
                    </a:p>
                  </a:txBody>
                  <a:tcPr>
                    <a:solidFill>
                      <a:srgbClr val="FFFFFF"/>
                    </a:solidFill>
                  </a:tcPr>
                </a:tc>
                <a:tc>
                  <a:txBody>
                    <a:bodyPr wrap="square"/>
                    <a:lstStyle/>
                    <a:p>
                      <a:pPr>
                        <a:defRPr sz="950">
                          <a:solidFill>
                            <a:srgbClr val="1C1B19"/>
                          </a:solidFill>
                          <a:latin typeface="Arial"/>
                        </a:defRPr>
                      </a:pPr>
                      <a:r>
                        <a:t>Choisir vierge pressée à froid</a:t>
                      </a:r>
                    </a:p>
                  </a:txBody>
                  <a:tcPr>
                    <a:solidFill>
                      <a:srgbClr val="FFFFFF"/>
                    </a:solidFill>
                  </a:tcPr>
                </a:tc>
              </a:tr>
              <a:tr h="295421">
                <a:tc>
                  <a:txBody>
                    <a:bodyPr wrap="square"/>
                    <a:lstStyle/>
                    <a:p>
                      <a:pPr>
                        <a:defRPr sz="950" b="1">
                          <a:solidFill>
                            <a:srgbClr val="2B3E63"/>
                          </a:solidFill>
                          <a:latin typeface="Arial"/>
                        </a:defRPr>
                      </a:pPr>
                      <a:r>
                        <a:t>Huile de ricin</a:t>
                      </a:r>
                    </a:p>
                  </a:txBody>
                  <a:tcPr>
                    <a:solidFill>
                      <a:srgbClr val="F5EEE0"/>
                    </a:solidFill>
                  </a:tcPr>
                </a:tc>
                <a:tc>
                  <a:txBody>
                    <a:bodyPr wrap="square"/>
                    <a:lstStyle/>
                    <a:p>
                      <a:pPr>
                        <a:defRPr sz="950">
                          <a:solidFill>
                            <a:srgbClr val="1C1B19"/>
                          </a:solidFill>
                          <a:latin typeface="Arial"/>
                        </a:defRPr>
                      </a:pPr>
                      <a:r>
                        <a:t>Gaine et épaissit la tige (illusion pousse)</a:t>
                      </a:r>
                    </a:p>
                  </a:txBody>
                  <a:tcPr>
                    <a:solidFill>
                      <a:srgbClr val="F5EEE0"/>
                    </a:solidFill>
                  </a:tcPr>
                </a:tc>
                <a:tc>
                  <a:txBody>
                    <a:bodyPr wrap="square"/>
                    <a:lstStyle/>
                    <a:p>
                      <a:pPr>
                        <a:defRPr sz="950">
                          <a:solidFill>
                            <a:srgbClr val="1C1B19"/>
                          </a:solidFill>
                          <a:latin typeface="Arial"/>
                        </a:defRPr>
                      </a:pPr>
                      <a:r>
                        <a:t>½ c. à c. DILUÉE</a:t>
                      </a:r>
                    </a:p>
                  </a:txBody>
                  <a:tcPr>
                    <a:solidFill>
                      <a:srgbClr val="F5EEE0"/>
                    </a:solidFill>
                  </a:tcPr>
                </a:tc>
                <a:tc>
                  <a:txBody>
                    <a:bodyPr wrap="square"/>
                    <a:lstStyle/>
                    <a:p>
                      <a:pPr>
                        <a:defRPr sz="950">
                          <a:solidFill>
                            <a:srgbClr val="1C1B19"/>
                          </a:solidFill>
                          <a:latin typeface="Arial"/>
                        </a:defRPr>
                      </a:pPr>
                      <a:r>
                        <a:t>1 à 2× / semaine</a:t>
                      </a:r>
                    </a:p>
                  </a:txBody>
                  <a:tcPr>
                    <a:solidFill>
                      <a:srgbClr val="F5EEE0"/>
                    </a:solidFill>
                  </a:tcPr>
                </a:tc>
                <a:tc>
                  <a:txBody>
                    <a:bodyPr wrap="square"/>
                    <a:lstStyle/>
                    <a:p>
                      <a:pPr>
                        <a:defRPr sz="950">
                          <a:solidFill>
                            <a:srgbClr val="1C1B19"/>
                          </a:solidFill>
                          <a:latin typeface="Arial"/>
                        </a:defRPr>
                      </a:pPr>
                      <a:r>
                        <a:t>Toujours diluer 1:2 dans huile fluide</a:t>
                      </a:r>
                    </a:p>
                  </a:txBody>
                  <a:tcPr>
                    <a:solidFill>
                      <a:srgbClr val="F5EEE0"/>
                    </a:solidFill>
                  </a:tcPr>
                </a:tc>
              </a:tr>
              <a:tr h="295421">
                <a:tc>
                  <a:txBody>
                    <a:bodyPr wrap="square"/>
                    <a:lstStyle/>
                    <a:p>
                      <a:pPr>
                        <a:defRPr sz="950" b="1">
                          <a:solidFill>
                            <a:srgbClr val="2B3E63"/>
                          </a:solidFill>
                          <a:latin typeface="Arial"/>
                        </a:defRPr>
                      </a:pPr>
                      <a:r>
                        <a:t>Gel de gombo</a:t>
                      </a:r>
                    </a:p>
                  </a:txBody>
                  <a:tcPr>
                    <a:solidFill>
                      <a:srgbClr val="FFFFFF"/>
                    </a:solidFill>
                  </a:tcPr>
                </a:tc>
                <a:tc>
                  <a:txBody>
                    <a:bodyPr wrap="square"/>
                    <a:lstStyle/>
                    <a:p>
                      <a:pPr>
                        <a:defRPr sz="950">
                          <a:solidFill>
                            <a:srgbClr val="1C1B19"/>
                          </a:solidFill>
                          <a:latin typeface="Arial"/>
                        </a:defRPr>
                      </a:pPr>
                      <a:r>
                        <a:t>Démêlant n°1 : mucilage glissant magique</a:t>
                      </a:r>
                    </a:p>
                  </a:txBody>
                  <a:tcPr>
                    <a:solidFill>
                      <a:srgbClr val="FFFFFF"/>
                    </a:solidFill>
                  </a:tcPr>
                </a:tc>
                <a:tc>
                  <a:txBody>
                    <a:bodyPr wrap="square"/>
                    <a:lstStyle/>
                    <a:p>
                      <a:pPr>
                        <a:defRPr sz="950">
                          <a:solidFill>
                            <a:srgbClr val="1C1B19"/>
                          </a:solidFill>
                          <a:latin typeface="Arial"/>
                        </a:defRPr>
                      </a:pPr>
                      <a:r>
                        <a:t>1 à 4 c. à soupe</a:t>
                      </a:r>
                    </a:p>
                  </a:txBody>
                  <a:tcPr>
                    <a:solidFill>
                      <a:srgbClr val="FFFFFF"/>
                    </a:solidFill>
                  </a:tcPr>
                </a:tc>
                <a:tc>
                  <a:txBody>
                    <a:bodyPr wrap="square"/>
                    <a:lstStyle/>
                    <a:p>
                      <a:pPr>
                        <a:defRPr sz="950">
                          <a:solidFill>
                            <a:srgbClr val="1C1B19"/>
                          </a:solidFill>
                          <a:latin typeface="Arial"/>
                        </a:defRPr>
                      </a:pPr>
                      <a:r>
                        <a:t>À chaque démêlage</a:t>
                      </a:r>
                    </a:p>
                  </a:txBody>
                  <a:tcPr>
                    <a:solidFill>
                      <a:srgbClr val="FFFFFF"/>
                    </a:solidFill>
                  </a:tcPr>
                </a:tc>
                <a:tc>
                  <a:txBody>
                    <a:bodyPr wrap="square"/>
                    <a:lstStyle/>
                    <a:p>
                      <a:pPr>
                        <a:defRPr sz="950">
                          <a:solidFill>
                            <a:srgbClr val="1C1B19"/>
                          </a:solidFill>
                          <a:latin typeface="Arial"/>
                        </a:defRPr>
                      </a:pPr>
                      <a:r>
                        <a:t>Garder 4 jours max au frigo</a:t>
                      </a:r>
                    </a:p>
                  </a:txBody>
                  <a:tcPr>
                    <a:solidFill>
                      <a:srgbClr val="FFFFFF"/>
                    </a:solidFill>
                  </a:tcPr>
                </a:tc>
              </a:tr>
              <a:tr h="295421">
                <a:tc>
                  <a:txBody>
                    <a:bodyPr wrap="square"/>
                    <a:lstStyle/>
                    <a:p>
                      <a:pPr>
                        <a:defRPr sz="950" b="1">
                          <a:solidFill>
                            <a:srgbClr val="2B3E63"/>
                          </a:solidFill>
                          <a:latin typeface="Arial"/>
                        </a:defRPr>
                      </a:pPr>
                      <a:r>
                        <a:t>Graines de lin</a:t>
                      </a:r>
                    </a:p>
                  </a:txBody>
                  <a:tcPr>
                    <a:solidFill>
                      <a:srgbClr val="F5EEE0"/>
                    </a:solidFill>
                  </a:tcPr>
                </a:tc>
                <a:tc>
                  <a:txBody>
                    <a:bodyPr wrap="square"/>
                    <a:lstStyle/>
                    <a:p>
                      <a:pPr>
                        <a:defRPr sz="950">
                          <a:solidFill>
                            <a:srgbClr val="1C1B19"/>
                          </a:solidFill>
                          <a:latin typeface="Arial"/>
                        </a:defRPr>
                      </a:pPr>
                      <a:r>
                        <a:t>Définit les boucles et twists sans cartonner</a:t>
                      </a:r>
                    </a:p>
                  </a:txBody>
                  <a:tcPr>
                    <a:solidFill>
                      <a:srgbClr val="F5EEE0"/>
                    </a:solidFill>
                  </a:tcPr>
                </a:tc>
                <a:tc>
                  <a:txBody>
                    <a:bodyPr wrap="square"/>
                    <a:lstStyle/>
                    <a:p>
                      <a:pPr>
                        <a:defRPr sz="950">
                          <a:solidFill>
                            <a:srgbClr val="1C1B19"/>
                          </a:solidFill>
                          <a:latin typeface="Arial"/>
                        </a:defRPr>
                      </a:pPr>
                      <a:r>
                        <a:t>2 c. à s. / 1 verre d'eau</a:t>
                      </a:r>
                    </a:p>
                  </a:txBody>
                  <a:tcPr>
                    <a:solidFill>
                      <a:srgbClr val="F5EEE0"/>
                    </a:solidFill>
                  </a:tcPr>
                </a:tc>
                <a:tc>
                  <a:txBody>
                    <a:bodyPr wrap="square"/>
                    <a:lstStyle/>
                    <a:p>
                      <a:pPr>
                        <a:defRPr sz="950">
                          <a:solidFill>
                            <a:srgbClr val="1C1B19"/>
                          </a:solidFill>
                          <a:latin typeface="Arial"/>
                        </a:defRPr>
                      </a:pPr>
                      <a:r>
                        <a:t>1 à 2× / semaine</a:t>
                      </a:r>
                    </a:p>
                  </a:txBody>
                  <a:tcPr>
                    <a:solidFill>
                      <a:srgbClr val="F5EEE0"/>
                    </a:solidFill>
                  </a:tcPr>
                </a:tc>
                <a:tc>
                  <a:txBody>
                    <a:bodyPr wrap="square"/>
                    <a:lstStyle/>
                    <a:p>
                      <a:pPr>
                        <a:defRPr sz="950">
                          <a:solidFill>
                            <a:srgbClr val="1C1B19"/>
                          </a:solidFill>
                          <a:latin typeface="Arial"/>
                        </a:defRPr>
                      </a:pPr>
                      <a:r>
                        <a:t>Filtrer à chaud au collant</a:t>
                      </a:r>
                    </a:p>
                  </a:txBody>
                  <a:tcPr>
                    <a:solidFill>
                      <a:srgbClr val="F5EEE0"/>
                    </a:solidFill>
                  </a:tcPr>
                </a:tc>
              </a:tr>
              <a:tr h="295421">
                <a:tc>
                  <a:txBody>
                    <a:bodyPr wrap="square"/>
                    <a:lstStyle/>
                    <a:p>
                      <a:pPr>
                        <a:defRPr sz="950" b="1">
                          <a:solidFill>
                            <a:srgbClr val="2B3E63"/>
                          </a:solidFill>
                          <a:latin typeface="Arial"/>
                        </a:defRPr>
                      </a:pPr>
                      <a:r>
                        <a:t>Aloé vera frais</a:t>
                      </a:r>
                    </a:p>
                  </a:txBody>
                  <a:tcPr>
                    <a:solidFill>
                      <a:srgbClr val="FFFFFF"/>
                    </a:solidFill>
                  </a:tcPr>
                </a:tc>
                <a:tc>
                  <a:txBody>
                    <a:bodyPr wrap="square"/>
                    <a:lstStyle/>
                    <a:p>
                      <a:pPr>
                        <a:defRPr sz="950">
                          <a:solidFill>
                            <a:srgbClr val="1C1B19"/>
                          </a:solidFill>
                          <a:latin typeface="Arial"/>
                        </a:defRPr>
                      </a:pPr>
                      <a:r>
                        <a:t>Hydratation 98 % d'eau pure, apaise le crâne</a:t>
                      </a:r>
                    </a:p>
                  </a:txBody>
                  <a:tcPr>
                    <a:solidFill>
                      <a:srgbClr val="FFFFFF"/>
                    </a:solidFill>
                  </a:tcPr>
                </a:tc>
                <a:tc>
                  <a:txBody>
                    <a:bodyPr wrap="square"/>
                    <a:lstStyle/>
                    <a:p>
                      <a:pPr>
                        <a:defRPr sz="950">
                          <a:solidFill>
                            <a:srgbClr val="1C1B19"/>
                          </a:solidFill>
                          <a:latin typeface="Arial"/>
                        </a:defRPr>
                      </a:pPr>
                      <a:r>
                        <a:t>2 c. à s. gel cristal</a:t>
                      </a:r>
                    </a:p>
                  </a:txBody>
                  <a:tcPr>
                    <a:solidFill>
                      <a:srgbClr val="FFFFFF"/>
                    </a:solidFill>
                  </a:tcPr>
                </a:tc>
                <a:tc>
                  <a:txBody>
                    <a:bodyPr wrap="square"/>
                    <a:lstStyle/>
                    <a:p>
                      <a:pPr>
                        <a:defRPr sz="950">
                          <a:solidFill>
                            <a:srgbClr val="1C1B19"/>
                          </a:solidFill>
                          <a:latin typeface="Arial"/>
                        </a:defRPr>
                      </a:pPr>
                      <a:r>
                        <a:t>2 à 3× / semaine</a:t>
                      </a:r>
                    </a:p>
                  </a:txBody>
                  <a:tcPr>
                    <a:solidFill>
                      <a:srgbClr val="FFFFFF"/>
                    </a:solidFill>
                  </a:tcPr>
                </a:tc>
                <a:tc>
                  <a:txBody>
                    <a:bodyPr wrap="square"/>
                    <a:lstStyle/>
                    <a:p>
                      <a:pPr>
                        <a:defRPr sz="950">
                          <a:solidFill>
                            <a:srgbClr val="1C1B19"/>
                          </a:solidFill>
                          <a:latin typeface="Arial"/>
                        </a:defRPr>
                      </a:pPr>
                      <a:r>
                        <a:t>Éliminer le suc jaune (aloïne)</a:t>
                      </a:r>
                    </a:p>
                  </a:txBody>
                  <a:tcPr>
                    <a:solidFill>
                      <a:srgbClr val="FFFFFF"/>
                    </a:solidFill>
                  </a:tcPr>
                </a:tc>
              </a:tr>
              <a:tr h="295421">
                <a:tc>
                  <a:txBody>
                    <a:bodyPr wrap="square"/>
                    <a:lstStyle/>
                    <a:p>
                      <a:pPr>
                        <a:defRPr sz="950" b="1">
                          <a:solidFill>
                            <a:srgbClr val="2B3E63"/>
                          </a:solidFill>
                          <a:latin typeface="Arial"/>
                        </a:defRPr>
                      </a:pPr>
                      <a:r>
                        <a:t>Miel pur local</a:t>
                      </a:r>
                    </a:p>
                  </a:txBody>
                  <a:tcPr>
                    <a:solidFill>
                      <a:srgbClr val="F5EEE0"/>
                    </a:solidFill>
                  </a:tcPr>
                </a:tc>
                <a:tc>
                  <a:txBody>
                    <a:bodyPr wrap="square"/>
                    <a:lstStyle/>
                    <a:p>
                      <a:pPr>
                        <a:defRPr sz="950">
                          <a:solidFill>
                            <a:srgbClr val="1C1B19"/>
                          </a:solidFill>
                          <a:latin typeface="Arial"/>
                        </a:defRPr>
                      </a:pPr>
                      <a:r>
                        <a:t>Humectant suprême : capte l'eau ambiante</a:t>
                      </a:r>
                    </a:p>
                  </a:txBody>
                  <a:tcPr>
                    <a:solidFill>
                      <a:srgbClr val="F5EEE0"/>
                    </a:solidFill>
                  </a:tcPr>
                </a:tc>
                <a:tc>
                  <a:txBody>
                    <a:bodyPr wrap="square"/>
                    <a:lstStyle/>
                    <a:p>
                      <a:pPr>
                        <a:defRPr sz="950">
                          <a:solidFill>
                            <a:srgbClr val="1C1B19"/>
                          </a:solidFill>
                          <a:latin typeface="Arial"/>
                        </a:defRPr>
                      </a:pPr>
                      <a:r>
                        <a:t>1 c. à c. dans masques</a:t>
                      </a:r>
                    </a:p>
                  </a:txBody>
                  <a:tcPr>
                    <a:solidFill>
                      <a:srgbClr val="F5EEE0"/>
                    </a:solidFill>
                  </a:tcPr>
                </a:tc>
                <a:tc>
                  <a:txBody>
                    <a:bodyPr wrap="square"/>
                    <a:lstStyle/>
                    <a:p>
                      <a:pPr>
                        <a:defRPr sz="950">
                          <a:solidFill>
                            <a:srgbClr val="1C1B19"/>
                          </a:solidFill>
                          <a:latin typeface="Arial"/>
                        </a:defRPr>
                      </a:pPr>
                      <a:r>
                        <a:t>1× / semaine</a:t>
                      </a:r>
                    </a:p>
                  </a:txBody>
                  <a:tcPr>
                    <a:solidFill>
                      <a:srgbClr val="F5EEE0"/>
                    </a:solidFill>
                  </a:tcPr>
                </a:tc>
                <a:tc>
                  <a:txBody>
                    <a:bodyPr wrap="square"/>
                    <a:lstStyle/>
                    <a:p>
                      <a:pPr>
                        <a:defRPr sz="950">
                          <a:solidFill>
                            <a:srgbClr val="1C1B19"/>
                          </a:solidFill>
                          <a:latin typeface="Arial"/>
                        </a:defRPr>
                      </a:pPr>
                      <a:r>
                        <a:t>Toujours sceller au karité ensuite</a:t>
                      </a:r>
                    </a:p>
                  </a:txBody>
                  <a:tcPr>
                    <a:solidFill>
                      <a:srgbClr val="F5EEE0"/>
                    </a:solidFill>
                  </a:tcPr>
                </a:tc>
              </a:tr>
              <a:tr h="295421">
                <a:tc>
                  <a:txBody>
                    <a:bodyPr wrap="square"/>
                    <a:lstStyle/>
                    <a:p>
                      <a:pPr>
                        <a:defRPr sz="950" b="1">
                          <a:solidFill>
                            <a:srgbClr val="2B3E63"/>
                          </a:solidFill>
                          <a:latin typeface="Arial"/>
                        </a:defRPr>
                      </a:pPr>
                      <a:r>
                        <a:t>Œuf entier</a:t>
                      </a:r>
                    </a:p>
                  </a:txBody>
                  <a:tcPr>
                    <a:solidFill>
                      <a:srgbClr val="FFFFFF"/>
                    </a:solidFill>
                  </a:tcPr>
                </a:tc>
                <a:tc>
                  <a:txBody>
                    <a:bodyPr wrap="square"/>
                    <a:lstStyle/>
                    <a:p>
                      <a:pPr>
                        <a:defRPr sz="950">
                          <a:solidFill>
                            <a:srgbClr val="1C1B19"/>
                          </a:solidFill>
                          <a:latin typeface="Arial"/>
                        </a:defRPr>
                      </a:pPr>
                      <a:r>
                        <a:t>Protéines d'urgence : répare les fissures</a:t>
                      </a:r>
                    </a:p>
                  </a:txBody>
                  <a:tcPr>
                    <a:solidFill>
                      <a:srgbClr val="FFFFFF"/>
                    </a:solidFill>
                  </a:tcPr>
                </a:tc>
                <a:tc>
                  <a:txBody>
                    <a:bodyPr wrap="square"/>
                    <a:lstStyle/>
                    <a:p>
                      <a:pPr>
                        <a:defRPr sz="950">
                          <a:solidFill>
                            <a:srgbClr val="1C1B19"/>
                          </a:solidFill>
                          <a:latin typeface="Arial"/>
                        </a:defRPr>
                      </a:pPr>
                      <a:r>
                        <a:t>1 œuf + 1 c. s. huile</a:t>
                      </a:r>
                    </a:p>
                  </a:txBody>
                  <a:tcPr>
                    <a:solidFill>
                      <a:srgbClr val="FFFFFF"/>
                    </a:solidFill>
                  </a:tcPr>
                </a:tc>
                <a:tc>
                  <a:txBody>
                    <a:bodyPr wrap="square"/>
                    <a:lstStyle/>
                    <a:p>
                      <a:pPr>
                        <a:defRPr sz="950">
                          <a:solidFill>
                            <a:srgbClr val="1C1B19"/>
                          </a:solidFill>
                          <a:latin typeface="Arial"/>
                        </a:defRPr>
                      </a:pPr>
                      <a:r>
                        <a:t>1× / mois max</a:t>
                      </a:r>
                    </a:p>
                  </a:txBody>
                  <a:tcPr>
                    <a:solidFill>
                      <a:srgbClr val="FFFFFF"/>
                    </a:solidFill>
                  </a:tcPr>
                </a:tc>
                <a:tc>
                  <a:txBody>
                    <a:bodyPr wrap="square"/>
                    <a:lstStyle/>
                    <a:p>
                      <a:pPr>
                        <a:defRPr sz="950">
                          <a:solidFill>
                            <a:srgbClr val="1C1B19"/>
                          </a:solidFill>
                          <a:latin typeface="Arial"/>
                        </a:defRPr>
                      </a:pPr>
                      <a:r>
                        <a:t>Rincer à l'eau TIÈDE uniquement !</a:t>
                      </a:r>
                    </a:p>
                  </a:txBody>
                  <a:tcPr>
                    <a:solidFill>
                      <a:srgbClr val="FFFFFF"/>
                    </a:solidFill>
                  </a:tcPr>
                </a:tc>
              </a:tr>
              <a:tr h="295421">
                <a:tc>
                  <a:txBody>
                    <a:bodyPr wrap="square"/>
                    <a:lstStyle/>
                    <a:p>
                      <a:pPr>
                        <a:defRPr sz="950" b="1">
                          <a:solidFill>
                            <a:srgbClr val="2B3E63"/>
                          </a:solidFill>
                          <a:latin typeface="Arial"/>
                        </a:defRPr>
                      </a:pPr>
                      <a:r>
                        <a:t>Yaourt nature</a:t>
                      </a:r>
                    </a:p>
                  </a:txBody>
                  <a:tcPr>
                    <a:solidFill>
                      <a:srgbClr val="F5EEE0"/>
                    </a:solidFill>
                  </a:tcPr>
                </a:tc>
                <a:tc>
                  <a:txBody>
                    <a:bodyPr wrap="square"/>
                    <a:lstStyle/>
                    <a:p>
                      <a:pPr>
                        <a:defRPr sz="950">
                          <a:solidFill>
                            <a:srgbClr val="1C1B19"/>
                          </a:solidFill>
                          <a:latin typeface="Arial"/>
                        </a:defRPr>
                      </a:pPr>
                      <a:r>
                        <a:t>Acide lactique lissant, clarifie le crâne</a:t>
                      </a:r>
                    </a:p>
                  </a:txBody>
                  <a:tcPr>
                    <a:solidFill>
                      <a:srgbClr val="F5EEE0"/>
                    </a:solidFill>
                  </a:tcPr>
                </a:tc>
                <a:tc>
                  <a:txBody>
                    <a:bodyPr wrap="square"/>
                    <a:lstStyle/>
                    <a:p>
                      <a:pPr>
                        <a:defRPr sz="950">
                          <a:solidFill>
                            <a:srgbClr val="1C1B19"/>
                          </a:solidFill>
                          <a:latin typeface="Arial"/>
                        </a:defRPr>
                      </a:pPr>
                      <a:r>
                        <a:t>4 c. à s. + 1 c. c. miel</a:t>
                      </a:r>
                    </a:p>
                  </a:txBody>
                  <a:tcPr>
                    <a:solidFill>
                      <a:srgbClr val="F5EEE0"/>
                    </a:solidFill>
                  </a:tcPr>
                </a:tc>
                <a:tc>
                  <a:txBody>
                    <a:bodyPr wrap="square"/>
                    <a:lstStyle/>
                    <a:p>
                      <a:pPr>
                        <a:defRPr sz="950">
                          <a:solidFill>
                            <a:srgbClr val="1C1B19"/>
                          </a:solidFill>
                          <a:latin typeface="Arial"/>
                        </a:defRPr>
                      </a:pPr>
                      <a:r>
                        <a:t>1× tous les 15 jours</a:t>
                      </a:r>
                    </a:p>
                  </a:txBody>
                  <a:tcPr>
                    <a:solidFill>
                      <a:srgbClr val="F5EEE0"/>
                    </a:solidFill>
                  </a:tcPr>
                </a:tc>
                <a:tc>
                  <a:txBody>
                    <a:bodyPr wrap="square"/>
                    <a:lstStyle/>
                    <a:p>
                      <a:pPr>
                        <a:defRPr sz="950">
                          <a:solidFill>
                            <a:srgbClr val="1C1B19"/>
                          </a:solidFill>
                          <a:latin typeface="Arial"/>
                        </a:defRPr>
                      </a:pPr>
                      <a:r>
                        <a:t>Bien rincer (odeur résiduelle)</a:t>
                      </a:r>
                    </a:p>
                  </a:txBody>
                  <a:tcPr>
                    <a:solidFill>
                      <a:srgbClr val="F5EEE0"/>
                    </a:solidFill>
                  </a:tcPr>
                </a:tc>
              </a:tr>
              <a:tr h="295421">
                <a:tc>
                  <a:txBody>
                    <a:bodyPr wrap="square"/>
                    <a:lstStyle/>
                    <a:p>
                      <a:pPr>
                        <a:defRPr sz="950" b="1">
                          <a:solidFill>
                            <a:srgbClr val="2B3E63"/>
                          </a:solidFill>
                          <a:latin typeface="Arial"/>
                        </a:defRPr>
                      </a:pPr>
                      <a:r>
                        <a:t>Savon noir local</a:t>
                      </a:r>
                    </a:p>
                  </a:txBody>
                  <a:tcPr>
                    <a:solidFill>
                      <a:srgbClr val="FFFFFF"/>
                    </a:solidFill>
                  </a:tcPr>
                </a:tc>
                <a:tc>
                  <a:txBody>
                    <a:bodyPr wrap="square"/>
                    <a:lstStyle/>
                    <a:p>
                      <a:pPr>
                        <a:defRPr sz="950">
                          <a:solidFill>
                            <a:srgbClr val="1C1B19"/>
                          </a:solidFill>
                          <a:latin typeface="Arial"/>
                        </a:defRPr>
                      </a:pPr>
                      <a:r>
                        <a:t>Nettoie à fond sans sulfates industriels</a:t>
                      </a:r>
                    </a:p>
                  </a:txBody>
                  <a:tcPr>
                    <a:solidFill>
                      <a:srgbClr val="FFFFFF"/>
                    </a:solidFill>
                  </a:tcPr>
                </a:tc>
                <a:tc>
                  <a:txBody>
                    <a:bodyPr wrap="square"/>
                    <a:lstStyle/>
                    <a:p>
                      <a:pPr>
                        <a:defRPr sz="950">
                          <a:solidFill>
                            <a:srgbClr val="1C1B19"/>
                          </a:solidFill>
                          <a:latin typeface="Arial"/>
                        </a:defRPr>
                      </a:pPr>
                      <a:r>
                        <a:t>1 c. à c. dans 1 verre d'eau</a:t>
                      </a:r>
                    </a:p>
                  </a:txBody>
                  <a:tcPr>
                    <a:solidFill>
                      <a:srgbClr val="FFFFFF"/>
                    </a:solidFill>
                  </a:tcPr>
                </a:tc>
                <a:tc>
                  <a:txBody>
                    <a:bodyPr wrap="square"/>
                    <a:lstStyle/>
                    <a:p>
                      <a:pPr>
                        <a:defRPr sz="950">
                          <a:solidFill>
                            <a:srgbClr val="1C1B19"/>
                          </a:solidFill>
                          <a:latin typeface="Arial"/>
                        </a:defRPr>
                      </a:pPr>
                      <a:r>
                        <a:t>1× tous les 15 jours</a:t>
                      </a:r>
                    </a:p>
                  </a:txBody>
                  <a:tcPr>
                    <a:solidFill>
                      <a:srgbClr val="FFFFFF"/>
                    </a:solidFill>
                  </a:tcPr>
                </a:tc>
                <a:tc>
                  <a:txBody>
                    <a:bodyPr wrap="square"/>
                    <a:lstStyle/>
                    <a:p>
                      <a:pPr>
                        <a:defRPr sz="950">
                          <a:solidFill>
                            <a:srgbClr val="1C1B19"/>
                          </a:solidFill>
                          <a:latin typeface="Arial"/>
                        </a:defRPr>
                      </a:pPr>
                      <a:r>
                        <a:t>Toujours DILUÉ + rinçage vinaigre</a:t>
                      </a:r>
                    </a:p>
                  </a:txBody>
                  <a:tcPr>
                    <a:solidFill>
                      <a:srgbClr val="FFFFFF"/>
                    </a:solidFill>
                  </a:tcPr>
                </a:tc>
              </a:tr>
              <a:tr h="295428">
                <a:tc>
                  <a:txBody>
                    <a:bodyPr wrap="square"/>
                    <a:lstStyle/>
                    <a:p>
                      <a:pPr>
                        <a:defRPr sz="950" b="1">
                          <a:solidFill>
                            <a:srgbClr val="2B3E63"/>
                          </a:solidFill>
                          <a:latin typeface="Arial"/>
                        </a:defRPr>
                      </a:pPr>
                      <a:r>
                        <a:t>Vinaigre de cidre</a:t>
                      </a:r>
                    </a:p>
                  </a:txBody>
                  <a:tcPr>
                    <a:solidFill>
                      <a:srgbClr val="F5EEE0"/>
                    </a:solidFill>
                  </a:tcPr>
                </a:tc>
                <a:tc>
                  <a:txBody>
                    <a:bodyPr wrap="square"/>
                    <a:lstStyle/>
                    <a:p>
                      <a:pPr>
                        <a:defRPr sz="950">
                          <a:solidFill>
                            <a:srgbClr val="1C1B19"/>
                          </a:solidFill>
                          <a:latin typeface="Arial"/>
                        </a:defRPr>
                      </a:pPr>
                      <a:r>
                        <a:t>pH 3,5 : referme écailles, dissout le calcaire</a:t>
                      </a:r>
                    </a:p>
                  </a:txBody>
                  <a:tcPr>
                    <a:solidFill>
                      <a:srgbClr val="F5EEE0"/>
                    </a:solidFill>
                  </a:tcPr>
                </a:tc>
                <a:tc>
                  <a:txBody>
                    <a:bodyPr wrap="square"/>
                    <a:lstStyle/>
                    <a:p>
                      <a:pPr>
                        <a:defRPr sz="950">
                          <a:solidFill>
                            <a:srgbClr val="1C1B19"/>
                          </a:solidFill>
                          <a:latin typeface="Arial"/>
                        </a:defRPr>
                      </a:pPr>
                      <a:r>
                        <a:t>1 c. à s. / 1 verre d'eau</a:t>
                      </a:r>
                    </a:p>
                  </a:txBody>
                  <a:tcPr>
                    <a:solidFill>
                      <a:srgbClr val="F5EEE0"/>
                    </a:solidFill>
                  </a:tcPr>
                </a:tc>
                <a:tc>
                  <a:txBody>
                    <a:bodyPr wrap="square"/>
                    <a:lstStyle/>
                    <a:p>
                      <a:pPr>
                        <a:defRPr sz="950">
                          <a:solidFill>
                            <a:srgbClr val="1C1B19"/>
                          </a:solidFill>
                          <a:latin typeface="Arial"/>
                        </a:defRPr>
                      </a:pPr>
                      <a:r>
                        <a:t>À chaque shampoing</a:t>
                      </a:r>
                    </a:p>
                  </a:txBody>
                  <a:tcPr>
                    <a:solidFill>
                      <a:srgbClr val="F5EEE0"/>
                    </a:solidFill>
                  </a:tcPr>
                </a:tc>
                <a:tc>
                  <a:txBody>
                    <a:bodyPr wrap="square"/>
                    <a:lstStyle/>
                    <a:p>
                      <a:pPr>
                        <a:defRPr sz="950">
                          <a:solidFill>
                            <a:srgbClr val="1C1B19"/>
                          </a:solidFill>
                          <a:latin typeface="Arial"/>
                        </a:defRPr>
                      </a:pPr>
                      <a:r>
                        <a:t>Ne jamais utiliser pur ; ne pas rincer</a:t>
                      </a:r>
                    </a:p>
                  </a:txBody>
                  <a:tcPr>
                    <a:solidFill>
                      <a:srgbClr val="F5EEE0"/>
                    </a:solidFill>
                  </a:tcPr>
                </a:tc>
              </a:tr>
            </a:tbl>
          </a:graphicData>
        </a:graphic>
      </p:graphicFrame>
      <p:sp>
        <p:nvSpPr>
          <p:cNvPr id="7" name="Rounded Rectangle 6"/>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Consultez cette table pour composer votre routine en 10 secondes : 1 nettoyant + 1 hydratant + 1 scellant.</a:t>
            </a:r>
          </a:p>
        </p:txBody>
      </p:sp>
      <p:sp>
        <p:nvSpPr>
          <p:cNvPr id="9" name="Rectangle 8"/>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1" name="TextBox 10"/>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44 / 75</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PARTIE 2 · CHAPITRE 11 — DANGERS &amp; ERREURS GRAVES</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Les 8 faux amis et erreurs dangereuses à bannir</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Ce qui circule partout sur Internet et abîme pourtant irrémédiablement vos cheveux.</a:t>
            </a:r>
          </a:p>
        </p:txBody>
      </p:sp>
      <p:sp>
        <p:nvSpPr>
          <p:cNvPr id="6" name="Rounded Rectangle 5"/>
          <p:cNvSpPr/>
          <p:nvPr/>
        </p:nvSpPr>
        <p:spPr>
          <a:xfrm>
            <a:off x="731520" y="1508760"/>
            <a:ext cx="5166360" cy="224028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527048"/>
            <a:ext cx="4892040" cy="36576"/>
          </a:xfrm>
          <a:prstGeom prst="rect">
            <a:avLst/>
          </a:prstGeom>
          <a:solidFill>
            <a:srgbClr val="A85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19"/>
            <a:ext cx="4800600" cy="2011680"/>
          </a:xfrm>
          <a:prstGeom prst="rect">
            <a:avLst/>
          </a:prstGeom>
          <a:noFill/>
        </p:spPr>
        <p:txBody>
          <a:bodyPr wrap="square" lIns="0" tIns="0" rIns="0" bIns="0">
            <a:spAutoFit/>
          </a:bodyPr>
          <a:lstStyle/>
          <a:p>
            <a:pPr>
              <a:defRPr sz="1300" b="1">
                <a:solidFill>
                  <a:srgbClr val="A85236"/>
                </a:solidFill>
                <a:latin typeface="Georgia"/>
              </a:defRPr>
            </a:pPr>
            <a:r>
              <a:t>1. Le Bicarbonate &amp; 2. Le Citron pur</a:t>
            </a:r>
          </a:p>
          <a:p>
            <a:pPr>
              <a:spcAft>
                <a:spcPts val="400"/>
              </a:spcAft>
              <a:defRPr sz="950" b="1">
                <a:solidFill>
                  <a:srgbClr val="6E6A62"/>
                </a:solidFill>
                <a:latin typeface="Arial"/>
              </a:defRPr>
            </a:pPr>
            <a:r>
              <a:t>AGRESSION CHIMIQUE BRUTALE</a:t>
            </a:r>
          </a:p>
          <a:p>
            <a:pPr>
              <a:defRPr sz="1050">
                <a:solidFill>
                  <a:srgbClr val="1C1B19"/>
                </a:solidFill>
                <a:latin typeface="Arial"/>
              </a:defRPr>
            </a:pPr>
            <a:r>
              <a:t>• Bicarbonate de soude (pH 9) : Décape la cuticule, soulève violemment les écailles et rend le cheveu cassant comme du verre.</a:t>
            </a:r>
            <a:br/>
            <a:r>
              <a:t>• Jus de citron pur : pH trop agressif et photosensibilisant sous le soleil d'Afrique. Brûle le cheveu.</a:t>
            </a:r>
          </a:p>
        </p:txBody>
      </p:sp>
      <p:sp>
        <p:nvSpPr>
          <p:cNvPr id="9" name="Rounded Rectangle 8"/>
          <p:cNvSpPr/>
          <p:nvPr/>
        </p:nvSpPr>
        <p:spPr>
          <a:xfrm>
            <a:off x="6263640" y="1508760"/>
            <a:ext cx="5166360" cy="224028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527048"/>
            <a:ext cx="4892040" cy="36576"/>
          </a:xfrm>
          <a:prstGeom prst="rect">
            <a:avLst/>
          </a:prstGeom>
          <a:solidFill>
            <a:srgbClr val="2B3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45919"/>
            <a:ext cx="4800600" cy="2011680"/>
          </a:xfrm>
          <a:prstGeom prst="rect">
            <a:avLst/>
          </a:prstGeom>
          <a:noFill/>
        </p:spPr>
        <p:txBody>
          <a:bodyPr wrap="square" lIns="0" tIns="0" rIns="0" bIns="0">
            <a:spAutoFit/>
          </a:bodyPr>
          <a:lstStyle/>
          <a:p>
            <a:pPr>
              <a:defRPr sz="1300" b="1">
                <a:solidFill>
                  <a:srgbClr val="2B3E63"/>
                </a:solidFill>
                <a:latin typeface="Georgia"/>
              </a:defRPr>
            </a:pPr>
            <a:r>
              <a:t>3. HE pures &amp; 4. Henné métallique</a:t>
            </a:r>
          </a:p>
          <a:p>
            <a:pPr>
              <a:spcAft>
                <a:spcPts val="400"/>
              </a:spcAft>
              <a:defRPr sz="950" b="1">
                <a:solidFill>
                  <a:srgbClr val="6E6A62"/>
                </a:solidFill>
                <a:latin typeface="Arial"/>
              </a:defRPr>
            </a:pPr>
            <a:r>
              <a:t>BRÛLURES ET RÉACTIONS CHIMIQUES</a:t>
            </a:r>
          </a:p>
          <a:p>
            <a:pPr>
              <a:defRPr sz="1050">
                <a:solidFill>
                  <a:srgbClr val="1C1B19"/>
                </a:solidFill>
                <a:latin typeface="Arial"/>
              </a:defRPr>
            </a:pPr>
            <a:r>
              <a:t>• Huiles essentielles pures : Brûlures chimiques au 2nd degré sur le crâne et chute massive.</a:t>
            </a:r>
            <a:br/>
            <a:r>
              <a:t>• Henné contenant des sels métalliques sur cheveux défrisés ou teints : Réaction thermique explosive qui désagrège la fibre.</a:t>
            </a:r>
          </a:p>
        </p:txBody>
      </p:sp>
      <p:sp>
        <p:nvSpPr>
          <p:cNvPr id="12" name="Rounded Rectangle 11"/>
          <p:cNvSpPr/>
          <p:nvPr/>
        </p:nvSpPr>
        <p:spPr>
          <a:xfrm>
            <a:off x="731520" y="4069080"/>
            <a:ext cx="5166360" cy="224028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68680" y="4087368"/>
            <a:ext cx="4892040" cy="36576"/>
          </a:xfrm>
          <a:prstGeom prst="rect">
            <a:avLst/>
          </a:prstGeom>
          <a:solidFill>
            <a:srgbClr val="556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206240"/>
            <a:ext cx="4800600" cy="2011680"/>
          </a:xfrm>
          <a:prstGeom prst="rect">
            <a:avLst/>
          </a:prstGeom>
          <a:noFill/>
        </p:spPr>
        <p:txBody>
          <a:bodyPr wrap="square" lIns="0" tIns="0" rIns="0" bIns="0">
            <a:spAutoFit/>
          </a:bodyPr>
          <a:lstStyle/>
          <a:p>
            <a:pPr>
              <a:defRPr sz="1300" b="1">
                <a:solidFill>
                  <a:srgbClr val="55663A"/>
                </a:solidFill>
                <a:latin typeface="Georgia"/>
              </a:defRPr>
            </a:pPr>
            <a:r>
              <a:t>5. Gros sel &amp; 6. Colles à perruques</a:t>
            </a:r>
          </a:p>
          <a:p>
            <a:pPr>
              <a:spcAft>
                <a:spcPts val="400"/>
              </a:spcAft>
              <a:defRPr sz="950" b="1">
                <a:solidFill>
                  <a:srgbClr val="6E6A62"/>
                </a:solidFill>
                <a:latin typeface="Arial"/>
              </a:defRPr>
            </a:pPr>
            <a:r>
              <a:t>ARRACHAGE MÉCANIQUE ET ÉTOUFFEMENT</a:t>
            </a:r>
          </a:p>
          <a:p>
            <a:pPr>
              <a:defRPr sz="1050">
                <a:solidFill>
                  <a:srgbClr val="1C1B19"/>
                </a:solidFill>
                <a:latin typeface="Arial"/>
              </a:defRPr>
            </a:pPr>
            <a:r>
              <a:t>• Friction au gros sel : Abrasion mécanique sauvage du cuir chevelu qui détruit les follicules naissants.</a:t>
            </a:r>
            <a:br/>
            <a:r>
              <a:t>• Colles à perruque posées sur la lisière : Asphyxie totale du bulbe et alopécie de traction irréversible.</a:t>
            </a:r>
          </a:p>
        </p:txBody>
      </p:sp>
      <p:sp>
        <p:nvSpPr>
          <p:cNvPr id="15" name="Rounded Rectangle 14"/>
          <p:cNvSpPr/>
          <p:nvPr/>
        </p:nvSpPr>
        <p:spPr>
          <a:xfrm>
            <a:off x="6263640" y="4069080"/>
            <a:ext cx="5166360" cy="224028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0" y="4087368"/>
            <a:ext cx="4892040" cy="36576"/>
          </a:xfrm>
          <a:prstGeom prst="rect">
            <a:avLst/>
          </a:prstGeom>
          <a:solidFill>
            <a:srgbClr val="B88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4206240"/>
            <a:ext cx="4800600" cy="2011680"/>
          </a:xfrm>
          <a:prstGeom prst="rect">
            <a:avLst/>
          </a:prstGeom>
          <a:noFill/>
        </p:spPr>
        <p:txBody>
          <a:bodyPr wrap="square" lIns="0" tIns="0" rIns="0" bIns="0">
            <a:spAutoFit/>
          </a:bodyPr>
          <a:lstStyle/>
          <a:p>
            <a:pPr>
              <a:defRPr sz="1300" b="1">
                <a:solidFill>
                  <a:srgbClr val="B8862B"/>
                </a:solidFill>
                <a:latin typeface="Georgia"/>
              </a:defRPr>
            </a:pPr>
            <a:r>
              <a:t>7. Pots avariés &amp; 8. Peigne sur 4C sec</a:t>
            </a:r>
          </a:p>
          <a:p>
            <a:pPr>
              <a:spcAft>
                <a:spcPts val="400"/>
              </a:spcAft>
              <a:defRPr sz="950" b="1">
                <a:solidFill>
                  <a:srgbClr val="6E6A62"/>
                </a:solidFill>
                <a:latin typeface="Arial"/>
              </a:defRPr>
            </a:pPr>
            <a:r>
              <a:t>INFECTIONS ET ARRACHAGE PUR</a:t>
            </a:r>
          </a:p>
          <a:p>
            <a:pPr>
              <a:defRPr sz="1050">
                <a:solidFill>
                  <a:srgbClr val="1C1B19"/>
                </a:solidFill>
                <a:latin typeface="Arial"/>
              </a:defRPr>
            </a:pPr>
            <a:r>
              <a:t>• Préparations maison gardées 3 semaines à température ambiante : Nids à staphylocoques et moisissures.</a:t>
            </a:r>
            <a:br/>
            <a:r>
              <a:t>• Démêler un afro 4C sec au peigne fin : Arrachage mécanique garanti de 500 cheveux sains à chaque passage.</a:t>
            </a:r>
          </a:p>
        </p:txBody>
      </p:sp>
      <p:sp>
        <p:nvSpPr>
          <p:cNvPr id="18" name="Rectangle 17"/>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20" name="TextBox 19"/>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45 / 75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731520"/>
            <a:ext cx="10362895" cy="5394960"/>
          </a:xfrm>
          <a:prstGeom prst="rect">
            <a:avLst/>
          </a:prstGeom>
          <a:noFill/>
          <a:ln w="15240">
            <a:solidFill>
              <a:srgbClr val="B88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188720"/>
            <a:ext cx="9445752" cy="365760"/>
          </a:xfrm>
          <a:prstGeom prst="rect">
            <a:avLst/>
          </a:prstGeom>
          <a:noFill/>
        </p:spPr>
        <p:txBody>
          <a:bodyPr wrap="none" lIns="0" tIns="0" rIns="0" bIns="0">
            <a:spAutoFit/>
          </a:bodyPr>
          <a:lstStyle/>
          <a:p>
            <a:pPr>
              <a:defRPr sz="1200" b="1">
                <a:solidFill>
                  <a:srgbClr val="D9A13B"/>
                </a:solidFill>
                <a:latin typeface="Arial"/>
              </a:defRPr>
            </a:pPr>
            <a:r>
              <a:t>TROISIÈME PARTIE</a:t>
            </a:r>
          </a:p>
        </p:txBody>
      </p:sp>
      <p:sp>
        <p:nvSpPr>
          <p:cNvPr id="5" name="TextBox 4"/>
          <p:cNvSpPr txBox="1"/>
          <p:nvPr/>
        </p:nvSpPr>
        <p:spPr>
          <a:xfrm>
            <a:off x="1371600" y="1645920"/>
            <a:ext cx="9445752" cy="1097280"/>
          </a:xfrm>
          <a:prstGeom prst="rect">
            <a:avLst/>
          </a:prstGeom>
          <a:noFill/>
        </p:spPr>
        <p:txBody>
          <a:bodyPr wrap="square" lIns="0" tIns="0" rIns="0" bIns="0">
            <a:spAutoFit/>
          </a:bodyPr>
          <a:lstStyle/>
          <a:p>
            <a:pPr>
              <a:defRPr sz="3600" b="1">
                <a:solidFill>
                  <a:srgbClr val="FAF6F0"/>
                </a:solidFill>
                <a:latin typeface="Georgia"/>
              </a:defRPr>
            </a:pPr>
            <a:r>
              <a:t>Astuces, Routines &amp; L'Assiette Cheveux</a:t>
            </a:r>
          </a:p>
        </p:txBody>
      </p:sp>
      <p:sp>
        <p:nvSpPr>
          <p:cNvPr id="6" name="Rectangle 5"/>
          <p:cNvSpPr/>
          <p:nvPr/>
        </p:nvSpPr>
        <p:spPr>
          <a:xfrm>
            <a:off x="1371600" y="2926080"/>
            <a:ext cx="3200400" cy="36576"/>
          </a:xfrm>
          <a:prstGeom prst="rect">
            <a:avLst/>
          </a:prstGeom>
          <a:solidFill>
            <a:srgbClr val="D9A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154680"/>
            <a:ext cx="9445752" cy="1280160"/>
          </a:xfrm>
          <a:prstGeom prst="rect">
            <a:avLst/>
          </a:prstGeom>
          <a:noFill/>
        </p:spPr>
        <p:txBody>
          <a:bodyPr wrap="square" lIns="0" tIns="0" rIns="0" bIns="0">
            <a:spAutoFit/>
          </a:bodyPr>
          <a:lstStyle/>
          <a:p>
            <a:pPr>
              <a:defRPr sz="1800" i="1">
                <a:solidFill>
                  <a:srgbClr val="D9A13B"/>
                </a:solidFill>
                <a:latin typeface="Georgia"/>
              </a:defRPr>
            </a:pPr>
            <a:r>
              <a:t>« Le meilleur produit du monde ne sert à rien s'il est appliqué avec un mauvais geste. La technique est reine. »</a:t>
            </a:r>
          </a:p>
        </p:txBody>
      </p:sp>
      <p:sp>
        <p:nvSpPr>
          <p:cNvPr id="8" name="TextBox 7"/>
          <p:cNvSpPr txBox="1"/>
          <p:nvPr/>
        </p:nvSpPr>
        <p:spPr>
          <a:xfrm>
            <a:off x="1371600" y="4572000"/>
            <a:ext cx="9445752" cy="914400"/>
          </a:xfrm>
          <a:prstGeom prst="rect">
            <a:avLst/>
          </a:prstGeom>
          <a:noFill/>
        </p:spPr>
        <p:txBody>
          <a:bodyPr wrap="square" lIns="0" tIns="0" rIns="0" bIns="0">
            <a:spAutoFit/>
          </a:bodyPr>
          <a:lstStyle/>
          <a:p>
            <a:pPr>
              <a:defRPr sz="1300">
                <a:solidFill>
                  <a:srgbClr val="D2C8B8"/>
                </a:solidFill>
                <a:latin typeface="Arial"/>
              </a:defRPr>
            </a:pPr>
            <a:r>
              <a:t>Protocoles de lavage, méthode LCO, nutrition locale et le Kit Anti-Paresse pour réussir sans effort héroïque.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PARTIE 3 · CHAPITRE 12 — ORGANISATION &amp; TEMPO</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Le rythme de la semaine : trois cadences réalistes</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Choisissez la formule qui s'adapte à votre emploi du temps, pas à un idéal inaccessible.</a:t>
            </a:r>
          </a:p>
        </p:txBody>
      </p:sp>
      <p:sp>
        <p:nvSpPr>
          <p:cNvPr id="6" name="Rounded Rectangle 5"/>
          <p:cNvSpPr/>
          <p:nvPr/>
        </p:nvSpPr>
        <p:spPr>
          <a:xfrm>
            <a:off x="731520" y="1463040"/>
            <a:ext cx="33375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3063240" cy="45720"/>
          </a:xfrm>
          <a:prstGeom prst="rect">
            <a:avLst/>
          </a:prstGeom>
          <a:solidFill>
            <a:srgbClr val="A85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2971800" cy="3566160"/>
          </a:xfrm>
          <a:prstGeom prst="rect">
            <a:avLst/>
          </a:prstGeom>
          <a:noFill/>
        </p:spPr>
        <p:txBody>
          <a:bodyPr wrap="square" lIns="0" tIns="0" rIns="0" bIns="0">
            <a:spAutoFit/>
          </a:bodyPr>
          <a:lstStyle/>
          <a:p>
            <a:pPr>
              <a:spcAft>
                <a:spcPts val="800"/>
              </a:spcAft>
              <a:defRPr sz="1450" b="1">
                <a:solidFill>
                  <a:srgbClr val="A85236"/>
                </a:solidFill>
                <a:latin typeface="Georgia"/>
              </a:defRPr>
            </a:pPr>
            <a:r>
              <a:t>Formule 1 : Express (15 min)</a:t>
            </a:r>
          </a:p>
          <a:p>
            <a:pPr>
              <a:spcAft>
                <a:spcPts val="400"/>
              </a:spcAft>
              <a:defRPr sz="1100">
                <a:solidFill>
                  <a:srgbClr val="1C1B19"/>
                </a:solidFill>
                <a:latin typeface="Arial"/>
              </a:defRPr>
            </a:pPr>
            <a:r>
              <a:t>• Pour qui : Semaines chargées, examens, mères de famille débordées.</a:t>
            </a:r>
          </a:p>
          <a:p>
            <a:pPr>
              <a:spcAft>
                <a:spcPts val="400"/>
              </a:spcAft>
              <a:defRPr sz="1100">
                <a:solidFill>
                  <a:srgbClr val="1C1B19"/>
                </a:solidFill>
                <a:latin typeface="Arial"/>
              </a:defRPr>
            </a:pPr>
            <a:r>
              <a:t>• Au réveil (2 min) : Nuage d'eau en spray sur les longueurs + 1 goutte d'huile de sésame.</a:t>
            </a:r>
          </a:p>
          <a:p>
            <a:pPr>
              <a:spcAft>
                <a:spcPts val="400"/>
              </a:spcAft>
              <a:defRPr sz="1100">
                <a:solidFill>
                  <a:srgbClr val="1C1B19"/>
                </a:solidFill>
                <a:latin typeface="Arial"/>
              </a:defRPr>
            </a:pPr>
            <a:r>
              <a:t>• En milieu de semaine (3 min) : Massage rapide du crâne du bout des doigts sans produit.</a:t>
            </a:r>
          </a:p>
          <a:p>
            <a:pPr>
              <a:spcAft>
                <a:spcPts val="400"/>
              </a:spcAft>
              <a:defRPr sz="1100">
                <a:solidFill>
                  <a:srgbClr val="1C1B19"/>
                </a:solidFill>
                <a:latin typeface="Arial"/>
              </a:defRPr>
            </a:pPr>
            <a:r>
              <a:t>• Le soir (10 min) : 4 grosses vanilles lâches scellées au karité + foulard en satin.</a:t>
            </a:r>
          </a:p>
        </p:txBody>
      </p:sp>
      <p:sp>
        <p:nvSpPr>
          <p:cNvPr id="9" name="Rounded Rectangle 8"/>
          <p:cNvSpPr/>
          <p:nvPr/>
        </p:nvSpPr>
        <p:spPr>
          <a:xfrm>
            <a:off x="4425696" y="1463040"/>
            <a:ext cx="33375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62856" y="1481328"/>
            <a:ext cx="3063240" cy="45720"/>
          </a:xfrm>
          <a:prstGeom prst="rect">
            <a:avLst/>
          </a:prstGeom>
          <a:solidFill>
            <a:srgbClr val="B88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08576" y="1645920"/>
            <a:ext cx="2971800" cy="3566160"/>
          </a:xfrm>
          <a:prstGeom prst="rect">
            <a:avLst/>
          </a:prstGeom>
          <a:noFill/>
        </p:spPr>
        <p:txBody>
          <a:bodyPr wrap="square" lIns="0" tIns="0" rIns="0" bIns="0">
            <a:spAutoFit/>
          </a:bodyPr>
          <a:lstStyle/>
          <a:p>
            <a:pPr>
              <a:spcAft>
                <a:spcPts val="800"/>
              </a:spcAft>
              <a:defRPr sz="1450" b="1">
                <a:solidFill>
                  <a:srgbClr val="B8862B"/>
                </a:solidFill>
                <a:latin typeface="Georgia"/>
              </a:defRPr>
            </a:pPr>
            <a:r>
              <a:t>Formule 2 : Normale (45 min)</a:t>
            </a:r>
          </a:p>
          <a:p>
            <a:pPr>
              <a:spcAft>
                <a:spcPts val="400"/>
              </a:spcAft>
              <a:defRPr sz="1100">
                <a:solidFill>
                  <a:srgbClr val="1C1B19"/>
                </a:solidFill>
                <a:latin typeface="Arial"/>
              </a:defRPr>
            </a:pPr>
            <a:r>
              <a:t>• Pour qui : Le rythme d'équilibre hebdomadaire classique.</a:t>
            </a:r>
          </a:p>
          <a:p>
            <a:pPr>
              <a:spcAft>
                <a:spcPts val="400"/>
              </a:spcAft>
              <a:defRPr sz="1100">
                <a:solidFill>
                  <a:srgbClr val="1C1B19"/>
                </a:solidFill>
                <a:latin typeface="Arial"/>
              </a:defRPr>
            </a:pPr>
            <a:r>
              <a:t>• J-Lavage (30 min de pose masquée) : Pré-poo coco pendant que vous préparez le repas du soir.</a:t>
            </a:r>
          </a:p>
          <a:p>
            <a:pPr>
              <a:spcAft>
                <a:spcPts val="400"/>
              </a:spcAft>
              <a:defRPr sz="1100">
                <a:solidFill>
                  <a:srgbClr val="1C1B19"/>
                </a:solidFill>
                <a:latin typeface="Arial"/>
              </a:defRPr>
            </a:pPr>
            <a:r>
              <a:t>• Douche (15 min) : Savon noir dilué sur les racines + rinçage abondant + rinçage acide au vinaigre de cidre.</a:t>
            </a:r>
          </a:p>
          <a:p>
            <a:pPr>
              <a:spcAft>
                <a:spcPts val="400"/>
              </a:spcAft>
              <a:defRPr sz="1100">
                <a:solidFill>
                  <a:srgbClr val="1C1B19"/>
                </a:solidFill>
                <a:latin typeface="Arial"/>
              </a:defRPr>
            </a:pPr>
            <a:r>
              <a:t>• Finition : LCO rapide sur cheveux humides et tressage protecteur pour la semaine.</a:t>
            </a:r>
          </a:p>
        </p:txBody>
      </p:sp>
      <p:sp>
        <p:nvSpPr>
          <p:cNvPr id="12" name="Rounded Rectangle 11"/>
          <p:cNvSpPr/>
          <p:nvPr/>
        </p:nvSpPr>
        <p:spPr>
          <a:xfrm>
            <a:off x="8119872" y="1463040"/>
            <a:ext cx="33375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57032" y="1481328"/>
            <a:ext cx="3063240" cy="45720"/>
          </a:xfrm>
          <a:prstGeom prst="rect">
            <a:avLst/>
          </a:prstGeom>
          <a:solidFill>
            <a:srgbClr val="2B3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2752" y="1645920"/>
            <a:ext cx="2971800" cy="3566160"/>
          </a:xfrm>
          <a:prstGeom prst="rect">
            <a:avLst/>
          </a:prstGeom>
          <a:noFill/>
        </p:spPr>
        <p:txBody>
          <a:bodyPr wrap="square" lIns="0" tIns="0" rIns="0" bIns="0">
            <a:spAutoFit/>
          </a:bodyPr>
          <a:lstStyle/>
          <a:p>
            <a:pPr>
              <a:spcAft>
                <a:spcPts val="800"/>
              </a:spcAft>
              <a:defRPr sz="1450" b="1">
                <a:solidFill>
                  <a:srgbClr val="2B3E63"/>
                </a:solidFill>
                <a:latin typeface="Georgia"/>
              </a:defRPr>
            </a:pPr>
            <a:r>
              <a:t>Formule 3 : Royale (1h30)</a:t>
            </a:r>
          </a:p>
          <a:p>
            <a:pPr>
              <a:spcAft>
                <a:spcPts val="400"/>
              </a:spcAft>
              <a:defRPr sz="1100">
                <a:solidFill>
                  <a:srgbClr val="1C1B19"/>
                </a:solidFill>
                <a:latin typeface="Arial"/>
              </a:defRPr>
            </a:pPr>
            <a:r>
              <a:t>• Pour qui : Le rituel bien-être du dimanche ou post-dépose de tresses.</a:t>
            </a:r>
          </a:p>
          <a:p>
            <a:pPr>
              <a:spcAft>
                <a:spcPts val="400"/>
              </a:spcAft>
              <a:defRPr sz="1100">
                <a:solidFill>
                  <a:srgbClr val="1C1B19"/>
                </a:solidFill>
                <a:latin typeface="Arial"/>
              </a:defRPr>
            </a:pPr>
            <a:r>
              <a:t>• Soin profond (45 min) : Bain d'huile tiède sous charlotte + serviette chaude.</a:t>
            </a:r>
          </a:p>
          <a:p>
            <a:pPr>
              <a:spcAft>
                <a:spcPts val="400"/>
              </a:spcAft>
              <a:defRPr sz="1100">
                <a:solidFill>
                  <a:srgbClr val="1C1B19"/>
                </a:solidFill>
                <a:latin typeface="Arial"/>
              </a:defRPr>
            </a:pPr>
            <a:r>
              <a:t>• Démêlage aux doigts (20 min) : Mèche par mèche au gel de gombo frais.</a:t>
            </a:r>
          </a:p>
          <a:p>
            <a:pPr>
              <a:spcAft>
                <a:spcPts val="400"/>
              </a:spcAft>
              <a:defRPr sz="1100">
                <a:solidFill>
                  <a:srgbClr val="1C1B19"/>
                </a:solidFill>
                <a:latin typeface="Arial"/>
              </a:defRPr>
            </a:pPr>
            <a:r>
              <a:t>• Masque maison : Miel, yaourt nature et olive.</a:t>
            </a:r>
          </a:p>
          <a:p>
            <a:pPr>
              <a:spcAft>
                <a:spcPts val="400"/>
              </a:spcAft>
              <a:defRPr sz="1100">
                <a:solidFill>
                  <a:srgbClr val="1C1B19"/>
                </a:solidFill>
                <a:latin typeface="Arial"/>
              </a:defRPr>
            </a:pPr>
            <a:r>
              <a:t>• Finition : Coiffure soignée en twists définis au gel de lin.</a:t>
            </a:r>
          </a:p>
        </p:txBody>
      </p:sp>
      <p:sp>
        <p:nvSpPr>
          <p:cNvPr id="15" name="Rounded Rectangle 14"/>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Si vous n'avez pas le temps pour la formule Royale, faites la formule Express ! C'est la régularité qui compte, jamais la perfection.</a:t>
            </a:r>
          </a:p>
        </p:txBody>
      </p:sp>
      <p:sp>
        <p:nvSpPr>
          <p:cNvPr id="17" name="Rectangle 16"/>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9" name="TextBox 18"/>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47 / 75</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PARTIE 3 · CHAPITRE 13 — LE PROTOCOLE DE LAVAGE</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Laver sans casser : le protocole en 5 étapes clés</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Le lavage est le moment le plus traumatique pour la fibre : voici comment le sécuriser.</a:t>
            </a:r>
          </a:p>
        </p:txBody>
      </p:sp>
      <p:sp>
        <p:nvSpPr>
          <p:cNvPr id="6" name="Rounded Rectangle 5"/>
          <p:cNvSpPr/>
          <p:nvPr/>
        </p:nvSpPr>
        <p:spPr>
          <a:xfrm>
            <a:off x="73152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4892040" cy="45720"/>
          </a:xfrm>
          <a:prstGeom prst="rect">
            <a:avLst/>
          </a:prstGeom>
          <a:solidFill>
            <a:srgbClr val="2B3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09160" cy="3566160"/>
          </a:xfrm>
          <a:prstGeom prst="rect">
            <a:avLst/>
          </a:prstGeom>
          <a:noFill/>
        </p:spPr>
        <p:txBody>
          <a:bodyPr wrap="square" lIns="0" tIns="0" rIns="0" bIns="0">
            <a:spAutoFit/>
          </a:bodyPr>
          <a:lstStyle/>
          <a:p>
            <a:pPr>
              <a:spcAft>
                <a:spcPts val="800"/>
              </a:spcAft>
              <a:defRPr sz="1450" b="1">
                <a:solidFill>
                  <a:srgbClr val="2B3E63"/>
                </a:solidFill>
                <a:latin typeface="Georgia"/>
              </a:defRPr>
            </a:pPr>
            <a:r>
              <a:t>Les étapes 1 à 3 : Préparation &amp; Racines</a:t>
            </a:r>
          </a:p>
          <a:p>
            <a:pPr>
              <a:spcAft>
                <a:spcPts val="400"/>
              </a:spcAft>
              <a:defRPr sz="1100" b="1">
                <a:solidFill>
                  <a:srgbClr val="2B3E63"/>
                </a:solidFill>
                <a:latin typeface="Arial"/>
              </a:defRPr>
            </a:pPr>
            <a:r>
              <a:t>Étape 1 : Le Pré-Poo protecteur obligatoire : </a:t>
            </a:r>
            <a:r>
              <a:rPr sz="1100" b="0">
                <a:solidFill>
                  <a:srgbClr val="1C1B19"/>
                </a:solidFill>
                <a:latin typeface="Arial"/>
              </a:rPr>
              <a:t>Appliquez 1 cuillère à soupe d'huile de coco sur cheveux SECS 30 minutes avant de mouiller. L'huile pénètre le cortex et bloque le gonflement excessif de la fibre sous l'eau.</a:t>
            </a:r>
          </a:p>
          <a:p>
            <a:pPr>
              <a:spcAft>
                <a:spcPts val="400"/>
              </a:spcAft>
              <a:defRPr sz="1100" b="1">
                <a:solidFill>
                  <a:srgbClr val="2B3E63"/>
                </a:solidFill>
                <a:latin typeface="Arial"/>
              </a:defRPr>
            </a:pPr>
            <a:r>
              <a:t>Étape 2 : L'eau tiède (jamais brûlante) : </a:t>
            </a:r>
            <a:r>
              <a:rPr sz="1100" b="0">
                <a:solidFill>
                  <a:srgbClr val="1C1B19"/>
                </a:solidFill>
                <a:latin typeface="Arial"/>
              </a:rPr>
              <a:t>Mouillez à fond avec de l'eau tiède. L'eau brûlante déshydrate et agresse le cuir chevelu ; l'eau froide fige les résidus de sébum.</a:t>
            </a:r>
          </a:p>
          <a:p>
            <a:pPr>
              <a:spcAft>
                <a:spcPts val="400"/>
              </a:spcAft>
              <a:defRPr sz="1100" b="1">
                <a:solidFill>
                  <a:srgbClr val="2B3E63"/>
                </a:solidFill>
                <a:latin typeface="Arial"/>
              </a:defRPr>
            </a:pPr>
            <a:r>
              <a:t>Étape 3 : Shampoing appliqué UNIQUEMENT sur le crâne : </a:t>
            </a:r>
            <a:r>
              <a:rPr sz="1100" b="0">
                <a:solidFill>
                  <a:srgbClr val="1C1B19"/>
                </a:solidFill>
                <a:latin typeface="Arial"/>
              </a:rPr>
              <a:t>Massez le cuir chevelu avec la pulpe des doigts (jamais les ongles !). Ne frottez JAMAIS vos longueurs entre vos paumes : la mousse qui glisse le long des mèches au rinçage suffit amplement à les nettoyer.</a:t>
            </a:r>
          </a:p>
        </p:txBody>
      </p:sp>
      <p:sp>
        <p:nvSpPr>
          <p:cNvPr id="9" name="Rounded Rectangle 8"/>
          <p:cNvSpPr/>
          <p:nvPr/>
        </p:nvSpPr>
        <p:spPr>
          <a:xfrm>
            <a:off x="626364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481328"/>
            <a:ext cx="4892040" cy="45720"/>
          </a:xfrm>
          <a:prstGeom prst="rect">
            <a:avLst/>
          </a:prstGeom>
          <a:solidFill>
            <a:srgbClr val="A85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45920"/>
            <a:ext cx="4709160" cy="3566160"/>
          </a:xfrm>
          <a:prstGeom prst="rect">
            <a:avLst/>
          </a:prstGeom>
          <a:noFill/>
        </p:spPr>
        <p:txBody>
          <a:bodyPr wrap="square" lIns="0" tIns="0" rIns="0" bIns="0">
            <a:spAutoFit/>
          </a:bodyPr>
          <a:lstStyle/>
          <a:p>
            <a:pPr>
              <a:spcAft>
                <a:spcPts val="800"/>
              </a:spcAft>
              <a:defRPr sz="1450" b="1">
                <a:solidFill>
                  <a:srgbClr val="A85236"/>
                </a:solidFill>
                <a:latin typeface="Georgia"/>
              </a:defRPr>
            </a:pPr>
            <a:r>
              <a:t>Les étapes 4 et 5 : Fermeture &amp; Séchage doux</a:t>
            </a:r>
          </a:p>
          <a:p>
            <a:pPr>
              <a:spcAft>
                <a:spcPts val="400"/>
              </a:spcAft>
              <a:defRPr sz="1100" b="1">
                <a:solidFill>
                  <a:srgbClr val="A85236"/>
                </a:solidFill>
                <a:latin typeface="Arial"/>
              </a:defRPr>
            </a:pPr>
            <a:r>
              <a:t>Étape 4 : Le rinçage acide au vinaigre de cidre : </a:t>
            </a:r>
            <a:r>
              <a:rPr sz="1100" b="0">
                <a:solidFill>
                  <a:srgbClr val="1C1B19"/>
                </a:solidFill>
                <a:latin typeface="Arial"/>
              </a:rPr>
              <a:t>Après avoir rincé votre savon noir ou shampoing doux, versez 1 grand verre d'eau vinaigrée (1 c. à s. de vinaigre). Vous sentirez immédiatement les cuticules se lisser sous vos doigts.</a:t>
            </a:r>
          </a:p>
          <a:p>
            <a:pPr>
              <a:spcAft>
                <a:spcPts val="400"/>
              </a:spcAft>
              <a:defRPr sz="1100" b="1">
                <a:solidFill>
                  <a:srgbClr val="A85236"/>
                </a:solidFill>
                <a:latin typeface="Arial"/>
              </a:defRPr>
            </a:pPr>
            <a:r>
              <a:t>Étape 5 : L'essorage au t-shirt en coton lisse : </a:t>
            </a:r>
            <a:r>
              <a:rPr sz="1100" b="0">
                <a:solidFill>
                  <a:srgbClr val="1C1B19"/>
                </a:solidFill>
                <a:latin typeface="Arial"/>
              </a:rPr>
              <a:t>Bannissez à vie les serviettes éponges classiques ! Leurs micro-bouclettes de tissu agrippent les écailles 4C et les arrachent. Pressez délicatement vos cheveux dans un vieux t-shirt en coton lisse sans jamais frotter.</a:t>
            </a:r>
          </a:p>
        </p:txBody>
      </p:sp>
      <p:sp>
        <p:nvSpPr>
          <p:cNvPr id="12" name="Rounded Rectangle 11"/>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On lave son cuir chevelu comme on nettoie son visage, et on traite ses longueurs comme de la dentelle ancienne.</a:t>
            </a:r>
          </a:p>
        </p:txBody>
      </p:sp>
      <p:sp>
        <p:nvSpPr>
          <p:cNvPr id="14" name="Rectangle 13"/>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6" name="TextBox 15"/>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48 / 75</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PARTIE 3 · CHAPITRE 14 — DÉMÊLAGE SÉCURISÉ</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Démêler sans perdre ses cheveux : les 4 sections</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La méthode infaillible pour préserver chaque centimètre de votre couronne.</a:t>
            </a:r>
          </a:p>
        </p:txBody>
      </p:sp>
      <p:sp>
        <p:nvSpPr>
          <p:cNvPr id="6" name="Rounded Rectangle 5"/>
          <p:cNvSpPr/>
          <p:nvPr/>
        </p:nvSpPr>
        <p:spPr>
          <a:xfrm>
            <a:off x="73152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4892040" cy="45720"/>
          </a:xfrm>
          <a:prstGeom prst="rect">
            <a:avLst/>
          </a:prstGeom>
          <a:solidFill>
            <a:srgbClr val="556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09160" cy="3566160"/>
          </a:xfrm>
          <a:prstGeom prst="rect">
            <a:avLst/>
          </a:prstGeom>
          <a:noFill/>
        </p:spPr>
        <p:txBody>
          <a:bodyPr wrap="square" lIns="0" tIns="0" rIns="0" bIns="0">
            <a:spAutoFit/>
          </a:bodyPr>
          <a:lstStyle/>
          <a:p>
            <a:pPr>
              <a:spcAft>
                <a:spcPts val="800"/>
              </a:spcAft>
              <a:defRPr sz="1450" b="1">
                <a:solidFill>
                  <a:srgbClr val="55663A"/>
                </a:solidFill>
                <a:latin typeface="Georgia"/>
              </a:defRPr>
            </a:pPr>
            <a:r>
              <a:t>La règle sacrée des 4 quadrants</a:t>
            </a:r>
          </a:p>
          <a:p>
            <a:pPr>
              <a:spcAft>
                <a:spcPts val="400"/>
              </a:spcAft>
              <a:defRPr sz="1100" b="1">
                <a:solidFill>
                  <a:srgbClr val="55663A"/>
                </a:solidFill>
                <a:latin typeface="Arial"/>
              </a:defRPr>
            </a:pPr>
            <a:r>
              <a:t>Ne jamais attaquer une tête en bloc : </a:t>
            </a:r>
            <a:r>
              <a:rPr sz="1100" b="0">
                <a:solidFill>
                  <a:srgbClr val="1C1B19"/>
                </a:solidFill>
                <a:latin typeface="Arial"/>
              </a:rPr>
              <a:t>Face à une chevelure volumineuse, le peigne se bloque et l'on finit par tirer de dépit. Séparez votre tête en 4 quartiers bien distincts à l'aide de pinces en plastique.</a:t>
            </a:r>
          </a:p>
          <a:p>
            <a:pPr>
              <a:spcAft>
                <a:spcPts val="400"/>
              </a:spcAft>
              <a:defRPr sz="1100" b="1">
                <a:solidFill>
                  <a:srgbClr val="55663A"/>
                </a:solidFill>
                <a:latin typeface="Arial"/>
              </a:defRPr>
            </a:pPr>
            <a:r>
              <a:t>Travaillez section par section : </a:t>
            </a:r>
            <a:r>
              <a:rPr sz="1100" b="0">
                <a:solidFill>
                  <a:srgbClr val="1C1B19"/>
                </a:solidFill>
                <a:latin typeface="Arial"/>
              </a:rPr>
              <a:t>Isolez une section, attachez les 3 autres. Vous gardez ainsi le contrôle total de vos gestes sans aucune fatigue.</a:t>
            </a:r>
          </a:p>
          <a:p>
            <a:pPr>
              <a:spcAft>
                <a:spcPts val="400"/>
              </a:spcAft>
              <a:defRPr sz="1100" b="1">
                <a:solidFill>
                  <a:srgbClr val="55663A"/>
                </a:solidFill>
                <a:latin typeface="Arial"/>
              </a:defRPr>
            </a:pPr>
            <a:r>
              <a:t>Le pré-démêlage aux doigts (Finger detangling) : </a:t>
            </a:r>
            <a:r>
              <a:rPr sz="1100" b="0">
                <a:solidFill>
                  <a:srgbClr val="1C1B19"/>
                </a:solidFill>
                <a:latin typeface="Arial"/>
              </a:rPr>
              <a:t>Avant d'approcher le peigne, passez vos doigts écartés dans la mèche pour repérer les vrais nœuds et les défaire délicatement à la main.</a:t>
            </a:r>
          </a:p>
        </p:txBody>
      </p:sp>
      <p:sp>
        <p:nvSpPr>
          <p:cNvPr id="9" name="Rounded Rectangle 8"/>
          <p:cNvSpPr/>
          <p:nvPr/>
        </p:nvSpPr>
        <p:spPr>
          <a:xfrm>
            <a:off x="626364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481328"/>
            <a:ext cx="4892040" cy="45720"/>
          </a:xfrm>
          <a:prstGeom prst="rect">
            <a:avLst/>
          </a:prstGeom>
          <a:solidFill>
            <a:srgbClr val="B88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45920"/>
            <a:ext cx="4709160" cy="3566160"/>
          </a:xfrm>
          <a:prstGeom prst="rect">
            <a:avLst/>
          </a:prstGeom>
          <a:noFill/>
        </p:spPr>
        <p:txBody>
          <a:bodyPr wrap="square" lIns="0" tIns="0" rIns="0" bIns="0">
            <a:spAutoFit/>
          </a:bodyPr>
          <a:lstStyle/>
          <a:p>
            <a:pPr>
              <a:spcAft>
                <a:spcPts val="800"/>
              </a:spcAft>
              <a:defRPr sz="1450" b="1">
                <a:solidFill>
                  <a:srgbClr val="B8862B"/>
                </a:solidFill>
                <a:latin typeface="Georgia"/>
              </a:defRPr>
            </a:pPr>
            <a:r>
              <a:t>Glisse &amp; Sens de passage du peigne</a:t>
            </a:r>
          </a:p>
          <a:p>
            <a:pPr>
              <a:spcAft>
                <a:spcPts val="400"/>
              </a:spcAft>
              <a:defRPr sz="1100" b="1">
                <a:solidFill>
                  <a:srgbClr val="B8862B"/>
                </a:solidFill>
                <a:latin typeface="Arial"/>
              </a:defRPr>
            </a:pPr>
            <a:r>
              <a:t>Le coussin de glisse au gombo : </a:t>
            </a:r>
            <a:r>
              <a:rPr sz="1100" b="0">
                <a:solidFill>
                  <a:srgbClr val="1C1B19"/>
                </a:solidFill>
                <a:latin typeface="Arial"/>
              </a:rPr>
              <a:t>Ne passez jamais un peigne sur une mèche simplement mouillée d'eau : l'eau sèche vite. Enduisez la section de gel de gombo frais ou d'aloé vera pour créer une glisse sans frottement.</a:t>
            </a:r>
          </a:p>
          <a:p>
            <a:pPr>
              <a:spcAft>
                <a:spcPts val="400"/>
              </a:spcAft>
              <a:defRPr sz="1100" b="1">
                <a:solidFill>
                  <a:srgbClr val="B8862B"/>
                </a:solidFill>
                <a:latin typeface="Arial"/>
              </a:defRPr>
            </a:pPr>
            <a:r>
              <a:t>DE LA POINTE VERS LA RACINE (Strictement) : </a:t>
            </a:r>
            <a:r>
              <a:rPr sz="1100" b="0">
                <a:solidFill>
                  <a:srgbClr val="1C1B19"/>
                </a:solidFill>
                <a:latin typeface="Arial"/>
              </a:rPr>
              <a:t>Commencez à démêler les 3 derniers centimètres tout en bas. Une fois les pointes libres, remontez vers le milieu, puis terminez par la racine. Si vous partez de la racine, vous poussez tous les nœuds vers le bas et créez un bouchon inextricable qui casse la mèche.</a:t>
            </a:r>
          </a:p>
          <a:p>
            <a:pPr>
              <a:spcAft>
                <a:spcPts val="400"/>
              </a:spcAft>
              <a:defRPr sz="1100" b="1">
                <a:solidFill>
                  <a:srgbClr val="B8862B"/>
                </a:solidFill>
                <a:latin typeface="Arial"/>
              </a:defRPr>
            </a:pPr>
            <a:r>
              <a:t>Le peigne à dents très larges : </a:t>
            </a:r>
            <a:r>
              <a:rPr sz="1100" b="0">
                <a:solidFill>
                  <a:srgbClr val="1C1B19"/>
                </a:solidFill>
                <a:latin typeface="Arial"/>
              </a:rPr>
              <a:t>Dents écartées d'au moins 1 cm, sans aspérités de moulage plastique.</a:t>
            </a:r>
          </a:p>
        </p:txBody>
      </p:sp>
      <p:sp>
        <p:nvSpPr>
          <p:cNvPr id="12" name="Rounded Rectangle 11"/>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Si vous êtes en retard ou en colère, NE DÉMÊLEZ PAS aujourd'hui ! Le démêlage exige de la patience et de la bienveillance.</a:t>
            </a:r>
          </a:p>
        </p:txBody>
      </p:sp>
      <p:sp>
        <p:nvSpPr>
          <p:cNvPr id="14" name="Rectangle 13"/>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6" name="TextBox 15"/>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49 / 75</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PARTIE 3 · CHAPITRE 15 — LA SCIENCE DU SCELLAGE</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La Méthode L.C.O. : hydrater et sceller durablement</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La seule technique physique qui maintient vos cheveux souples pendant 4 à 7 jours.</a:t>
            </a:r>
          </a:p>
        </p:txBody>
      </p:sp>
      <p:sp>
        <p:nvSpPr>
          <p:cNvPr id="6" name="Rounded Rectangle 5"/>
          <p:cNvSpPr/>
          <p:nvPr/>
        </p:nvSpPr>
        <p:spPr>
          <a:xfrm>
            <a:off x="731520" y="1463040"/>
            <a:ext cx="33375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3063240" cy="45720"/>
          </a:xfrm>
          <a:prstGeom prst="rect">
            <a:avLst/>
          </a:prstGeom>
          <a:solidFill>
            <a:srgbClr val="2B3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2971800" cy="3566160"/>
          </a:xfrm>
          <a:prstGeom prst="rect">
            <a:avLst/>
          </a:prstGeom>
          <a:noFill/>
        </p:spPr>
        <p:txBody>
          <a:bodyPr wrap="square" lIns="0" tIns="0" rIns="0" bIns="0">
            <a:spAutoFit/>
          </a:bodyPr>
          <a:lstStyle/>
          <a:p>
            <a:pPr>
              <a:spcAft>
                <a:spcPts val="800"/>
              </a:spcAft>
              <a:defRPr sz="1450" b="1">
                <a:solidFill>
                  <a:srgbClr val="2B3E63"/>
                </a:solidFill>
                <a:latin typeface="Georgia"/>
              </a:defRPr>
            </a:pPr>
            <a:r>
              <a:t>L = Liquide (L'Hydratation)</a:t>
            </a:r>
          </a:p>
          <a:p>
            <a:pPr>
              <a:spcAft>
                <a:spcPts val="400"/>
              </a:spcAft>
              <a:defRPr sz="1100">
                <a:solidFill>
                  <a:srgbClr val="1C1B19"/>
                </a:solidFill>
                <a:latin typeface="Arial"/>
              </a:defRPr>
            </a:pPr>
            <a:r>
              <a:t>• Le principe : L'eau est la SEULE molécule qui hydrate réellement le cheveu. Aucune huile n'hydrate.</a:t>
            </a:r>
          </a:p>
          <a:p>
            <a:pPr>
              <a:spcAft>
                <a:spcPts val="400"/>
              </a:spcAft>
              <a:defRPr sz="1100">
                <a:solidFill>
                  <a:srgbClr val="1C1B19"/>
                </a:solidFill>
                <a:latin typeface="Arial"/>
              </a:defRPr>
            </a:pPr>
            <a:r>
              <a:t>• Le produit : Eau pure de source ou spray maison d'aloé vera frais.</a:t>
            </a:r>
          </a:p>
          <a:p>
            <a:pPr>
              <a:spcAft>
                <a:spcPts val="400"/>
              </a:spcAft>
              <a:defRPr sz="1100">
                <a:solidFill>
                  <a:srgbClr val="1C1B19"/>
                </a:solidFill>
                <a:latin typeface="Arial"/>
              </a:defRPr>
            </a:pPr>
            <a:r>
              <a:t>• L'application : Vaporisez sur vos sections jusqu'à ce que le cheveu soit frais et humide, mais JAMAIS détrempé qui dégouline.</a:t>
            </a:r>
          </a:p>
        </p:txBody>
      </p:sp>
      <p:sp>
        <p:nvSpPr>
          <p:cNvPr id="9" name="Rounded Rectangle 8"/>
          <p:cNvSpPr/>
          <p:nvPr/>
        </p:nvSpPr>
        <p:spPr>
          <a:xfrm>
            <a:off x="4425696" y="1463040"/>
            <a:ext cx="33375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62856" y="1481328"/>
            <a:ext cx="3063240" cy="45720"/>
          </a:xfrm>
          <a:prstGeom prst="rect">
            <a:avLst/>
          </a:prstGeom>
          <a:solidFill>
            <a:srgbClr val="B88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08576" y="1645920"/>
            <a:ext cx="2971800" cy="3566160"/>
          </a:xfrm>
          <a:prstGeom prst="rect">
            <a:avLst/>
          </a:prstGeom>
          <a:noFill/>
        </p:spPr>
        <p:txBody>
          <a:bodyPr wrap="square" lIns="0" tIns="0" rIns="0" bIns="0">
            <a:spAutoFit/>
          </a:bodyPr>
          <a:lstStyle/>
          <a:p>
            <a:pPr>
              <a:spcAft>
                <a:spcPts val="800"/>
              </a:spcAft>
              <a:defRPr sz="1450" b="1">
                <a:solidFill>
                  <a:srgbClr val="B8862B"/>
                </a:solidFill>
                <a:latin typeface="Georgia"/>
              </a:defRPr>
            </a:pPr>
            <a:r>
              <a:t>C = Crème / Huile (L'Émollient)</a:t>
            </a:r>
          </a:p>
          <a:p>
            <a:pPr>
              <a:spcAft>
                <a:spcPts val="400"/>
              </a:spcAft>
              <a:defRPr sz="1100">
                <a:solidFill>
                  <a:srgbClr val="1C1B19"/>
                </a:solidFill>
                <a:latin typeface="Arial"/>
              </a:defRPr>
            </a:pPr>
            <a:r>
              <a:t>• Le principe : Assouplit et lubrifie la cuticule pour qu'elle absorbe le liquide en profondeur.</a:t>
            </a:r>
          </a:p>
          <a:p>
            <a:pPr>
              <a:spcAft>
                <a:spcPts val="400"/>
              </a:spcAft>
              <a:defRPr sz="1100">
                <a:solidFill>
                  <a:srgbClr val="1C1B19"/>
                </a:solidFill>
                <a:latin typeface="Arial"/>
              </a:defRPr>
            </a:pPr>
            <a:r>
              <a:t>• Le produit : Un lait capillaire léger sans silicone ou une huile pénétrante (coco, olive ou sésame).</a:t>
            </a:r>
          </a:p>
          <a:p>
            <a:pPr>
              <a:spcAft>
                <a:spcPts val="400"/>
              </a:spcAft>
              <a:defRPr sz="1100">
                <a:solidFill>
                  <a:srgbClr val="1C1B19"/>
                </a:solidFill>
                <a:latin typeface="Arial"/>
              </a:defRPr>
            </a:pPr>
            <a:r>
              <a:t>• La dose : 1 cuillère à café pour toute la tête, lissée le long des mèches.</a:t>
            </a:r>
          </a:p>
        </p:txBody>
      </p:sp>
      <p:sp>
        <p:nvSpPr>
          <p:cNvPr id="12" name="Rounded Rectangle 11"/>
          <p:cNvSpPr/>
          <p:nvPr/>
        </p:nvSpPr>
        <p:spPr>
          <a:xfrm>
            <a:off x="8119872" y="1463040"/>
            <a:ext cx="33375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57032" y="1481328"/>
            <a:ext cx="3063240" cy="45720"/>
          </a:xfrm>
          <a:prstGeom prst="rect">
            <a:avLst/>
          </a:prstGeom>
          <a:solidFill>
            <a:srgbClr val="A85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2752" y="1645920"/>
            <a:ext cx="2971800" cy="3566160"/>
          </a:xfrm>
          <a:prstGeom prst="rect">
            <a:avLst/>
          </a:prstGeom>
          <a:noFill/>
        </p:spPr>
        <p:txBody>
          <a:bodyPr wrap="square" lIns="0" tIns="0" rIns="0" bIns="0">
            <a:spAutoFit/>
          </a:bodyPr>
          <a:lstStyle/>
          <a:p>
            <a:pPr>
              <a:spcAft>
                <a:spcPts val="800"/>
              </a:spcAft>
              <a:defRPr sz="1450" b="1">
                <a:solidFill>
                  <a:srgbClr val="A85236"/>
                </a:solidFill>
                <a:latin typeface="Georgia"/>
              </a:defRPr>
            </a:pPr>
            <a:r>
              <a:t>O = Occlusif / Beurre (Le Scellage)</a:t>
            </a:r>
          </a:p>
          <a:p>
            <a:pPr>
              <a:spcAft>
                <a:spcPts val="400"/>
              </a:spcAft>
              <a:defRPr sz="1100">
                <a:solidFill>
                  <a:srgbClr val="1C1B19"/>
                </a:solidFill>
                <a:latin typeface="Arial"/>
              </a:defRPr>
            </a:pPr>
            <a:r>
              <a:t>• Le principe : Poser le verrou étanche qui empêche l'eau de s'échapper sous l'harmattan ou le vent chaud.</a:t>
            </a:r>
          </a:p>
          <a:p>
            <a:pPr>
              <a:spcAft>
                <a:spcPts val="400"/>
              </a:spcAft>
              <a:defRPr sz="1100">
                <a:solidFill>
                  <a:srgbClr val="1C1B19"/>
                </a:solidFill>
                <a:latin typeface="Arial"/>
              </a:defRPr>
            </a:pPr>
            <a:r>
              <a:t>• Le produit : Beurre de karité brut ou beurre de cacao fondu entre les paumes.</a:t>
            </a:r>
          </a:p>
          <a:p>
            <a:pPr>
              <a:spcAft>
                <a:spcPts val="400"/>
              </a:spcAft>
              <a:defRPr sz="1100">
                <a:solidFill>
                  <a:srgbClr val="1C1B19"/>
                </a:solidFill>
                <a:latin typeface="Arial"/>
              </a:defRPr>
            </a:pPr>
            <a:r>
              <a:t>• La dose : 1 noisette à 1 noix, appliquée en insistant lourdement sur les pointes.</a:t>
            </a:r>
          </a:p>
        </p:txBody>
      </p:sp>
      <p:sp>
        <p:nvSpPr>
          <p:cNvPr id="15" name="Rounded Rectangle 14"/>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Pour porosité basse : préférez la méthode L.O.C. avec des huiles ultra-légères pour éviter tout effet de lourdeur.</a:t>
            </a:r>
          </a:p>
        </p:txBody>
      </p:sp>
      <p:sp>
        <p:nvSpPr>
          <p:cNvPr id="17" name="Rectangle 16"/>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9" name="TextBox 18"/>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50 / 75</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PARTIE 3 · CHAPITRE 16 — SOINS PROFONDS AU MASQUE</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Soins profonds : Masque Hydratant vs Protéiné</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Ne confondez plus jamais ces deux piliers indispensables de votre routine.</a:t>
            </a:r>
          </a:p>
        </p:txBody>
      </p:sp>
      <p:sp>
        <p:nvSpPr>
          <p:cNvPr id="6" name="Rounded Rectangle 5"/>
          <p:cNvSpPr/>
          <p:nvPr/>
        </p:nvSpPr>
        <p:spPr>
          <a:xfrm>
            <a:off x="73152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4892040" cy="45720"/>
          </a:xfrm>
          <a:prstGeom prst="rect">
            <a:avLst/>
          </a:prstGeom>
          <a:solidFill>
            <a:srgbClr val="556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09160" cy="3566160"/>
          </a:xfrm>
          <a:prstGeom prst="rect">
            <a:avLst/>
          </a:prstGeom>
          <a:noFill/>
        </p:spPr>
        <p:txBody>
          <a:bodyPr wrap="square" lIns="0" tIns="0" rIns="0" bIns="0">
            <a:spAutoFit/>
          </a:bodyPr>
          <a:lstStyle/>
          <a:p>
            <a:pPr>
              <a:spcAft>
                <a:spcPts val="800"/>
              </a:spcAft>
              <a:defRPr sz="1450" b="1">
                <a:solidFill>
                  <a:srgbClr val="55663A"/>
                </a:solidFill>
                <a:latin typeface="Georgia"/>
              </a:defRPr>
            </a:pPr>
            <a:r>
              <a:t>Le Masque Hydratant (Chaque semaine)</a:t>
            </a:r>
          </a:p>
          <a:p>
            <a:pPr>
              <a:spcAft>
                <a:spcPts val="400"/>
              </a:spcAft>
              <a:defRPr sz="1100" b="1">
                <a:solidFill>
                  <a:srgbClr val="55663A"/>
                </a:solidFill>
                <a:latin typeface="Arial"/>
              </a:defRPr>
            </a:pPr>
            <a:r>
              <a:t>Rôle biologique : </a:t>
            </a:r>
            <a:r>
              <a:rPr sz="1100" b="0">
                <a:solidFill>
                  <a:srgbClr val="1C1B19"/>
                </a:solidFill>
                <a:latin typeface="Arial"/>
              </a:rPr>
              <a:t>Recharger la fibre en eau liée et en humectants pour lui redonner souplesse, ressort et brillance.</a:t>
            </a:r>
          </a:p>
          <a:p>
            <a:pPr>
              <a:spcAft>
                <a:spcPts val="400"/>
              </a:spcAft>
              <a:defRPr sz="1100" b="1">
                <a:solidFill>
                  <a:srgbClr val="55663A"/>
                </a:solidFill>
                <a:latin typeface="Arial"/>
              </a:defRPr>
            </a:pPr>
            <a:r>
              <a:t>Ingrédients rois : </a:t>
            </a:r>
            <a:r>
              <a:rPr sz="1100" b="0">
                <a:solidFill>
                  <a:srgbClr val="1C1B19"/>
                </a:solidFill>
                <a:latin typeface="Arial"/>
              </a:rPr>
              <a:t>Miel pur du Bénin, yaourt nature, gel de gombo, aloé vera, huile d'olive vierge.</a:t>
            </a:r>
          </a:p>
          <a:p>
            <a:pPr>
              <a:spcAft>
                <a:spcPts val="400"/>
              </a:spcAft>
              <a:defRPr sz="1100" b="1">
                <a:solidFill>
                  <a:srgbClr val="55663A"/>
                </a:solidFill>
                <a:latin typeface="Arial"/>
              </a:defRPr>
            </a:pPr>
            <a:r>
              <a:t>Fréquence : </a:t>
            </a:r>
            <a:r>
              <a:rPr sz="1100" b="0">
                <a:solidFill>
                  <a:srgbClr val="1C1B19"/>
                </a:solidFill>
                <a:latin typeface="Arial"/>
              </a:rPr>
              <a:t>1 fois par semaine après le lavage.</a:t>
            </a:r>
          </a:p>
          <a:p>
            <a:pPr>
              <a:spcAft>
                <a:spcPts val="400"/>
              </a:spcAft>
              <a:defRPr sz="1100" b="1">
                <a:solidFill>
                  <a:srgbClr val="55663A"/>
                </a:solidFill>
                <a:latin typeface="Arial"/>
              </a:defRPr>
            </a:pPr>
            <a:r>
              <a:t>La technique de la chaleur douce : </a:t>
            </a:r>
            <a:r>
              <a:rPr sz="1100" b="0">
                <a:solidFill>
                  <a:srgbClr val="1C1B19"/>
                </a:solidFill>
                <a:latin typeface="Arial"/>
              </a:rPr>
              <a:t>Posez votre masque sous une charlotte plastique, puis enroulez une serviette chaude et humide par-dessus pendant 20 à 30 minutes. La chaleur dilate les cuticules et décuple l'effet.</a:t>
            </a:r>
          </a:p>
        </p:txBody>
      </p:sp>
      <p:sp>
        <p:nvSpPr>
          <p:cNvPr id="9" name="Rounded Rectangle 8"/>
          <p:cNvSpPr/>
          <p:nvPr/>
        </p:nvSpPr>
        <p:spPr>
          <a:xfrm>
            <a:off x="626364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481328"/>
            <a:ext cx="4892040" cy="45720"/>
          </a:xfrm>
          <a:prstGeom prst="rect">
            <a:avLst/>
          </a:prstGeom>
          <a:solidFill>
            <a:srgbClr val="A85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45920"/>
            <a:ext cx="4709160" cy="3566160"/>
          </a:xfrm>
          <a:prstGeom prst="rect">
            <a:avLst/>
          </a:prstGeom>
          <a:noFill/>
        </p:spPr>
        <p:txBody>
          <a:bodyPr wrap="square" lIns="0" tIns="0" rIns="0" bIns="0">
            <a:spAutoFit/>
          </a:bodyPr>
          <a:lstStyle/>
          <a:p>
            <a:pPr>
              <a:spcAft>
                <a:spcPts val="800"/>
              </a:spcAft>
              <a:defRPr sz="1450" b="1">
                <a:solidFill>
                  <a:srgbClr val="A85236"/>
                </a:solidFill>
                <a:latin typeface="Georgia"/>
              </a:defRPr>
            </a:pPr>
            <a:r>
              <a:t>Le Masque Protéiné (1 fois par mois)</a:t>
            </a:r>
          </a:p>
          <a:p>
            <a:pPr>
              <a:spcAft>
                <a:spcPts val="400"/>
              </a:spcAft>
              <a:defRPr sz="1100" b="1">
                <a:solidFill>
                  <a:srgbClr val="A85236"/>
                </a:solidFill>
                <a:latin typeface="Arial"/>
              </a:defRPr>
            </a:pPr>
            <a:r>
              <a:t>Rôle biologique : </a:t>
            </a:r>
            <a:r>
              <a:rPr sz="1100" b="0">
                <a:solidFill>
                  <a:srgbClr val="1C1B19"/>
                </a:solidFill>
                <a:latin typeface="Arial"/>
              </a:rPr>
              <a:t>Renforcer l'architecture interne de la kératine et combler les brèches cuticulaires microscopiques.</a:t>
            </a:r>
          </a:p>
          <a:p>
            <a:pPr>
              <a:spcAft>
                <a:spcPts val="400"/>
              </a:spcAft>
              <a:defRPr sz="1100" b="1">
                <a:solidFill>
                  <a:srgbClr val="A85236"/>
                </a:solidFill>
                <a:latin typeface="Arial"/>
              </a:defRPr>
            </a:pPr>
            <a:r>
              <a:t>Ingrédients rois : </a:t>
            </a:r>
            <a:r>
              <a:rPr sz="1100" b="0">
                <a:solidFill>
                  <a:srgbClr val="1C1B19"/>
                </a:solidFill>
                <a:latin typeface="Arial"/>
              </a:rPr>
              <a:t>Œuf entier frais, eau de riz fermentée, lait caillé concentré.</a:t>
            </a:r>
          </a:p>
          <a:p>
            <a:pPr>
              <a:spcAft>
                <a:spcPts val="400"/>
              </a:spcAft>
              <a:defRPr sz="1100" b="1">
                <a:solidFill>
                  <a:srgbClr val="A85236"/>
                </a:solidFill>
                <a:latin typeface="Arial"/>
              </a:defRPr>
            </a:pPr>
            <a:r>
              <a:t>Fréquence stricte : </a:t>
            </a:r>
            <a:r>
              <a:rPr sz="1100" b="0">
                <a:solidFill>
                  <a:srgbClr val="1C1B19"/>
                </a:solidFill>
                <a:latin typeface="Arial"/>
              </a:rPr>
              <a:t>1 fois toutes les 4 à 6 semaines maximum (ou 1 fois tous les 15 jours sur cheveux très abîmés par défrisage).</a:t>
            </a:r>
          </a:p>
          <a:p>
            <a:pPr>
              <a:spcAft>
                <a:spcPts val="400"/>
              </a:spcAft>
              <a:defRPr sz="1100" b="1">
                <a:solidFill>
                  <a:srgbClr val="A85236"/>
                </a:solidFill>
                <a:latin typeface="Arial"/>
              </a:defRPr>
            </a:pPr>
            <a:r>
              <a:t>Attention : Le danger de l'excès : </a:t>
            </a:r>
            <a:r>
              <a:rPr sz="1100" b="0">
                <a:solidFill>
                  <a:srgbClr val="1C1B19"/>
                </a:solidFill>
                <a:latin typeface="Arial"/>
              </a:rPr>
              <a:t>Faire un masque à l'œuf chaque semaine rend le cheveu hyper-rigide : il casse comme une branche d'arbre sèche au moindre pliage.</a:t>
            </a:r>
          </a:p>
        </p:txBody>
      </p:sp>
      <p:sp>
        <p:nvSpPr>
          <p:cNvPr id="12" name="Rounded Rectangle 11"/>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Règle mémotechnique : Hydratation = Souplesse (toutes les semaines) · Protéines = Force (une fois par mois).</a:t>
            </a:r>
          </a:p>
        </p:txBody>
      </p:sp>
      <p:sp>
        <p:nvSpPr>
          <p:cNvPr id="14" name="Rectangle 13"/>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6" name="TextBox 15"/>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51 / 75</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PARTIE 3 · CHAPITRE 17 — SANTÉ DE LA RACINE</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Le Cuir Chevelu &amp; l'Automassage crânien</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Le cuir chevelu est le sol fertile où germe la racine : il mérite toute votre attention.</a:t>
            </a:r>
          </a:p>
        </p:txBody>
      </p:sp>
      <p:sp>
        <p:nvSpPr>
          <p:cNvPr id="6" name="Rounded Rectangle 5"/>
          <p:cNvSpPr/>
          <p:nvPr/>
        </p:nvSpPr>
        <p:spPr>
          <a:xfrm>
            <a:off x="73152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4892040" cy="45720"/>
          </a:xfrm>
          <a:prstGeom prst="rect">
            <a:avLst/>
          </a:prstGeom>
          <a:solidFill>
            <a:srgbClr val="2B3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09160" cy="3566160"/>
          </a:xfrm>
          <a:prstGeom prst="rect">
            <a:avLst/>
          </a:prstGeom>
          <a:noFill/>
        </p:spPr>
        <p:txBody>
          <a:bodyPr wrap="square" lIns="0" tIns="0" rIns="0" bIns="0">
            <a:spAutoFit/>
          </a:bodyPr>
          <a:lstStyle/>
          <a:p>
            <a:pPr>
              <a:spcAft>
                <a:spcPts val="800"/>
              </a:spcAft>
              <a:defRPr sz="1450" b="1">
                <a:solidFill>
                  <a:srgbClr val="2B3E63"/>
                </a:solidFill>
                <a:latin typeface="Georgia"/>
              </a:defRPr>
            </a:pPr>
            <a:r>
              <a:t>Le protocole d'automassage en 5 minutes</a:t>
            </a:r>
          </a:p>
          <a:p>
            <a:pPr>
              <a:spcAft>
                <a:spcPts val="400"/>
              </a:spcAft>
              <a:defRPr sz="1100" b="1">
                <a:solidFill>
                  <a:srgbClr val="2B3E63"/>
                </a:solidFill>
                <a:latin typeface="Arial"/>
              </a:defRPr>
            </a:pPr>
            <a:r>
              <a:t>1. La préparation (3 gouttes) : </a:t>
            </a:r>
            <a:r>
              <a:rPr sz="1100" b="0">
                <a:solidFill>
                  <a:srgbClr val="1C1B19"/>
                </a:solidFill>
                <a:latin typeface="Arial"/>
              </a:rPr>
              <a:t>Déposez 3 gouttes d'huile végétale (coco ou olive) mélangée à 1 goutte d'huile essentielle de romarin sur le bout de vos doigts.</a:t>
            </a:r>
          </a:p>
          <a:p>
            <a:pPr>
              <a:spcAft>
                <a:spcPts val="400"/>
              </a:spcAft>
              <a:defRPr sz="1100" b="1">
                <a:solidFill>
                  <a:srgbClr val="2B3E63"/>
                </a:solidFill>
                <a:latin typeface="Arial"/>
              </a:defRPr>
            </a:pPr>
            <a:r>
              <a:t>2. Le mouvement de décollement : </a:t>
            </a:r>
            <a:r>
              <a:rPr sz="1100" b="0">
                <a:solidFill>
                  <a:srgbClr val="1C1B19"/>
                </a:solidFill>
                <a:latin typeface="Arial"/>
              </a:rPr>
              <a:t>Posez la pulpe des doigts bien à plat sur le crâne. Faites bouger la peau du crâne par rapport à l'os crânien en cercles lents, SANS faire frotter les doigts sur les cheveux (pour éviter les frictions).</a:t>
            </a:r>
          </a:p>
          <a:p>
            <a:pPr>
              <a:spcAft>
                <a:spcPts val="400"/>
              </a:spcAft>
              <a:defRPr sz="1100" b="1">
                <a:solidFill>
                  <a:srgbClr val="2B3E63"/>
                </a:solidFill>
                <a:latin typeface="Arial"/>
              </a:defRPr>
            </a:pPr>
            <a:r>
              <a:t>3. Le trajet de stimulation : </a:t>
            </a:r>
            <a:r>
              <a:rPr sz="1100" b="0">
                <a:solidFill>
                  <a:srgbClr val="1C1B19"/>
                </a:solidFill>
                <a:latin typeface="Arial"/>
              </a:rPr>
              <a:t>Partez de la nuque en remontant vers le sommet du crâne, puis des tempes vers le centre.</a:t>
            </a:r>
          </a:p>
          <a:p>
            <a:pPr>
              <a:spcAft>
                <a:spcPts val="400"/>
              </a:spcAft>
              <a:defRPr sz="1100" b="1">
                <a:solidFill>
                  <a:srgbClr val="2B3E63"/>
                </a:solidFill>
                <a:latin typeface="Arial"/>
              </a:defRPr>
            </a:pPr>
            <a:r>
              <a:t>Bénéfice prouvé : </a:t>
            </a:r>
            <a:r>
              <a:rPr sz="1100" b="0">
                <a:solidFill>
                  <a:srgbClr val="1C1B19"/>
                </a:solidFill>
                <a:latin typeface="Arial"/>
              </a:rPr>
              <a:t>Relance instantanément le flux sanguin péricapillaire qui oxygène le bulbe et élimine les tensions nerveuses.</a:t>
            </a:r>
          </a:p>
        </p:txBody>
      </p:sp>
      <p:sp>
        <p:nvSpPr>
          <p:cNvPr id="9" name="Rounded Rectangle 8"/>
          <p:cNvSpPr/>
          <p:nvPr/>
        </p:nvSpPr>
        <p:spPr>
          <a:xfrm>
            <a:off x="626364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481328"/>
            <a:ext cx="4892040" cy="45720"/>
          </a:xfrm>
          <a:prstGeom prst="rect">
            <a:avLst/>
          </a:prstGeom>
          <a:solidFill>
            <a:srgbClr val="A85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45920"/>
            <a:ext cx="4709160" cy="3566160"/>
          </a:xfrm>
          <a:prstGeom prst="rect">
            <a:avLst/>
          </a:prstGeom>
          <a:noFill/>
        </p:spPr>
        <p:txBody>
          <a:bodyPr wrap="square" lIns="0" tIns="0" rIns="0" bIns="0">
            <a:spAutoFit/>
          </a:bodyPr>
          <a:lstStyle/>
          <a:p>
            <a:pPr>
              <a:spcAft>
                <a:spcPts val="800"/>
              </a:spcAft>
              <a:defRPr sz="1450" b="1">
                <a:solidFill>
                  <a:srgbClr val="A85236"/>
                </a:solidFill>
                <a:latin typeface="Georgia"/>
              </a:defRPr>
            </a:pPr>
            <a:r>
              <a:t>Tableau diagnostic réflexe du cuir chevelu</a:t>
            </a:r>
          </a:p>
          <a:p>
            <a:pPr>
              <a:spcAft>
                <a:spcPts val="400"/>
              </a:spcAft>
              <a:defRPr sz="1100" b="1">
                <a:solidFill>
                  <a:srgbClr val="A85236"/>
                </a:solidFill>
                <a:latin typeface="Arial"/>
              </a:defRPr>
            </a:pPr>
            <a:r>
              <a:t>Pellicules sèches et blanches qui tombent sur les épaules : </a:t>
            </a:r>
            <a:r>
              <a:rPr sz="1100" b="0">
                <a:solidFill>
                  <a:srgbClr val="1C1B19"/>
                </a:solidFill>
                <a:latin typeface="Arial"/>
              </a:rPr>
              <a:t>Cause : Cuir chevelu déshydraté par le soleil. Action : Spray d'aloé vera + massage à l'huile d'olive 2 fois par semaine.</a:t>
            </a:r>
          </a:p>
          <a:p>
            <a:pPr>
              <a:spcAft>
                <a:spcPts val="400"/>
              </a:spcAft>
              <a:defRPr sz="1100" b="1">
                <a:solidFill>
                  <a:srgbClr val="A85236"/>
                </a:solidFill>
                <a:latin typeface="Arial"/>
              </a:defRPr>
            </a:pPr>
            <a:r>
              <a:t>Pellicules jaunâtres, grasses qui collent aux racines : </a:t>
            </a:r>
            <a:r>
              <a:rPr sz="1100" b="0">
                <a:solidFill>
                  <a:srgbClr val="1C1B19"/>
                </a:solidFill>
                <a:latin typeface="Arial"/>
              </a:rPr>
              <a:t>Cause : Prolifération du champignon Malassezia. Action : Rinçage au vinaigre de cidre + 2 gouttes d'HE de Tea Tree dans le shampoing.</a:t>
            </a:r>
          </a:p>
          <a:p>
            <a:pPr>
              <a:spcAft>
                <a:spcPts val="400"/>
              </a:spcAft>
              <a:defRPr sz="1100" b="1">
                <a:solidFill>
                  <a:srgbClr val="A85236"/>
                </a:solidFill>
                <a:latin typeface="Arial"/>
              </a:defRPr>
            </a:pPr>
            <a:r>
              <a:t>Démangeaisons intenses sous les nattes : </a:t>
            </a:r>
            <a:r>
              <a:rPr sz="1100" b="0">
                <a:solidFill>
                  <a:srgbClr val="1C1B19"/>
                </a:solidFill>
                <a:latin typeface="Arial"/>
              </a:rPr>
              <a:t>Cause : Poussière + transpiration séchée. Action : Spray aloé vera + nettoyer les raies au coton imbibé d'eau vinaigrée.</a:t>
            </a:r>
          </a:p>
        </p:txBody>
      </p:sp>
      <p:sp>
        <p:nvSpPr>
          <p:cNvPr id="12" name="Rounded Rectangle 11"/>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Cinq minutes d'automassage deux fois par semaine apportent plus de résultats que n'importe quelle lotion miraculeuse.</a:t>
            </a:r>
          </a:p>
        </p:txBody>
      </p:sp>
      <p:sp>
        <p:nvSpPr>
          <p:cNvPr id="14" name="Rectangle 13"/>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6" name="TextBox 15"/>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52 / 75</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PARTIE 3 · CHAPITRE 18 — CHAPITRE SIGNATURE NUTRITION</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 L'Assiette Cheveux » : la pousse vient de l'intérieur</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Le cheveu est composé à 85 % de kératine : voici les aliments béninois qui le fabriquent.</a:t>
            </a:r>
          </a:p>
        </p:txBody>
      </p:sp>
      <p:sp>
        <p:nvSpPr>
          <p:cNvPr id="6" name="Rounded Rectangle 5"/>
          <p:cNvSpPr/>
          <p:nvPr/>
        </p:nvSpPr>
        <p:spPr>
          <a:xfrm>
            <a:off x="731520" y="1463040"/>
            <a:ext cx="33375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3063240" cy="45720"/>
          </a:xfrm>
          <a:prstGeom prst="rect">
            <a:avLst/>
          </a:prstGeom>
          <a:solidFill>
            <a:srgbClr val="A85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2971800" cy="3566160"/>
          </a:xfrm>
          <a:prstGeom prst="rect">
            <a:avLst/>
          </a:prstGeom>
          <a:noFill/>
        </p:spPr>
        <p:txBody>
          <a:bodyPr wrap="square" lIns="0" tIns="0" rIns="0" bIns="0">
            <a:spAutoFit/>
          </a:bodyPr>
          <a:lstStyle/>
          <a:p>
            <a:pPr>
              <a:spcAft>
                <a:spcPts val="800"/>
              </a:spcAft>
              <a:defRPr sz="1450" b="1">
                <a:solidFill>
                  <a:srgbClr val="A85236"/>
                </a:solidFill>
                <a:latin typeface="Georgia"/>
              </a:defRPr>
            </a:pPr>
            <a:r>
              <a:t>Le Fer &amp; la Ferritine (L'Oxygène)</a:t>
            </a:r>
          </a:p>
          <a:p>
            <a:pPr>
              <a:spcAft>
                <a:spcPts val="400"/>
              </a:spcAft>
              <a:defRPr sz="1100">
                <a:solidFill>
                  <a:srgbClr val="1C1B19"/>
                </a:solidFill>
                <a:latin typeface="Arial"/>
              </a:defRPr>
            </a:pPr>
            <a:r>
              <a:t>• Rôle : Le fer transporte l'oxygène vers le bulbe pileux via l'hémoglobine. Une carence en fer (très fréquente chez la femme) provoque une chute diffuse immédiate.</a:t>
            </a:r>
          </a:p>
          <a:p>
            <a:pPr>
              <a:spcAft>
                <a:spcPts val="400"/>
              </a:spcAft>
              <a:defRPr sz="1100">
                <a:solidFill>
                  <a:srgbClr val="1C1B19"/>
                </a:solidFill>
                <a:latin typeface="Arial"/>
              </a:defRPr>
            </a:pPr>
            <a:r>
              <a:t>• Sources béninoises d'exception :</a:t>
            </a:r>
          </a:p>
          <a:p>
            <a:pPr>
              <a:spcAft>
                <a:spcPts val="400"/>
              </a:spcAft>
              <a:defRPr sz="1100">
                <a:solidFill>
                  <a:srgbClr val="1C1B19"/>
                </a:solidFill>
                <a:latin typeface="Arial"/>
              </a:defRPr>
            </a:pPr>
            <a:r>
              <a:t>• • Feuilles de moringa (poudre ou sauce).</a:t>
            </a:r>
          </a:p>
          <a:p>
            <a:pPr>
              <a:spcAft>
                <a:spcPts val="400"/>
              </a:spcAft>
              <a:defRPr sz="1100">
                <a:solidFill>
                  <a:srgbClr val="1C1B19"/>
                </a:solidFill>
                <a:latin typeface="Arial"/>
              </a:defRPr>
            </a:pPr>
            <a:r>
              <a:t>• • Feuilles de manioc et amarante.</a:t>
            </a:r>
          </a:p>
          <a:p>
            <a:pPr>
              <a:spcAft>
                <a:spcPts val="400"/>
              </a:spcAft>
              <a:defRPr sz="1100">
                <a:solidFill>
                  <a:srgbClr val="1C1B19"/>
                </a:solidFill>
                <a:latin typeface="Arial"/>
              </a:defRPr>
            </a:pPr>
            <a:r>
              <a:t>• • Haricots niébé et lentilles locales.</a:t>
            </a:r>
          </a:p>
          <a:p>
            <a:pPr>
              <a:spcAft>
                <a:spcPts val="400"/>
              </a:spcAft>
              <a:defRPr sz="1100">
                <a:solidFill>
                  <a:srgbClr val="1C1B19"/>
                </a:solidFill>
                <a:latin typeface="Arial"/>
              </a:defRPr>
            </a:pPr>
            <a:r>
              <a:t>• • Poissons séchés, foie et abats.</a:t>
            </a:r>
          </a:p>
        </p:txBody>
      </p:sp>
      <p:sp>
        <p:nvSpPr>
          <p:cNvPr id="9" name="Rounded Rectangle 8"/>
          <p:cNvSpPr/>
          <p:nvPr/>
        </p:nvSpPr>
        <p:spPr>
          <a:xfrm>
            <a:off x="4425696" y="1463040"/>
            <a:ext cx="33375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62856" y="1481328"/>
            <a:ext cx="3063240" cy="45720"/>
          </a:xfrm>
          <a:prstGeom prst="rect">
            <a:avLst/>
          </a:prstGeom>
          <a:solidFill>
            <a:srgbClr val="B88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08576" y="1645920"/>
            <a:ext cx="2971800" cy="3566160"/>
          </a:xfrm>
          <a:prstGeom prst="rect">
            <a:avLst/>
          </a:prstGeom>
          <a:noFill/>
        </p:spPr>
        <p:txBody>
          <a:bodyPr wrap="square" lIns="0" tIns="0" rIns="0" bIns="0">
            <a:spAutoFit/>
          </a:bodyPr>
          <a:lstStyle/>
          <a:p>
            <a:pPr>
              <a:spcAft>
                <a:spcPts val="800"/>
              </a:spcAft>
              <a:defRPr sz="1450" b="1">
                <a:solidFill>
                  <a:srgbClr val="B8862B"/>
                </a:solidFill>
                <a:latin typeface="Georgia"/>
              </a:defRPr>
            </a:pPr>
            <a:r>
              <a:t>Le Zinc, Soufre &amp; Protéines</a:t>
            </a:r>
          </a:p>
          <a:p>
            <a:pPr>
              <a:spcAft>
                <a:spcPts val="400"/>
              </a:spcAft>
              <a:defRPr sz="1100">
                <a:solidFill>
                  <a:srgbClr val="1C1B19"/>
                </a:solidFill>
                <a:latin typeface="Arial"/>
              </a:defRPr>
            </a:pPr>
            <a:r>
              <a:t>• Rôle : Le zinc catalyse la synthèse de la kératine ; les acides aminés soufrés (méthionine, cystéine) forment les ponts disulfures qui rendent le cheveu résistant.</a:t>
            </a:r>
          </a:p>
          <a:p>
            <a:pPr>
              <a:spcAft>
                <a:spcPts val="400"/>
              </a:spcAft>
              <a:defRPr sz="1100">
                <a:solidFill>
                  <a:srgbClr val="1C1B19"/>
                </a:solidFill>
                <a:latin typeface="Arial"/>
              </a:defRPr>
            </a:pPr>
            <a:r>
              <a:t>• Sources locales riches :</a:t>
            </a:r>
          </a:p>
          <a:p>
            <a:pPr>
              <a:spcAft>
                <a:spcPts val="400"/>
              </a:spcAft>
              <a:defRPr sz="1100">
                <a:solidFill>
                  <a:srgbClr val="1C1B19"/>
                </a:solidFill>
                <a:latin typeface="Arial"/>
              </a:defRPr>
            </a:pPr>
            <a:r>
              <a:t>• • Graines de courge (Agoussi).</a:t>
            </a:r>
          </a:p>
          <a:p>
            <a:pPr>
              <a:spcAft>
                <a:spcPts val="400"/>
              </a:spcAft>
              <a:defRPr sz="1100">
                <a:solidFill>
                  <a:srgbClr val="1C1B19"/>
                </a:solidFill>
                <a:latin typeface="Arial"/>
              </a:defRPr>
            </a:pPr>
            <a:r>
              <a:t>• • Arachides fraîches ou grillées.</a:t>
            </a:r>
          </a:p>
          <a:p>
            <a:pPr>
              <a:spcAft>
                <a:spcPts val="400"/>
              </a:spcAft>
              <a:defRPr sz="1100">
                <a:solidFill>
                  <a:srgbClr val="1C1B19"/>
                </a:solidFill>
                <a:latin typeface="Arial"/>
              </a:defRPr>
            </a:pPr>
            <a:r>
              <a:t>• • Œufs de ferme locaux.</a:t>
            </a:r>
          </a:p>
          <a:p>
            <a:pPr>
              <a:spcAft>
                <a:spcPts val="400"/>
              </a:spcAft>
              <a:defRPr sz="1100">
                <a:solidFill>
                  <a:srgbClr val="1C1B19"/>
                </a:solidFill>
                <a:latin typeface="Arial"/>
              </a:defRPr>
            </a:pPr>
            <a:r>
              <a:t>• • Sésame blanc et soja béninois.</a:t>
            </a:r>
          </a:p>
        </p:txBody>
      </p:sp>
      <p:sp>
        <p:nvSpPr>
          <p:cNvPr id="12" name="Rounded Rectangle 11"/>
          <p:cNvSpPr/>
          <p:nvPr/>
        </p:nvSpPr>
        <p:spPr>
          <a:xfrm>
            <a:off x="8119872" y="1463040"/>
            <a:ext cx="33375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57032" y="1481328"/>
            <a:ext cx="3063240" cy="45720"/>
          </a:xfrm>
          <a:prstGeom prst="rect">
            <a:avLst/>
          </a:prstGeom>
          <a:solidFill>
            <a:srgbClr val="2B3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2752" y="1645920"/>
            <a:ext cx="2971800" cy="3566160"/>
          </a:xfrm>
          <a:prstGeom prst="rect">
            <a:avLst/>
          </a:prstGeom>
          <a:noFill/>
        </p:spPr>
        <p:txBody>
          <a:bodyPr wrap="square" lIns="0" tIns="0" rIns="0" bIns="0">
            <a:spAutoFit/>
          </a:bodyPr>
          <a:lstStyle/>
          <a:p>
            <a:pPr>
              <a:spcAft>
                <a:spcPts val="800"/>
              </a:spcAft>
              <a:defRPr sz="1450" b="1">
                <a:solidFill>
                  <a:srgbClr val="2B3E63"/>
                </a:solidFill>
                <a:latin typeface="Georgia"/>
              </a:defRPr>
            </a:pPr>
            <a:r>
              <a:t>L'Eau pure (1,5 L à 2 L)</a:t>
            </a:r>
          </a:p>
          <a:p>
            <a:pPr>
              <a:spcAft>
                <a:spcPts val="400"/>
              </a:spcAft>
              <a:defRPr sz="1100">
                <a:solidFill>
                  <a:srgbClr val="1C1B19"/>
                </a:solidFill>
                <a:latin typeface="Arial"/>
              </a:defRPr>
            </a:pPr>
            <a:r>
              <a:t>• Rôle : Le bulbe capillaire est l'un des tissus les plus actifs de l'organisme. Un corps déshydraté coupe immédiatement l'eau aux cheveux pour la réserver aux organes vitaux.</a:t>
            </a:r>
          </a:p>
          <a:p>
            <a:pPr>
              <a:spcAft>
                <a:spcPts val="400"/>
              </a:spcAft>
              <a:defRPr sz="1100">
                <a:solidFill>
                  <a:srgbClr val="1C1B19"/>
                </a:solidFill>
                <a:latin typeface="Arial"/>
              </a:defRPr>
            </a:pPr>
            <a:r>
              <a:t>• Le signe d'alerte :</a:t>
            </a:r>
          </a:p>
          <a:p>
            <a:pPr>
              <a:spcAft>
                <a:spcPts val="400"/>
              </a:spcAft>
              <a:defRPr sz="1100">
                <a:solidFill>
                  <a:srgbClr val="1C1B19"/>
                </a:solidFill>
                <a:latin typeface="Arial"/>
              </a:defRPr>
            </a:pPr>
            <a:r>
              <a:t>• Si vous buvez moins d'un litre d'eau par jour, vos cheveux deviennent ternes et cassent dès la racine.</a:t>
            </a:r>
          </a:p>
          <a:p>
            <a:pPr>
              <a:spcAft>
                <a:spcPts val="400"/>
              </a:spcAft>
              <a:defRPr sz="1100">
                <a:solidFill>
                  <a:srgbClr val="1C1B19"/>
                </a:solidFill>
                <a:latin typeface="Arial"/>
              </a:defRPr>
            </a:pPr>
            <a:r>
              <a:t>• Règle : Garder une gourde de 1,5 L toujours à portée de main.</a:t>
            </a:r>
          </a:p>
        </p:txBody>
      </p:sp>
      <p:sp>
        <p:nvSpPr>
          <p:cNvPr id="15" name="Rounded Rectangle 14"/>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Aucun produit appliqué sur vos mèches ne remplacera un plat de niébé au moringa et deux litres d'eau par jour.</a:t>
            </a:r>
          </a:p>
        </p:txBody>
      </p:sp>
      <p:sp>
        <p:nvSpPr>
          <p:cNvPr id="17" name="Rectangle 16"/>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9" name="TextBox 18"/>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53 / 75</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PARTIE 3 · CHAPITRE 19 — RÉTENTION DE LONGUEUR</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Garder ce qui pousse : taille des pointes &amp; nuit de satin</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Vos cheveux poussent de 12 à 15 cm par an. Voici comment arrêter de les perdre.</a:t>
            </a:r>
          </a:p>
        </p:txBody>
      </p:sp>
      <p:sp>
        <p:nvSpPr>
          <p:cNvPr id="6" name="Rounded Rectangle 5"/>
          <p:cNvSpPr/>
          <p:nvPr/>
        </p:nvSpPr>
        <p:spPr>
          <a:xfrm>
            <a:off x="73152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4892040" cy="45720"/>
          </a:xfrm>
          <a:prstGeom prst="rect">
            <a:avLst/>
          </a:prstGeom>
          <a:solidFill>
            <a:srgbClr val="A85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09160" cy="3566160"/>
          </a:xfrm>
          <a:prstGeom prst="rect">
            <a:avLst/>
          </a:prstGeom>
          <a:noFill/>
        </p:spPr>
        <p:txBody>
          <a:bodyPr wrap="square" lIns="0" tIns="0" rIns="0" bIns="0">
            <a:spAutoFit/>
          </a:bodyPr>
          <a:lstStyle/>
          <a:p>
            <a:pPr>
              <a:spcAft>
                <a:spcPts val="800"/>
              </a:spcAft>
              <a:defRPr sz="1450" b="1">
                <a:solidFill>
                  <a:srgbClr val="A85236"/>
                </a:solidFill>
                <a:latin typeface="Georgia"/>
              </a:defRPr>
            </a:pPr>
            <a:r>
              <a:t>Quand et comment tailler les pointes fourchues</a:t>
            </a:r>
          </a:p>
          <a:p>
            <a:pPr>
              <a:spcAft>
                <a:spcPts val="400"/>
              </a:spcAft>
              <a:defRPr sz="1100" b="1">
                <a:solidFill>
                  <a:srgbClr val="A85236"/>
                </a:solidFill>
                <a:latin typeface="Arial"/>
              </a:defRPr>
            </a:pPr>
            <a:r>
              <a:t>La réalité des fourches : </a:t>
            </a:r>
            <a:r>
              <a:rPr sz="1100" b="0">
                <a:solidFill>
                  <a:srgbClr val="1C1B19"/>
                </a:solidFill>
                <a:latin typeface="Arial"/>
              </a:rPr>
              <a:t>Une pointe abîmée se sépare en deux (fourche) ou forme un nœud de fée microscopique. Si on ne la coupe pas, la fissure remonte le long de la tige et détruit 5 cm de cheveu sain.</a:t>
            </a:r>
          </a:p>
          <a:p>
            <a:pPr>
              <a:spcAft>
                <a:spcPts val="400"/>
              </a:spcAft>
              <a:defRPr sz="1100" b="1">
                <a:solidFill>
                  <a:srgbClr val="A85236"/>
                </a:solidFill>
                <a:latin typeface="Arial"/>
              </a:defRPr>
            </a:pPr>
            <a:r>
              <a:t>La fréquence réaliste : </a:t>
            </a:r>
            <a:r>
              <a:rPr sz="1100" b="0">
                <a:solidFill>
                  <a:srgbClr val="1C1B19"/>
                </a:solidFill>
                <a:latin typeface="Arial"/>
              </a:rPr>
              <a:t>Coupez 0,5 à 1 cm tous les 3 à 4 mois (ou deux fois par an si vos pointes sont saines et bien scellées).</a:t>
            </a:r>
          </a:p>
          <a:p>
            <a:pPr>
              <a:spcAft>
                <a:spcPts val="400"/>
              </a:spcAft>
              <a:defRPr sz="1100" b="1">
                <a:solidFill>
                  <a:srgbClr val="A85236"/>
                </a:solidFill>
                <a:latin typeface="Arial"/>
              </a:defRPr>
            </a:pPr>
            <a:r>
              <a:t>La technique facile sur vanilles sèches : </a:t>
            </a:r>
            <a:r>
              <a:rPr sz="1100" b="0">
                <a:solidFill>
                  <a:srgbClr val="1C1B19"/>
                </a:solidFill>
                <a:latin typeface="Arial"/>
              </a:rPr>
              <a:t>Faites des vanilles moyennes sur cheveux secs et scellés. Coupez net avec des ciseaux de coiffure bien affûtés les derniers millimètres transparents et effilochés.</a:t>
            </a:r>
          </a:p>
          <a:p>
            <a:pPr>
              <a:spcAft>
                <a:spcPts val="400"/>
              </a:spcAft>
              <a:defRPr sz="1100" b="1">
                <a:solidFill>
                  <a:srgbClr val="A85236"/>
                </a:solidFill>
                <a:latin typeface="Arial"/>
              </a:defRPr>
            </a:pPr>
            <a:r>
              <a:t>Attention : Ciseaux de cuisine INTERDITS : </a:t>
            </a:r>
            <a:r>
              <a:rPr sz="1100" b="0">
                <a:solidFill>
                  <a:srgbClr val="1C1B19"/>
                </a:solidFill>
                <a:latin typeface="Arial"/>
              </a:rPr>
              <a:t>Les ciseaux émoussés écrasent la kératine au lieu de la trancher net et créent de nouvelles fourches en 48 heures !</a:t>
            </a:r>
          </a:p>
        </p:txBody>
      </p:sp>
      <p:sp>
        <p:nvSpPr>
          <p:cNvPr id="9" name="Rounded Rectangle 8"/>
          <p:cNvSpPr/>
          <p:nvPr/>
        </p:nvSpPr>
        <p:spPr>
          <a:xfrm>
            <a:off x="626364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481328"/>
            <a:ext cx="4892040" cy="45720"/>
          </a:xfrm>
          <a:prstGeom prst="rect">
            <a:avLst/>
          </a:prstGeom>
          <a:solidFill>
            <a:srgbClr val="2B3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45920"/>
            <a:ext cx="4709160" cy="3566160"/>
          </a:xfrm>
          <a:prstGeom prst="rect">
            <a:avLst/>
          </a:prstGeom>
          <a:noFill/>
        </p:spPr>
        <p:txBody>
          <a:bodyPr wrap="square" lIns="0" tIns="0" rIns="0" bIns="0">
            <a:spAutoFit/>
          </a:bodyPr>
          <a:lstStyle/>
          <a:p>
            <a:pPr>
              <a:spcAft>
                <a:spcPts val="800"/>
              </a:spcAft>
              <a:defRPr sz="1450" b="1">
                <a:solidFill>
                  <a:srgbClr val="2B3E63"/>
                </a:solidFill>
                <a:latin typeface="Georgia"/>
              </a:defRPr>
            </a:pPr>
            <a:r>
              <a:t>Le rituel nocturne de protection en satin</a:t>
            </a:r>
          </a:p>
          <a:p>
            <a:pPr>
              <a:spcAft>
                <a:spcPts val="400"/>
              </a:spcAft>
              <a:defRPr sz="1100" b="1">
                <a:solidFill>
                  <a:srgbClr val="2B3E63"/>
                </a:solidFill>
                <a:latin typeface="Arial"/>
              </a:defRPr>
            </a:pPr>
            <a:r>
              <a:t>Le piège de la taie d'oreiller en coton : </a:t>
            </a:r>
            <a:r>
              <a:rPr sz="1100" b="0">
                <a:solidFill>
                  <a:srgbClr val="1C1B19"/>
                </a:solidFill>
                <a:latin typeface="Arial"/>
              </a:rPr>
              <a:t>Le coton ordinaire est une matière hydrophile rugueuse qui absorbe toutes vos huiles pendant la nuit et agit comme du papier de verre lors de vos mouvements de sommeil.</a:t>
            </a:r>
          </a:p>
          <a:p>
            <a:pPr>
              <a:spcAft>
                <a:spcPts val="400"/>
              </a:spcAft>
              <a:defRPr sz="1100" b="1">
                <a:solidFill>
                  <a:srgbClr val="2B3E63"/>
                </a:solidFill>
                <a:latin typeface="Arial"/>
              </a:defRPr>
            </a:pPr>
            <a:r>
              <a:t>Le bonnet ou la taie en satin / soie : </a:t>
            </a:r>
            <a:r>
              <a:rPr sz="1100" b="0">
                <a:solidFill>
                  <a:srgbClr val="1C1B19"/>
                </a:solidFill>
                <a:latin typeface="Arial"/>
              </a:rPr>
              <a:t>Le satin glisse sans aucun frottement. Vos cheveux conservent 100 % de leur hydratation jusqu'au réveil.</a:t>
            </a:r>
          </a:p>
          <a:p>
            <a:pPr>
              <a:spcAft>
                <a:spcPts val="400"/>
              </a:spcAft>
              <a:defRPr sz="1100" b="1">
                <a:solidFill>
                  <a:srgbClr val="2B3E63"/>
                </a:solidFill>
                <a:latin typeface="Arial"/>
              </a:defRPr>
            </a:pPr>
            <a:r>
              <a:t>Sous le casque de moto (Zémidjan) : </a:t>
            </a:r>
            <a:r>
              <a:rPr sz="1100" b="0">
                <a:solidFill>
                  <a:srgbClr val="1C1B19"/>
                </a:solidFill>
                <a:latin typeface="Arial"/>
              </a:rPr>
              <a:t>Si vous prenez le zémidjan au Bénin, portez toujours un petit foulard en satin ou en wax doublé sous votre casque de moto pour éviter que le polystyrène n'arrache votre lisière.</a:t>
            </a:r>
          </a:p>
        </p:txBody>
      </p:sp>
      <p:sp>
        <p:nvSpPr>
          <p:cNvPr id="12" name="Rounded Rectangle 11"/>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Tailler ses pointes ne ralentit pas la pousse : cela sauve la longueur existante !</a:t>
            </a:r>
          </a:p>
        </p:txBody>
      </p:sp>
      <p:sp>
        <p:nvSpPr>
          <p:cNvPr id="14" name="Rectangle 13"/>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6" name="TextBox 15"/>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54 / 75</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PARTIE 3 · CHAPITRE 20 — MÉMENTO DES ASTUCES</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Les 10 astuces phares résumées en une planche</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Dix réflexes simples à adopter pour transformer votre santé capillaire au quotidien.</a:t>
            </a:r>
          </a:p>
        </p:txBody>
      </p:sp>
      <p:graphicFrame>
        <p:nvGraphicFramePr>
          <p:cNvPr id="6" name="Table 5"/>
          <p:cNvGraphicFramePr>
            <a:graphicFrameLocks noGrp="1"/>
          </p:cNvGraphicFramePr>
          <p:nvPr/>
        </p:nvGraphicFramePr>
        <p:xfrm>
          <a:off x="731520" y="1463040"/>
          <a:ext cx="10728655" cy="3840480"/>
        </p:xfrm>
        <a:graphic>
          <a:graphicData uri="http://schemas.openxmlformats.org/drawingml/2006/table">
            <a:tbl>
              <a:tblPr firstRow="1" bandRow="1">
                <a:tableStyleId>{5C22544A-7EE6-4342-B048-85BDC9FD1C3A}</a:tableStyleId>
              </a:tblPr>
              <a:tblGrid>
                <a:gridCol w="2145731"/>
                <a:gridCol w="2145731"/>
                <a:gridCol w="2145731"/>
                <a:gridCol w="2145731"/>
                <a:gridCol w="2145731"/>
              </a:tblGrid>
              <a:tr h="349134">
                <a:tc>
                  <a:txBody>
                    <a:bodyPr wrap="square"/>
                    <a:lstStyle/>
                    <a:p>
                      <a:pPr>
                        <a:defRPr sz="1000" b="1">
                          <a:solidFill>
                            <a:srgbClr val="D9A13B"/>
                          </a:solidFill>
                          <a:latin typeface="Arial"/>
                        </a:defRPr>
                      </a:pPr>
                      <a:r>
                        <a:t>#</a:t>
                      </a:r>
                    </a:p>
                  </a:txBody>
                  <a:tcPr>
                    <a:solidFill>
                      <a:srgbClr val="1B2740"/>
                    </a:solidFill>
                  </a:tcPr>
                </a:tc>
                <a:tc>
                  <a:txBody>
                    <a:bodyPr wrap="square"/>
                    <a:lstStyle/>
                    <a:p>
                      <a:pPr>
                        <a:defRPr sz="1000" b="1">
                          <a:solidFill>
                            <a:srgbClr val="D9A13B"/>
                          </a:solidFill>
                          <a:latin typeface="Arial"/>
                        </a:defRPr>
                      </a:pPr>
                      <a:r>
                        <a:t>L'Astuce magique</a:t>
                      </a:r>
                    </a:p>
                  </a:txBody>
                  <a:tcPr>
                    <a:solidFill>
                      <a:srgbClr val="1B2740"/>
                    </a:solidFill>
                  </a:tcPr>
                </a:tc>
                <a:tc>
                  <a:txBody>
                    <a:bodyPr wrap="square"/>
                    <a:lstStyle/>
                    <a:p>
                      <a:pPr>
                        <a:defRPr sz="1000" b="1">
                          <a:solidFill>
                            <a:srgbClr val="D9A13B"/>
                          </a:solidFill>
                          <a:latin typeface="Arial"/>
                        </a:defRPr>
                      </a:pPr>
                      <a:r>
                        <a:t>Comment faire concrètement</a:t>
                      </a:r>
                    </a:p>
                  </a:txBody>
                  <a:tcPr>
                    <a:solidFill>
                      <a:srgbClr val="1B2740"/>
                    </a:solidFill>
                  </a:tcPr>
                </a:tc>
                <a:tc>
                  <a:txBody>
                    <a:bodyPr wrap="square"/>
                    <a:lstStyle/>
                    <a:p>
                      <a:pPr>
                        <a:defRPr sz="1000" b="1">
                          <a:solidFill>
                            <a:srgbClr val="D9A13B"/>
                          </a:solidFill>
                          <a:latin typeface="Arial"/>
                        </a:defRPr>
                      </a:pPr>
                      <a:r>
                        <a:t>Temps</a:t>
                      </a:r>
                    </a:p>
                  </a:txBody>
                  <a:tcPr>
                    <a:solidFill>
                      <a:srgbClr val="1B2740"/>
                    </a:solidFill>
                  </a:tcPr>
                </a:tc>
                <a:tc>
                  <a:txBody>
                    <a:bodyPr wrap="square"/>
                    <a:lstStyle/>
                    <a:p>
                      <a:pPr>
                        <a:defRPr sz="1000" b="1">
                          <a:solidFill>
                            <a:srgbClr val="D9A13B"/>
                          </a:solidFill>
                          <a:latin typeface="Arial"/>
                        </a:defRPr>
                      </a:pPr>
                      <a:r>
                        <a:t>Bénéfice clé</a:t>
                      </a:r>
                    </a:p>
                  </a:txBody>
                  <a:tcPr>
                    <a:solidFill>
                      <a:srgbClr val="1B2740"/>
                    </a:solidFill>
                  </a:tcPr>
                </a:tc>
              </a:tr>
              <a:tr h="349134">
                <a:tc>
                  <a:txBody>
                    <a:bodyPr wrap="square"/>
                    <a:lstStyle/>
                    <a:p>
                      <a:pPr>
                        <a:defRPr sz="950" b="1">
                          <a:solidFill>
                            <a:srgbClr val="2B3E63"/>
                          </a:solidFill>
                          <a:latin typeface="Arial"/>
                        </a:defRPr>
                      </a:pPr>
                      <a:r>
                        <a:t>1</a:t>
                      </a:r>
                    </a:p>
                  </a:txBody>
                  <a:tcPr>
                    <a:solidFill>
                      <a:srgbClr val="FFFFFF"/>
                    </a:solidFill>
                  </a:tcPr>
                </a:tc>
                <a:tc>
                  <a:txBody>
                    <a:bodyPr wrap="square"/>
                    <a:lstStyle/>
                    <a:p>
                      <a:pPr>
                        <a:defRPr sz="950">
                          <a:solidFill>
                            <a:srgbClr val="1C1B19"/>
                          </a:solidFill>
                          <a:latin typeface="Arial"/>
                        </a:defRPr>
                      </a:pPr>
                      <a:r>
                        <a:t>Le Pré-poo à l'huile de coco</a:t>
                      </a:r>
                    </a:p>
                  </a:txBody>
                  <a:tcPr>
                    <a:solidFill>
                      <a:srgbClr val="FFFFFF"/>
                    </a:solidFill>
                  </a:tcPr>
                </a:tc>
                <a:tc>
                  <a:txBody>
                    <a:bodyPr wrap="square"/>
                    <a:lstStyle/>
                    <a:p>
                      <a:pPr>
                        <a:defRPr sz="950">
                          <a:solidFill>
                            <a:srgbClr val="1C1B19"/>
                          </a:solidFill>
                          <a:latin typeface="Arial"/>
                        </a:defRPr>
                      </a:pPr>
                      <a:r>
                        <a:t>1 c. à soupe sur cheveux secs avant lavage</a:t>
                      </a:r>
                    </a:p>
                  </a:txBody>
                  <a:tcPr>
                    <a:solidFill>
                      <a:srgbClr val="FFFFFF"/>
                    </a:solidFill>
                  </a:tcPr>
                </a:tc>
                <a:tc>
                  <a:txBody>
                    <a:bodyPr wrap="square"/>
                    <a:lstStyle/>
                    <a:p>
                      <a:pPr>
                        <a:defRPr sz="950">
                          <a:solidFill>
                            <a:srgbClr val="1C1B19"/>
                          </a:solidFill>
                          <a:latin typeface="Arial"/>
                        </a:defRPr>
                      </a:pPr>
                      <a:r>
                        <a:t>30 min</a:t>
                      </a:r>
                    </a:p>
                  </a:txBody>
                  <a:tcPr>
                    <a:solidFill>
                      <a:srgbClr val="FFFFFF"/>
                    </a:solidFill>
                  </a:tcPr>
                </a:tc>
                <a:tc>
                  <a:txBody>
                    <a:bodyPr wrap="square"/>
                    <a:lstStyle/>
                    <a:p>
                      <a:pPr>
                        <a:defRPr sz="950">
                          <a:solidFill>
                            <a:srgbClr val="1C1B19"/>
                          </a:solidFill>
                          <a:latin typeface="Arial"/>
                        </a:defRPr>
                      </a:pPr>
                      <a:r>
                        <a:t>Réduit la perte de protéines de 40 %</a:t>
                      </a:r>
                    </a:p>
                  </a:txBody>
                  <a:tcPr>
                    <a:solidFill>
                      <a:srgbClr val="FFFFFF"/>
                    </a:solidFill>
                  </a:tcPr>
                </a:tc>
              </a:tr>
              <a:tr h="349134">
                <a:tc>
                  <a:txBody>
                    <a:bodyPr wrap="square"/>
                    <a:lstStyle/>
                    <a:p>
                      <a:pPr>
                        <a:defRPr sz="950" b="1">
                          <a:solidFill>
                            <a:srgbClr val="2B3E63"/>
                          </a:solidFill>
                          <a:latin typeface="Arial"/>
                        </a:defRPr>
                      </a:pPr>
                      <a:r>
                        <a:t>2</a:t>
                      </a:r>
                    </a:p>
                  </a:txBody>
                  <a:tcPr>
                    <a:solidFill>
                      <a:srgbClr val="F5EEE0"/>
                    </a:solidFill>
                  </a:tcPr>
                </a:tc>
                <a:tc>
                  <a:txBody>
                    <a:bodyPr wrap="square"/>
                    <a:lstStyle/>
                    <a:p>
                      <a:pPr>
                        <a:defRPr sz="950">
                          <a:solidFill>
                            <a:srgbClr val="1C1B19"/>
                          </a:solidFill>
                          <a:latin typeface="Arial"/>
                        </a:defRPr>
                      </a:pPr>
                      <a:r>
                        <a:t>L'essorage au t-shirt en coton</a:t>
                      </a:r>
                    </a:p>
                  </a:txBody>
                  <a:tcPr>
                    <a:solidFill>
                      <a:srgbClr val="F5EEE0"/>
                    </a:solidFill>
                  </a:tcPr>
                </a:tc>
                <a:tc>
                  <a:txBody>
                    <a:bodyPr wrap="square"/>
                    <a:lstStyle/>
                    <a:p>
                      <a:pPr>
                        <a:defRPr sz="950">
                          <a:solidFill>
                            <a:srgbClr val="1C1B19"/>
                          </a:solidFill>
                          <a:latin typeface="Arial"/>
                        </a:defRPr>
                      </a:pPr>
                      <a:r>
                        <a:t>Tamponner sans frotter avec un vieux t-shirt</a:t>
                      </a:r>
                    </a:p>
                  </a:txBody>
                  <a:tcPr>
                    <a:solidFill>
                      <a:srgbClr val="F5EEE0"/>
                    </a:solidFill>
                  </a:tcPr>
                </a:tc>
                <a:tc>
                  <a:txBody>
                    <a:bodyPr wrap="square"/>
                    <a:lstStyle/>
                    <a:p>
                      <a:pPr>
                        <a:defRPr sz="950">
                          <a:solidFill>
                            <a:srgbClr val="1C1B19"/>
                          </a:solidFill>
                          <a:latin typeface="Arial"/>
                        </a:defRPr>
                      </a:pPr>
                      <a:r>
                        <a:t>2 min</a:t>
                      </a:r>
                    </a:p>
                  </a:txBody>
                  <a:tcPr>
                    <a:solidFill>
                      <a:srgbClr val="F5EEE0"/>
                    </a:solidFill>
                  </a:tcPr>
                </a:tc>
                <a:tc>
                  <a:txBody>
                    <a:bodyPr wrap="square"/>
                    <a:lstStyle/>
                    <a:p>
                      <a:pPr>
                        <a:defRPr sz="950">
                          <a:solidFill>
                            <a:srgbClr val="1C1B19"/>
                          </a:solidFill>
                          <a:latin typeface="Arial"/>
                        </a:defRPr>
                      </a:pPr>
                      <a:r>
                        <a:t>Zéro cuticule arrachée, zéro frisottis</a:t>
                      </a:r>
                    </a:p>
                  </a:txBody>
                  <a:tcPr>
                    <a:solidFill>
                      <a:srgbClr val="F5EEE0"/>
                    </a:solidFill>
                  </a:tcPr>
                </a:tc>
              </a:tr>
              <a:tr h="349134">
                <a:tc>
                  <a:txBody>
                    <a:bodyPr wrap="square"/>
                    <a:lstStyle/>
                    <a:p>
                      <a:pPr>
                        <a:defRPr sz="950" b="1">
                          <a:solidFill>
                            <a:srgbClr val="2B3E63"/>
                          </a:solidFill>
                          <a:latin typeface="Arial"/>
                        </a:defRPr>
                      </a:pPr>
                      <a:r>
                        <a:t>3</a:t>
                      </a:r>
                    </a:p>
                  </a:txBody>
                  <a:tcPr>
                    <a:solidFill>
                      <a:srgbClr val="FFFFFF"/>
                    </a:solidFill>
                  </a:tcPr>
                </a:tc>
                <a:tc>
                  <a:txBody>
                    <a:bodyPr wrap="square"/>
                    <a:lstStyle/>
                    <a:p>
                      <a:pPr>
                        <a:defRPr sz="950">
                          <a:solidFill>
                            <a:srgbClr val="1C1B19"/>
                          </a:solidFill>
                          <a:latin typeface="Arial"/>
                        </a:defRPr>
                      </a:pPr>
                      <a:r>
                        <a:t>Les glaçons de gel de gombo</a:t>
                      </a:r>
                    </a:p>
                  </a:txBody>
                  <a:tcPr>
                    <a:solidFill>
                      <a:srgbClr val="FFFFFF"/>
                    </a:solidFill>
                  </a:tcPr>
                </a:tc>
                <a:tc>
                  <a:txBody>
                    <a:bodyPr wrap="square"/>
                    <a:lstStyle/>
                    <a:p>
                      <a:pPr>
                        <a:defRPr sz="950">
                          <a:solidFill>
                            <a:srgbClr val="1C1B19"/>
                          </a:solidFill>
                          <a:latin typeface="Arial"/>
                        </a:defRPr>
                      </a:pPr>
                      <a:r>
                        <a:t>Congeler le gel dans un bac à glaçons</a:t>
                      </a:r>
                    </a:p>
                  </a:txBody>
                  <a:tcPr>
                    <a:solidFill>
                      <a:srgbClr val="FFFFFF"/>
                    </a:solidFill>
                  </a:tcPr>
                </a:tc>
                <a:tc>
                  <a:txBody>
                    <a:bodyPr wrap="square"/>
                    <a:lstStyle/>
                    <a:p>
                      <a:pPr>
                        <a:defRPr sz="950">
                          <a:solidFill>
                            <a:srgbClr val="1C1B19"/>
                          </a:solidFill>
                          <a:latin typeface="Arial"/>
                        </a:defRPr>
                      </a:pPr>
                      <a:r>
                        <a:t>1 min</a:t>
                      </a:r>
                    </a:p>
                  </a:txBody>
                  <a:tcPr>
                    <a:solidFill>
                      <a:srgbClr val="FFFFFF"/>
                    </a:solidFill>
                  </a:tcPr>
                </a:tc>
                <a:tc>
                  <a:txBody>
                    <a:bodyPr wrap="square"/>
                    <a:lstStyle/>
                    <a:p>
                      <a:pPr>
                        <a:defRPr sz="950">
                          <a:solidFill>
                            <a:srgbClr val="1C1B19"/>
                          </a:solidFill>
                          <a:latin typeface="Arial"/>
                        </a:defRPr>
                      </a:pPr>
                      <a:r>
                        <a:t>Démêlant frais toujours prêt au congélateur</a:t>
                      </a:r>
                    </a:p>
                  </a:txBody>
                  <a:tcPr>
                    <a:solidFill>
                      <a:srgbClr val="FFFFFF"/>
                    </a:solidFill>
                  </a:tcPr>
                </a:tc>
              </a:tr>
              <a:tr h="349134">
                <a:tc>
                  <a:txBody>
                    <a:bodyPr wrap="square"/>
                    <a:lstStyle/>
                    <a:p>
                      <a:pPr>
                        <a:defRPr sz="950" b="1">
                          <a:solidFill>
                            <a:srgbClr val="2B3E63"/>
                          </a:solidFill>
                          <a:latin typeface="Arial"/>
                        </a:defRPr>
                      </a:pPr>
                      <a:r>
                        <a:t>4</a:t>
                      </a:r>
                    </a:p>
                  </a:txBody>
                  <a:tcPr>
                    <a:solidFill>
                      <a:srgbClr val="F5EEE0"/>
                    </a:solidFill>
                  </a:tcPr>
                </a:tc>
                <a:tc>
                  <a:txBody>
                    <a:bodyPr wrap="square"/>
                    <a:lstStyle/>
                    <a:p>
                      <a:pPr>
                        <a:defRPr sz="950">
                          <a:solidFill>
                            <a:srgbClr val="1C1B19"/>
                          </a:solidFill>
                          <a:latin typeface="Arial"/>
                        </a:defRPr>
                      </a:pPr>
                      <a:r>
                        <a:t>Le spray hydratant d'aloé</a:t>
                      </a:r>
                    </a:p>
                  </a:txBody>
                  <a:tcPr>
                    <a:solidFill>
                      <a:srgbClr val="F5EEE0"/>
                    </a:solidFill>
                  </a:tcPr>
                </a:tc>
                <a:tc>
                  <a:txBody>
                    <a:bodyPr wrap="square"/>
                    <a:lstStyle/>
                    <a:p>
                      <a:pPr>
                        <a:defRPr sz="950">
                          <a:solidFill>
                            <a:srgbClr val="1C1B19"/>
                          </a:solidFill>
                          <a:latin typeface="Arial"/>
                        </a:defRPr>
                      </a:pPr>
                      <a:r>
                        <a:t>2 c. s. gel frais + 1 verre d'eau + 1 c. c. huile</a:t>
                      </a:r>
                    </a:p>
                  </a:txBody>
                  <a:tcPr>
                    <a:solidFill>
                      <a:srgbClr val="F5EEE0"/>
                    </a:solidFill>
                  </a:tcPr>
                </a:tc>
                <a:tc>
                  <a:txBody>
                    <a:bodyPr wrap="square"/>
                    <a:lstStyle/>
                    <a:p>
                      <a:pPr>
                        <a:defRPr sz="950">
                          <a:solidFill>
                            <a:srgbClr val="1C1B19"/>
                          </a:solidFill>
                          <a:latin typeface="Arial"/>
                        </a:defRPr>
                      </a:pPr>
                      <a:r>
                        <a:t>2 min</a:t>
                      </a:r>
                    </a:p>
                  </a:txBody>
                  <a:tcPr>
                    <a:solidFill>
                      <a:srgbClr val="F5EEE0"/>
                    </a:solidFill>
                  </a:tcPr>
                </a:tc>
                <a:tc>
                  <a:txBody>
                    <a:bodyPr wrap="square"/>
                    <a:lstStyle/>
                    <a:p>
                      <a:pPr>
                        <a:defRPr sz="950">
                          <a:solidFill>
                            <a:srgbClr val="1C1B19"/>
                          </a:solidFill>
                          <a:latin typeface="Arial"/>
                        </a:defRPr>
                      </a:pPr>
                      <a:r>
                        <a:t>Hydratation express quotidienne du crâne</a:t>
                      </a:r>
                    </a:p>
                  </a:txBody>
                  <a:tcPr>
                    <a:solidFill>
                      <a:srgbClr val="F5EEE0"/>
                    </a:solidFill>
                  </a:tcPr>
                </a:tc>
              </a:tr>
              <a:tr h="349134">
                <a:tc>
                  <a:txBody>
                    <a:bodyPr wrap="square"/>
                    <a:lstStyle/>
                    <a:p>
                      <a:pPr>
                        <a:defRPr sz="950" b="1">
                          <a:solidFill>
                            <a:srgbClr val="2B3E63"/>
                          </a:solidFill>
                          <a:latin typeface="Arial"/>
                        </a:defRPr>
                      </a:pPr>
                      <a:r>
                        <a:t>5</a:t>
                      </a:r>
                    </a:p>
                  </a:txBody>
                  <a:tcPr>
                    <a:solidFill>
                      <a:srgbClr val="FFFFFF"/>
                    </a:solidFill>
                  </a:tcPr>
                </a:tc>
                <a:tc>
                  <a:txBody>
                    <a:bodyPr wrap="square"/>
                    <a:lstStyle/>
                    <a:p>
                      <a:pPr>
                        <a:defRPr sz="950">
                          <a:solidFill>
                            <a:srgbClr val="1C1B19"/>
                          </a:solidFill>
                          <a:latin typeface="Arial"/>
                        </a:defRPr>
                      </a:pPr>
                      <a:r>
                        <a:t>Les vanilles lâches du soir</a:t>
                      </a:r>
                    </a:p>
                  </a:txBody>
                  <a:tcPr>
                    <a:solidFill>
                      <a:srgbClr val="FFFFFF"/>
                    </a:solidFill>
                  </a:tcPr>
                </a:tc>
                <a:tc>
                  <a:txBody>
                    <a:bodyPr wrap="square"/>
                    <a:lstStyle/>
                    <a:p>
                      <a:pPr>
                        <a:defRPr sz="950">
                          <a:solidFill>
                            <a:srgbClr val="1C1B19"/>
                          </a:solidFill>
                          <a:latin typeface="Arial"/>
                        </a:defRPr>
                      </a:pPr>
                      <a:r>
                        <a:t>4 à 6 grosses torsades avant de dormir</a:t>
                      </a:r>
                    </a:p>
                  </a:txBody>
                  <a:tcPr>
                    <a:solidFill>
                      <a:srgbClr val="FFFFFF"/>
                    </a:solidFill>
                  </a:tcPr>
                </a:tc>
                <a:tc>
                  <a:txBody>
                    <a:bodyPr wrap="square"/>
                    <a:lstStyle/>
                    <a:p>
                      <a:pPr>
                        <a:defRPr sz="950">
                          <a:solidFill>
                            <a:srgbClr val="1C1B19"/>
                          </a:solidFill>
                          <a:latin typeface="Arial"/>
                        </a:defRPr>
                      </a:pPr>
                      <a:r>
                        <a:t>3 min</a:t>
                      </a:r>
                    </a:p>
                  </a:txBody>
                  <a:tcPr>
                    <a:solidFill>
                      <a:srgbClr val="FFFFFF"/>
                    </a:solidFill>
                  </a:tcPr>
                </a:tc>
                <a:tc>
                  <a:txBody>
                    <a:bodyPr wrap="square"/>
                    <a:lstStyle/>
                    <a:p>
                      <a:pPr>
                        <a:defRPr sz="950">
                          <a:solidFill>
                            <a:srgbClr val="1C1B19"/>
                          </a:solidFill>
                          <a:latin typeface="Arial"/>
                        </a:defRPr>
                      </a:pPr>
                      <a:r>
                        <a:t>Empêche les cheveux de s'emmêler la nuit</a:t>
                      </a:r>
                    </a:p>
                  </a:txBody>
                  <a:tcPr>
                    <a:solidFill>
                      <a:srgbClr val="FFFFFF"/>
                    </a:solidFill>
                  </a:tcPr>
                </a:tc>
              </a:tr>
              <a:tr h="349134">
                <a:tc>
                  <a:txBody>
                    <a:bodyPr wrap="square"/>
                    <a:lstStyle/>
                    <a:p>
                      <a:pPr>
                        <a:defRPr sz="950" b="1">
                          <a:solidFill>
                            <a:srgbClr val="2B3E63"/>
                          </a:solidFill>
                          <a:latin typeface="Arial"/>
                        </a:defRPr>
                      </a:pPr>
                      <a:r>
                        <a:t>6</a:t>
                      </a:r>
                    </a:p>
                  </a:txBody>
                  <a:tcPr>
                    <a:solidFill>
                      <a:srgbClr val="F5EEE0"/>
                    </a:solidFill>
                  </a:tcPr>
                </a:tc>
                <a:tc>
                  <a:txBody>
                    <a:bodyPr wrap="square"/>
                    <a:lstStyle/>
                    <a:p>
                      <a:pPr>
                        <a:defRPr sz="950">
                          <a:solidFill>
                            <a:srgbClr val="1C1B19"/>
                          </a:solidFill>
                          <a:latin typeface="Arial"/>
                        </a:defRPr>
                      </a:pPr>
                      <a:r>
                        <a:t>Le bonnet satin sous le zém</a:t>
                      </a:r>
                    </a:p>
                  </a:txBody>
                  <a:tcPr>
                    <a:solidFill>
                      <a:srgbClr val="F5EEE0"/>
                    </a:solidFill>
                  </a:tcPr>
                </a:tc>
                <a:tc>
                  <a:txBody>
                    <a:bodyPr wrap="square"/>
                    <a:lstStyle/>
                    <a:p>
                      <a:pPr>
                        <a:defRPr sz="950">
                          <a:solidFill>
                            <a:srgbClr val="1C1B19"/>
                          </a:solidFill>
                          <a:latin typeface="Arial"/>
                        </a:defRPr>
                      </a:pPr>
                      <a:r>
                        <a:t>Foulard glissant sous le casque de moto</a:t>
                      </a:r>
                    </a:p>
                  </a:txBody>
                  <a:tcPr>
                    <a:solidFill>
                      <a:srgbClr val="F5EEE0"/>
                    </a:solidFill>
                  </a:tcPr>
                </a:tc>
                <a:tc>
                  <a:txBody>
                    <a:bodyPr wrap="square"/>
                    <a:lstStyle/>
                    <a:p>
                      <a:pPr>
                        <a:defRPr sz="950">
                          <a:solidFill>
                            <a:srgbClr val="1C1B19"/>
                          </a:solidFill>
                          <a:latin typeface="Arial"/>
                        </a:defRPr>
                      </a:pPr>
                      <a:r>
                        <a:t>30 sec</a:t>
                      </a:r>
                    </a:p>
                  </a:txBody>
                  <a:tcPr>
                    <a:solidFill>
                      <a:srgbClr val="F5EEE0"/>
                    </a:solidFill>
                  </a:tcPr>
                </a:tc>
                <a:tc>
                  <a:txBody>
                    <a:bodyPr wrap="square"/>
                    <a:lstStyle/>
                    <a:p>
                      <a:pPr>
                        <a:defRPr sz="950">
                          <a:solidFill>
                            <a:srgbClr val="1C1B19"/>
                          </a:solidFill>
                          <a:latin typeface="Arial"/>
                        </a:defRPr>
                      </a:pPr>
                      <a:r>
                        <a:t>Protège la lisière contre les frottements</a:t>
                      </a:r>
                    </a:p>
                  </a:txBody>
                  <a:tcPr>
                    <a:solidFill>
                      <a:srgbClr val="F5EEE0"/>
                    </a:solidFill>
                  </a:tcPr>
                </a:tc>
              </a:tr>
              <a:tr h="349134">
                <a:tc>
                  <a:txBody>
                    <a:bodyPr wrap="square"/>
                    <a:lstStyle/>
                    <a:p>
                      <a:pPr>
                        <a:defRPr sz="950" b="1">
                          <a:solidFill>
                            <a:srgbClr val="2B3E63"/>
                          </a:solidFill>
                          <a:latin typeface="Arial"/>
                        </a:defRPr>
                      </a:pPr>
                      <a:r>
                        <a:t>7</a:t>
                      </a:r>
                    </a:p>
                  </a:txBody>
                  <a:tcPr>
                    <a:solidFill>
                      <a:srgbClr val="FFFFFF"/>
                    </a:solidFill>
                  </a:tcPr>
                </a:tc>
                <a:tc>
                  <a:txBody>
                    <a:bodyPr wrap="square"/>
                    <a:lstStyle/>
                    <a:p>
                      <a:pPr>
                        <a:defRPr sz="950">
                          <a:solidFill>
                            <a:srgbClr val="1C1B19"/>
                          </a:solidFill>
                          <a:latin typeface="Arial"/>
                        </a:defRPr>
                      </a:pPr>
                      <a:r>
                        <a:t>L'eau de niébé en rinçage</a:t>
                      </a:r>
                    </a:p>
                  </a:txBody>
                  <a:tcPr>
                    <a:solidFill>
                      <a:srgbClr val="FFFFFF"/>
                    </a:solidFill>
                  </a:tcPr>
                </a:tc>
                <a:tc>
                  <a:txBody>
                    <a:bodyPr wrap="square"/>
                    <a:lstStyle/>
                    <a:p>
                      <a:pPr>
                        <a:defRPr sz="950">
                          <a:solidFill>
                            <a:srgbClr val="1C1B19"/>
                          </a:solidFill>
                          <a:latin typeface="Arial"/>
                        </a:defRPr>
                      </a:pPr>
                      <a:r>
                        <a:t>Eau de cuisson de haricots blancs non salée</a:t>
                      </a:r>
                    </a:p>
                  </a:txBody>
                  <a:tcPr>
                    <a:solidFill>
                      <a:srgbClr val="FFFFFF"/>
                    </a:solidFill>
                  </a:tcPr>
                </a:tc>
                <a:tc>
                  <a:txBody>
                    <a:bodyPr wrap="square"/>
                    <a:lstStyle/>
                    <a:p>
                      <a:pPr>
                        <a:defRPr sz="950">
                          <a:solidFill>
                            <a:srgbClr val="1C1B19"/>
                          </a:solidFill>
                          <a:latin typeface="Arial"/>
                        </a:defRPr>
                      </a:pPr>
                      <a:r>
                        <a:t>10 min</a:t>
                      </a:r>
                    </a:p>
                  </a:txBody>
                  <a:tcPr>
                    <a:solidFill>
                      <a:srgbClr val="FFFFFF"/>
                    </a:solidFill>
                  </a:tcPr>
                </a:tc>
                <a:tc>
                  <a:txBody>
                    <a:bodyPr wrap="square"/>
                    <a:lstStyle/>
                    <a:p>
                      <a:pPr>
                        <a:defRPr sz="950">
                          <a:solidFill>
                            <a:srgbClr val="1C1B19"/>
                          </a:solidFill>
                          <a:latin typeface="Arial"/>
                        </a:defRPr>
                      </a:pPr>
                      <a:r>
                        <a:t>Apport doux d'acides aminés végétaux</a:t>
                      </a:r>
                    </a:p>
                  </a:txBody>
                  <a:tcPr>
                    <a:solidFill>
                      <a:srgbClr val="FFFFFF"/>
                    </a:solidFill>
                  </a:tcPr>
                </a:tc>
              </a:tr>
              <a:tr h="349134">
                <a:tc>
                  <a:txBody>
                    <a:bodyPr wrap="square"/>
                    <a:lstStyle/>
                    <a:p>
                      <a:pPr>
                        <a:defRPr sz="950" b="1">
                          <a:solidFill>
                            <a:srgbClr val="2B3E63"/>
                          </a:solidFill>
                          <a:latin typeface="Arial"/>
                        </a:defRPr>
                      </a:pPr>
                      <a:r>
                        <a:t>8</a:t>
                      </a:r>
                    </a:p>
                  </a:txBody>
                  <a:tcPr>
                    <a:solidFill>
                      <a:srgbClr val="F5EEE0"/>
                    </a:solidFill>
                  </a:tcPr>
                </a:tc>
                <a:tc>
                  <a:txBody>
                    <a:bodyPr wrap="square"/>
                    <a:lstStyle/>
                    <a:p>
                      <a:pPr>
                        <a:defRPr sz="950">
                          <a:solidFill>
                            <a:srgbClr val="1C1B19"/>
                          </a:solidFill>
                          <a:latin typeface="Arial"/>
                        </a:defRPr>
                      </a:pPr>
                      <a:r>
                        <a:t>La cuillère-doseuse dédiée</a:t>
                      </a:r>
                    </a:p>
                  </a:txBody>
                  <a:tcPr>
                    <a:solidFill>
                      <a:srgbClr val="F5EEE0"/>
                    </a:solidFill>
                  </a:tcPr>
                </a:tc>
                <a:tc>
                  <a:txBody>
                    <a:bodyPr wrap="square"/>
                    <a:lstStyle/>
                    <a:p>
                      <a:pPr>
                        <a:defRPr sz="950">
                          <a:solidFill>
                            <a:srgbClr val="1C1B19"/>
                          </a:solidFill>
                          <a:latin typeface="Arial"/>
                        </a:defRPr>
                      </a:pPr>
                      <a:r>
                        <a:t>Garder une cuillère à café dans la salle de bain</a:t>
                      </a:r>
                    </a:p>
                  </a:txBody>
                  <a:tcPr>
                    <a:solidFill>
                      <a:srgbClr val="F5EEE0"/>
                    </a:solidFill>
                  </a:tcPr>
                </a:tc>
                <a:tc>
                  <a:txBody>
                    <a:bodyPr wrap="square"/>
                    <a:lstStyle/>
                    <a:p>
                      <a:pPr>
                        <a:defRPr sz="950">
                          <a:solidFill>
                            <a:srgbClr val="1C1B19"/>
                          </a:solidFill>
                          <a:latin typeface="Arial"/>
                        </a:defRPr>
                      </a:pPr>
                      <a:r>
                        <a:t>10 sec</a:t>
                      </a:r>
                    </a:p>
                  </a:txBody>
                  <a:tcPr>
                    <a:solidFill>
                      <a:srgbClr val="F5EEE0"/>
                    </a:solidFill>
                  </a:tcPr>
                </a:tc>
                <a:tc>
                  <a:txBody>
                    <a:bodyPr wrap="square"/>
                    <a:lstStyle/>
                    <a:p>
                      <a:pPr>
                        <a:defRPr sz="950">
                          <a:solidFill>
                            <a:srgbClr val="1C1B19"/>
                          </a:solidFill>
                          <a:latin typeface="Arial"/>
                        </a:defRPr>
                      </a:pPr>
                      <a:r>
                        <a:t>Fini le gaspillage d'huiles coûteuses</a:t>
                      </a:r>
                    </a:p>
                  </a:txBody>
                  <a:tcPr>
                    <a:solidFill>
                      <a:srgbClr val="F5EEE0"/>
                    </a:solidFill>
                  </a:tcPr>
                </a:tc>
              </a:tr>
              <a:tr h="349134">
                <a:tc>
                  <a:txBody>
                    <a:bodyPr wrap="square"/>
                    <a:lstStyle/>
                    <a:p>
                      <a:pPr>
                        <a:defRPr sz="950" b="1">
                          <a:solidFill>
                            <a:srgbClr val="2B3E63"/>
                          </a:solidFill>
                          <a:latin typeface="Arial"/>
                        </a:defRPr>
                      </a:pPr>
                      <a:r>
                        <a:t>9</a:t>
                      </a:r>
                    </a:p>
                  </a:txBody>
                  <a:tcPr>
                    <a:solidFill>
                      <a:srgbClr val="FFFFFF"/>
                    </a:solidFill>
                  </a:tcPr>
                </a:tc>
                <a:tc>
                  <a:txBody>
                    <a:bodyPr wrap="square"/>
                    <a:lstStyle/>
                    <a:p>
                      <a:pPr>
                        <a:defRPr sz="950">
                          <a:solidFill>
                            <a:srgbClr val="1C1B19"/>
                          </a:solidFill>
                          <a:latin typeface="Arial"/>
                        </a:defRPr>
                      </a:pPr>
                      <a:r>
                        <a:t>Démêlage doigts d'abord</a:t>
                      </a:r>
                    </a:p>
                  </a:txBody>
                  <a:tcPr>
                    <a:solidFill>
                      <a:srgbClr val="FFFFFF"/>
                    </a:solidFill>
                  </a:tcPr>
                </a:tc>
                <a:tc>
                  <a:txBody>
                    <a:bodyPr wrap="square"/>
                    <a:lstStyle/>
                    <a:p>
                      <a:pPr>
                        <a:defRPr sz="950">
                          <a:solidFill>
                            <a:srgbClr val="1C1B19"/>
                          </a:solidFill>
                          <a:latin typeface="Arial"/>
                        </a:defRPr>
                      </a:pPr>
                      <a:r>
                        <a:t>Séparer les mèches à la main avant le peigne</a:t>
                      </a:r>
                    </a:p>
                  </a:txBody>
                  <a:tcPr>
                    <a:solidFill>
                      <a:srgbClr val="FFFFFF"/>
                    </a:solidFill>
                  </a:tcPr>
                </a:tc>
                <a:tc>
                  <a:txBody>
                    <a:bodyPr wrap="square"/>
                    <a:lstStyle/>
                    <a:p>
                      <a:pPr>
                        <a:defRPr sz="950">
                          <a:solidFill>
                            <a:srgbClr val="1C1B19"/>
                          </a:solidFill>
                          <a:latin typeface="Arial"/>
                        </a:defRPr>
                      </a:pPr>
                      <a:r>
                        <a:t>5 min</a:t>
                      </a:r>
                    </a:p>
                  </a:txBody>
                  <a:tcPr>
                    <a:solidFill>
                      <a:srgbClr val="FFFFFF"/>
                    </a:solidFill>
                  </a:tcPr>
                </a:tc>
                <a:tc>
                  <a:txBody>
                    <a:bodyPr wrap="square"/>
                    <a:lstStyle/>
                    <a:p>
                      <a:pPr>
                        <a:defRPr sz="950">
                          <a:solidFill>
                            <a:srgbClr val="1C1B19"/>
                          </a:solidFill>
                          <a:latin typeface="Arial"/>
                        </a:defRPr>
                      </a:pPr>
                      <a:r>
                        <a:t>Évite 80 % de la casse mécanique</a:t>
                      </a:r>
                    </a:p>
                  </a:txBody>
                  <a:tcPr>
                    <a:solidFill>
                      <a:srgbClr val="FFFFFF"/>
                    </a:solidFill>
                  </a:tcPr>
                </a:tc>
              </a:tr>
              <a:tr h="349140">
                <a:tc>
                  <a:txBody>
                    <a:bodyPr wrap="square"/>
                    <a:lstStyle/>
                    <a:p>
                      <a:pPr>
                        <a:defRPr sz="950" b="1">
                          <a:solidFill>
                            <a:srgbClr val="2B3E63"/>
                          </a:solidFill>
                          <a:latin typeface="Arial"/>
                        </a:defRPr>
                      </a:pPr>
                      <a:r>
                        <a:t>10</a:t>
                      </a:r>
                    </a:p>
                  </a:txBody>
                  <a:tcPr>
                    <a:solidFill>
                      <a:srgbClr val="F5EEE0"/>
                    </a:solidFill>
                  </a:tcPr>
                </a:tc>
                <a:tc>
                  <a:txBody>
                    <a:bodyPr wrap="square"/>
                    <a:lstStyle/>
                    <a:p>
                      <a:pPr>
                        <a:defRPr sz="950">
                          <a:solidFill>
                            <a:srgbClr val="1C1B19"/>
                          </a:solidFill>
                          <a:latin typeface="Arial"/>
                        </a:defRPr>
                      </a:pPr>
                      <a:r>
                        <a:t>La photo mensuelle fixe</a:t>
                      </a:r>
                    </a:p>
                  </a:txBody>
                  <a:tcPr>
                    <a:solidFill>
                      <a:srgbClr val="F5EEE0"/>
                    </a:solidFill>
                  </a:tcPr>
                </a:tc>
                <a:tc>
                  <a:txBody>
                    <a:bodyPr wrap="square"/>
                    <a:lstStyle/>
                    <a:p>
                      <a:pPr>
                        <a:defRPr sz="950">
                          <a:solidFill>
                            <a:srgbClr val="1C1B19"/>
                          </a:solidFill>
                          <a:latin typeface="Arial"/>
                        </a:defRPr>
                      </a:pPr>
                      <a:r>
                        <a:t>4 photos (face, profil, dos, dessus) à date fixe</a:t>
                      </a:r>
                    </a:p>
                  </a:txBody>
                  <a:tcPr>
                    <a:solidFill>
                      <a:srgbClr val="F5EEE0"/>
                    </a:solidFill>
                  </a:tcPr>
                </a:tc>
                <a:tc>
                  <a:txBody>
                    <a:bodyPr wrap="square"/>
                    <a:lstStyle/>
                    <a:p>
                      <a:pPr>
                        <a:defRPr sz="950">
                          <a:solidFill>
                            <a:srgbClr val="1C1B19"/>
                          </a:solidFill>
                          <a:latin typeface="Arial"/>
                        </a:defRPr>
                      </a:pPr>
                      <a:r>
                        <a:t>3 min</a:t>
                      </a:r>
                    </a:p>
                  </a:txBody>
                  <a:tcPr>
                    <a:solidFill>
                      <a:srgbClr val="F5EEE0"/>
                    </a:solidFill>
                  </a:tcPr>
                </a:tc>
                <a:tc>
                  <a:txBody>
                    <a:bodyPr wrap="square"/>
                    <a:lstStyle/>
                    <a:p>
                      <a:pPr>
                        <a:defRPr sz="950">
                          <a:solidFill>
                            <a:srgbClr val="1C1B19"/>
                          </a:solidFill>
                          <a:latin typeface="Arial"/>
                        </a:defRPr>
                      </a:pPr>
                      <a:r>
                        <a:t>Constater ses vrais progrès sans se tromper</a:t>
                      </a:r>
                    </a:p>
                  </a:txBody>
                  <a:tcPr>
                    <a:solidFill>
                      <a:srgbClr val="F5EEE0"/>
                    </a:solidFill>
                  </a:tcPr>
                </a:tc>
              </a:tr>
            </a:tbl>
          </a:graphicData>
        </a:graphic>
      </p:graphicFrame>
      <p:sp>
        <p:nvSpPr>
          <p:cNvPr id="7" name="Rounded Rectangle 6"/>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Adoptez deux de ces astuces ce mois-ci, puis ajoutez-en une nouvelle chaque mois.</a:t>
            </a:r>
          </a:p>
        </p:txBody>
      </p:sp>
      <p:sp>
        <p:nvSpPr>
          <p:cNvPr id="9" name="Rectangle 8"/>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1" name="TextBox 10"/>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55 / 75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731520"/>
            <a:ext cx="10362895" cy="5394960"/>
          </a:xfrm>
          <a:prstGeom prst="rect">
            <a:avLst/>
          </a:prstGeom>
          <a:noFill/>
          <a:ln w="15240">
            <a:solidFill>
              <a:srgbClr val="B88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188720"/>
            <a:ext cx="9445752" cy="365760"/>
          </a:xfrm>
          <a:prstGeom prst="rect">
            <a:avLst/>
          </a:prstGeom>
          <a:noFill/>
        </p:spPr>
        <p:txBody>
          <a:bodyPr wrap="none" lIns="0" tIns="0" rIns="0" bIns="0">
            <a:spAutoFit/>
          </a:bodyPr>
          <a:lstStyle/>
          <a:p>
            <a:pPr>
              <a:defRPr sz="1200" b="1">
                <a:solidFill>
                  <a:srgbClr val="D9A13B"/>
                </a:solidFill>
                <a:latin typeface="Arial"/>
              </a:defRPr>
            </a:pPr>
            <a:r>
              <a:t>LE KIT ANTI-PARESSE</a:t>
            </a:r>
          </a:p>
        </p:txBody>
      </p:sp>
      <p:sp>
        <p:nvSpPr>
          <p:cNvPr id="5" name="TextBox 4"/>
          <p:cNvSpPr txBox="1"/>
          <p:nvPr/>
        </p:nvSpPr>
        <p:spPr>
          <a:xfrm>
            <a:off x="1371600" y="1645920"/>
            <a:ext cx="9445752" cy="1097280"/>
          </a:xfrm>
          <a:prstGeom prst="rect">
            <a:avLst/>
          </a:prstGeom>
          <a:noFill/>
        </p:spPr>
        <p:txBody>
          <a:bodyPr wrap="square" lIns="0" tIns="0" rIns="0" bIns="0">
            <a:spAutoFit/>
          </a:bodyPr>
          <a:lstStyle/>
          <a:p>
            <a:pPr>
              <a:defRPr sz="3600" b="1">
                <a:solidFill>
                  <a:srgbClr val="FAF6F0"/>
                </a:solidFill>
                <a:latin typeface="Georgia"/>
              </a:defRPr>
            </a:pPr>
            <a:r>
              <a:t>Le minimum vital qui fonctionne</a:t>
            </a:r>
          </a:p>
        </p:txBody>
      </p:sp>
      <p:sp>
        <p:nvSpPr>
          <p:cNvPr id="6" name="Rectangle 5"/>
          <p:cNvSpPr/>
          <p:nvPr/>
        </p:nvSpPr>
        <p:spPr>
          <a:xfrm>
            <a:off x="1371600" y="2926080"/>
            <a:ext cx="3200400" cy="36576"/>
          </a:xfrm>
          <a:prstGeom prst="rect">
            <a:avLst/>
          </a:prstGeom>
          <a:solidFill>
            <a:srgbClr val="D9A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154680"/>
            <a:ext cx="9445752" cy="1280160"/>
          </a:xfrm>
          <a:prstGeom prst="rect">
            <a:avLst/>
          </a:prstGeom>
          <a:noFill/>
        </p:spPr>
        <p:txBody>
          <a:bodyPr wrap="square" lIns="0" tIns="0" rIns="0" bIns="0">
            <a:spAutoFit/>
          </a:bodyPr>
          <a:lstStyle/>
          <a:p>
            <a:pPr>
              <a:defRPr sz="1800" i="1">
                <a:solidFill>
                  <a:srgbClr val="D9A13B"/>
                </a:solidFill>
                <a:latin typeface="Georgia"/>
              </a:defRPr>
            </a:pPr>
            <a:r>
              <a:t>« On ne vous demande pas une discipline héroïque. On vous demande dix minutes, deux fois par semaine, et de la régularité. »</a:t>
            </a:r>
          </a:p>
        </p:txBody>
      </p:sp>
      <p:sp>
        <p:nvSpPr>
          <p:cNvPr id="8" name="TextBox 7"/>
          <p:cNvSpPr txBox="1"/>
          <p:nvPr/>
        </p:nvSpPr>
        <p:spPr>
          <a:xfrm>
            <a:off x="1371600" y="4572000"/>
            <a:ext cx="9445752" cy="914400"/>
          </a:xfrm>
          <a:prstGeom prst="rect">
            <a:avLst/>
          </a:prstGeom>
          <a:noFill/>
        </p:spPr>
        <p:txBody>
          <a:bodyPr wrap="square" lIns="0" tIns="0" rIns="0" bIns="0">
            <a:spAutoFit/>
          </a:bodyPr>
          <a:lstStyle/>
          <a:p>
            <a:pPr>
              <a:defRPr sz="1300">
                <a:solidFill>
                  <a:srgbClr val="D2C8B8"/>
                </a:solidFill>
                <a:latin typeface="Arial"/>
              </a:defRPr>
            </a:pPr>
            <a:r>
              <a:t>Défi 7 jours, plan 30 jours à cocher, routines express et filet de sécurité pour les jours de fatigue.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KIT ANTI-PARESSE · AMORCER LA ROUTINE</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Le Défi 7 Jours : une seule action par jour</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Une seule action ultra-courte de 2 à 15 minutes par jour pour installer vos nouveaux réflexes.</a:t>
            </a:r>
          </a:p>
        </p:txBody>
      </p:sp>
      <p:graphicFrame>
        <p:nvGraphicFramePr>
          <p:cNvPr id="6" name="Table 5"/>
          <p:cNvGraphicFramePr>
            <a:graphicFrameLocks noGrp="1"/>
          </p:cNvGraphicFramePr>
          <p:nvPr/>
        </p:nvGraphicFramePr>
        <p:xfrm>
          <a:off x="731520" y="1463040"/>
          <a:ext cx="10728655" cy="3840480"/>
        </p:xfrm>
        <a:graphic>
          <a:graphicData uri="http://schemas.openxmlformats.org/drawingml/2006/table">
            <a:tbl>
              <a:tblPr firstRow="1" bandRow="1">
                <a:tableStyleId>{5C22544A-7EE6-4342-B048-85BDC9FD1C3A}</a:tableStyleId>
              </a:tblPr>
              <a:tblGrid>
                <a:gridCol w="2682163"/>
                <a:gridCol w="2682163"/>
                <a:gridCol w="2682163"/>
                <a:gridCol w="2682166"/>
              </a:tblGrid>
              <a:tr h="480060">
                <a:tc>
                  <a:txBody>
                    <a:bodyPr wrap="square"/>
                    <a:lstStyle/>
                    <a:p>
                      <a:pPr>
                        <a:defRPr sz="1000" b="1">
                          <a:solidFill>
                            <a:srgbClr val="D9A13B"/>
                          </a:solidFill>
                          <a:latin typeface="Arial"/>
                        </a:defRPr>
                      </a:pPr>
                      <a:r>
                        <a:t>Jour</a:t>
                      </a:r>
                    </a:p>
                  </a:txBody>
                  <a:tcPr>
                    <a:solidFill>
                      <a:srgbClr val="1B2740"/>
                    </a:solidFill>
                  </a:tcPr>
                </a:tc>
                <a:tc>
                  <a:txBody>
                    <a:bodyPr wrap="square"/>
                    <a:lstStyle/>
                    <a:p>
                      <a:pPr>
                        <a:defRPr sz="1000" b="1">
                          <a:solidFill>
                            <a:srgbClr val="D9A13B"/>
                          </a:solidFill>
                          <a:latin typeface="Arial"/>
                        </a:defRPr>
                      </a:pPr>
                      <a:r>
                        <a:t>Votre seule action du jour</a:t>
                      </a:r>
                    </a:p>
                  </a:txBody>
                  <a:tcPr>
                    <a:solidFill>
                      <a:srgbClr val="1B2740"/>
                    </a:solidFill>
                  </a:tcPr>
                </a:tc>
                <a:tc>
                  <a:txBody>
                    <a:bodyPr wrap="square"/>
                    <a:lstStyle/>
                    <a:p>
                      <a:pPr>
                        <a:defRPr sz="1000" b="1">
                          <a:solidFill>
                            <a:srgbClr val="D9A13B"/>
                          </a:solidFill>
                          <a:latin typeface="Arial"/>
                        </a:defRPr>
                      </a:pPr>
                      <a:r>
                        <a:t>Temps</a:t>
                      </a:r>
                    </a:p>
                  </a:txBody>
                  <a:tcPr>
                    <a:solidFill>
                      <a:srgbClr val="1B2740"/>
                    </a:solidFill>
                  </a:tcPr>
                </a:tc>
                <a:tc>
                  <a:txBody>
                    <a:bodyPr wrap="square"/>
                    <a:lstStyle/>
                    <a:p>
                      <a:pPr>
                        <a:defRPr sz="1000" b="1">
                          <a:solidFill>
                            <a:srgbClr val="D9A13B"/>
                          </a:solidFill>
                          <a:latin typeface="Arial"/>
                        </a:defRPr>
                      </a:pPr>
                      <a:r>
                        <a:t>Ce que vous avez appris</a:t>
                      </a:r>
                    </a:p>
                  </a:txBody>
                  <a:tcPr>
                    <a:solidFill>
                      <a:srgbClr val="1B2740"/>
                    </a:solidFill>
                  </a:tcPr>
                </a:tc>
              </a:tr>
              <a:tr h="480060">
                <a:tc>
                  <a:txBody>
                    <a:bodyPr wrap="square"/>
                    <a:lstStyle/>
                    <a:p>
                      <a:pPr>
                        <a:defRPr sz="950" b="1">
                          <a:solidFill>
                            <a:srgbClr val="2B3E63"/>
                          </a:solidFill>
                          <a:latin typeface="Arial"/>
                        </a:defRPr>
                      </a:pPr>
                      <a:r>
                        <a:t>JOUR 1</a:t>
                      </a:r>
                    </a:p>
                  </a:txBody>
                  <a:tcPr>
                    <a:solidFill>
                      <a:srgbClr val="FFFFFF"/>
                    </a:solidFill>
                  </a:tcPr>
                </a:tc>
                <a:tc>
                  <a:txBody>
                    <a:bodyPr wrap="square"/>
                    <a:lstStyle/>
                    <a:p>
                      <a:pPr>
                        <a:defRPr sz="950">
                          <a:solidFill>
                            <a:srgbClr val="1C1B19"/>
                          </a:solidFill>
                          <a:latin typeface="Arial"/>
                        </a:defRPr>
                      </a:pPr>
                      <a:r>
                        <a:t>Faites vos 4 photos de départ et remplissez votre fiche diagnostic.</a:t>
                      </a:r>
                    </a:p>
                  </a:txBody>
                  <a:tcPr>
                    <a:solidFill>
                      <a:srgbClr val="FFFFFF"/>
                    </a:solidFill>
                  </a:tcPr>
                </a:tc>
                <a:tc>
                  <a:txBody>
                    <a:bodyPr wrap="square"/>
                    <a:lstStyle/>
                    <a:p>
                      <a:pPr>
                        <a:defRPr sz="950">
                          <a:solidFill>
                            <a:srgbClr val="1C1B19"/>
                          </a:solidFill>
                          <a:latin typeface="Arial"/>
                        </a:defRPr>
                      </a:pPr>
                      <a:r>
                        <a:t>10 min</a:t>
                      </a:r>
                    </a:p>
                  </a:txBody>
                  <a:tcPr>
                    <a:solidFill>
                      <a:srgbClr val="FFFFFF"/>
                    </a:solidFill>
                  </a:tcPr>
                </a:tc>
                <a:tc>
                  <a:txBody>
                    <a:bodyPr wrap="square"/>
                    <a:lstStyle/>
                    <a:p>
                      <a:pPr>
                        <a:defRPr sz="950">
                          <a:solidFill>
                            <a:srgbClr val="1C1B19"/>
                          </a:solidFill>
                          <a:latin typeface="Arial"/>
                        </a:defRPr>
                      </a:pPr>
                      <a:r>
                        <a:t>Vous connaissez votre point de départ exact.</a:t>
                      </a:r>
                    </a:p>
                  </a:txBody>
                  <a:tcPr>
                    <a:solidFill>
                      <a:srgbClr val="FFFFFF"/>
                    </a:solidFill>
                  </a:tcPr>
                </a:tc>
              </a:tr>
              <a:tr h="480060">
                <a:tc>
                  <a:txBody>
                    <a:bodyPr wrap="square"/>
                    <a:lstStyle/>
                    <a:p>
                      <a:pPr>
                        <a:defRPr sz="950" b="1">
                          <a:solidFill>
                            <a:srgbClr val="2B3E63"/>
                          </a:solidFill>
                          <a:latin typeface="Arial"/>
                        </a:defRPr>
                      </a:pPr>
                      <a:r>
                        <a:t>JOUR 2</a:t>
                      </a:r>
                    </a:p>
                  </a:txBody>
                  <a:tcPr>
                    <a:solidFill>
                      <a:srgbClr val="F5EEE0"/>
                    </a:solidFill>
                  </a:tcPr>
                </a:tc>
                <a:tc>
                  <a:txBody>
                    <a:bodyPr wrap="square"/>
                    <a:lstStyle/>
                    <a:p>
                      <a:pPr>
                        <a:defRPr sz="950">
                          <a:solidFill>
                            <a:srgbClr val="1C1B19"/>
                          </a:solidFill>
                          <a:latin typeface="Arial"/>
                        </a:defRPr>
                      </a:pPr>
                      <a:r>
                        <a:t>Trempez 5 gombos coupés dans 1 verre d'eau au frigo pour la nuit.</a:t>
                      </a:r>
                    </a:p>
                  </a:txBody>
                  <a:tcPr>
                    <a:solidFill>
                      <a:srgbClr val="F5EEE0"/>
                    </a:solidFill>
                  </a:tcPr>
                </a:tc>
                <a:tc>
                  <a:txBody>
                    <a:bodyPr wrap="square"/>
                    <a:lstStyle/>
                    <a:p>
                      <a:pPr>
                        <a:defRPr sz="950">
                          <a:solidFill>
                            <a:srgbClr val="1C1B19"/>
                          </a:solidFill>
                          <a:latin typeface="Arial"/>
                        </a:defRPr>
                      </a:pPr>
                      <a:r>
                        <a:t>2 min</a:t>
                      </a:r>
                    </a:p>
                  </a:txBody>
                  <a:tcPr>
                    <a:solidFill>
                      <a:srgbClr val="F5EEE0"/>
                    </a:solidFill>
                  </a:tcPr>
                </a:tc>
                <a:tc>
                  <a:txBody>
                    <a:bodyPr wrap="square"/>
                    <a:lstStyle/>
                    <a:p>
                      <a:pPr>
                        <a:defRPr sz="950">
                          <a:solidFill>
                            <a:srgbClr val="1C1B19"/>
                          </a:solidFill>
                          <a:latin typeface="Arial"/>
                        </a:defRPr>
                      </a:pPr>
                      <a:r>
                        <a:t>Vous préparez votre premier soin maison.</a:t>
                      </a:r>
                    </a:p>
                  </a:txBody>
                  <a:tcPr>
                    <a:solidFill>
                      <a:srgbClr val="F5EEE0"/>
                    </a:solidFill>
                  </a:tcPr>
                </a:tc>
              </a:tr>
              <a:tr h="480060">
                <a:tc>
                  <a:txBody>
                    <a:bodyPr wrap="square"/>
                    <a:lstStyle/>
                    <a:p>
                      <a:pPr>
                        <a:defRPr sz="950" b="1">
                          <a:solidFill>
                            <a:srgbClr val="2B3E63"/>
                          </a:solidFill>
                          <a:latin typeface="Arial"/>
                        </a:defRPr>
                      </a:pPr>
                      <a:r>
                        <a:t>JOUR 3</a:t>
                      </a:r>
                    </a:p>
                  </a:txBody>
                  <a:tcPr>
                    <a:solidFill>
                      <a:srgbClr val="FFFFFF"/>
                    </a:solidFill>
                  </a:tcPr>
                </a:tc>
                <a:tc>
                  <a:txBody>
                    <a:bodyPr wrap="square"/>
                    <a:lstStyle/>
                    <a:p>
                      <a:pPr>
                        <a:defRPr sz="950">
                          <a:solidFill>
                            <a:srgbClr val="1C1B19"/>
                          </a:solidFill>
                          <a:latin typeface="Arial"/>
                        </a:defRPr>
                      </a:pPr>
                      <a:r>
                        <a:t>Premier masque hydratant : 1 c. s. miel + 1 c. s. huile d'olive + scellage karité.</a:t>
                      </a:r>
                    </a:p>
                  </a:txBody>
                  <a:tcPr>
                    <a:solidFill>
                      <a:srgbClr val="FFFFFF"/>
                    </a:solidFill>
                  </a:tcPr>
                </a:tc>
                <a:tc>
                  <a:txBody>
                    <a:bodyPr wrap="square"/>
                    <a:lstStyle/>
                    <a:p>
                      <a:pPr>
                        <a:defRPr sz="950">
                          <a:solidFill>
                            <a:srgbClr val="1C1B19"/>
                          </a:solidFill>
                          <a:latin typeface="Arial"/>
                        </a:defRPr>
                      </a:pPr>
                      <a:r>
                        <a:t>25 min</a:t>
                      </a:r>
                    </a:p>
                  </a:txBody>
                  <a:tcPr>
                    <a:solidFill>
                      <a:srgbClr val="FFFFFF"/>
                    </a:solidFill>
                  </a:tcPr>
                </a:tc>
                <a:tc>
                  <a:txBody>
                    <a:bodyPr wrap="square"/>
                    <a:lstStyle/>
                    <a:p>
                      <a:pPr>
                        <a:defRPr sz="950">
                          <a:solidFill>
                            <a:srgbClr val="1C1B19"/>
                          </a:solidFill>
                          <a:latin typeface="Arial"/>
                        </a:defRPr>
                      </a:pPr>
                      <a:r>
                        <a:t>Vos cheveux découvrent la vraie douceur.</a:t>
                      </a:r>
                    </a:p>
                  </a:txBody>
                  <a:tcPr>
                    <a:solidFill>
                      <a:srgbClr val="FFFFFF"/>
                    </a:solidFill>
                  </a:tcPr>
                </a:tc>
              </a:tr>
              <a:tr h="480060">
                <a:tc>
                  <a:txBody>
                    <a:bodyPr wrap="square"/>
                    <a:lstStyle/>
                    <a:p>
                      <a:pPr>
                        <a:defRPr sz="950" b="1">
                          <a:solidFill>
                            <a:srgbClr val="2B3E63"/>
                          </a:solidFill>
                          <a:latin typeface="Arial"/>
                        </a:defRPr>
                      </a:pPr>
                      <a:r>
                        <a:t>JOUR 4</a:t>
                      </a:r>
                    </a:p>
                  </a:txBody>
                  <a:tcPr>
                    <a:solidFill>
                      <a:srgbClr val="F5EEE0"/>
                    </a:solidFill>
                  </a:tcPr>
                </a:tc>
                <a:tc>
                  <a:txBody>
                    <a:bodyPr wrap="square"/>
                    <a:lstStyle/>
                    <a:p>
                      <a:pPr>
                        <a:defRPr sz="950">
                          <a:solidFill>
                            <a:srgbClr val="1C1B19"/>
                          </a:solidFill>
                          <a:latin typeface="Arial"/>
                        </a:defRPr>
                      </a:pPr>
                      <a:r>
                        <a:t>Premier automassage du crâne du bout des doigts à sec devant la télé.</a:t>
                      </a:r>
                    </a:p>
                  </a:txBody>
                  <a:tcPr>
                    <a:solidFill>
                      <a:srgbClr val="F5EEE0"/>
                    </a:solidFill>
                  </a:tcPr>
                </a:tc>
                <a:tc>
                  <a:txBody>
                    <a:bodyPr wrap="square"/>
                    <a:lstStyle/>
                    <a:p>
                      <a:pPr>
                        <a:defRPr sz="950">
                          <a:solidFill>
                            <a:srgbClr val="1C1B19"/>
                          </a:solidFill>
                          <a:latin typeface="Arial"/>
                        </a:defRPr>
                      </a:pPr>
                      <a:r>
                        <a:t>5 min</a:t>
                      </a:r>
                    </a:p>
                  </a:txBody>
                  <a:tcPr>
                    <a:solidFill>
                      <a:srgbClr val="F5EEE0"/>
                    </a:solidFill>
                  </a:tcPr>
                </a:tc>
                <a:tc>
                  <a:txBody>
                    <a:bodyPr wrap="square"/>
                    <a:lstStyle/>
                    <a:p>
                      <a:pPr>
                        <a:defRPr sz="950">
                          <a:solidFill>
                            <a:srgbClr val="1C1B19"/>
                          </a:solidFill>
                          <a:latin typeface="Arial"/>
                        </a:defRPr>
                      </a:pPr>
                      <a:r>
                        <a:t>Vous réveillez la circulation de vos racines.</a:t>
                      </a:r>
                    </a:p>
                  </a:txBody>
                  <a:tcPr>
                    <a:solidFill>
                      <a:srgbClr val="F5EEE0"/>
                    </a:solidFill>
                  </a:tcPr>
                </a:tc>
              </a:tr>
              <a:tr h="480060">
                <a:tc>
                  <a:txBody>
                    <a:bodyPr wrap="square"/>
                    <a:lstStyle/>
                    <a:p>
                      <a:pPr>
                        <a:defRPr sz="950" b="1">
                          <a:solidFill>
                            <a:srgbClr val="2B3E63"/>
                          </a:solidFill>
                          <a:latin typeface="Arial"/>
                        </a:defRPr>
                      </a:pPr>
                      <a:r>
                        <a:t>JOUR 5</a:t>
                      </a:r>
                    </a:p>
                  </a:txBody>
                  <a:tcPr>
                    <a:solidFill>
                      <a:srgbClr val="FFFFFF"/>
                    </a:solidFill>
                  </a:tcPr>
                </a:tc>
                <a:tc>
                  <a:txBody>
                    <a:bodyPr wrap="square"/>
                    <a:lstStyle/>
                    <a:p>
                      <a:pPr>
                        <a:defRPr sz="950">
                          <a:solidFill>
                            <a:srgbClr val="1C1B19"/>
                          </a:solidFill>
                          <a:latin typeface="Arial"/>
                        </a:defRPr>
                      </a:pPr>
                      <a:r>
                        <a:t>Pré-poo à l'huile de coco sur cheveux secs avant votre douche.</a:t>
                      </a:r>
                    </a:p>
                  </a:txBody>
                  <a:tcPr>
                    <a:solidFill>
                      <a:srgbClr val="FFFFFF"/>
                    </a:solidFill>
                  </a:tcPr>
                </a:tc>
                <a:tc>
                  <a:txBody>
                    <a:bodyPr wrap="square"/>
                    <a:lstStyle/>
                    <a:p>
                      <a:pPr>
                        <a:defRPr sz="950">
                          <a:solidFill>
                            <a:srgbClr val="1C1B19"/>
                          </a:solidFill>
                          <a:latin typeface="Arial"/>
                        </a:defRPr>
                      </a:pPr>
                      <a:r>
                        <a:t>30 min</a:t>
                      </a:r>
                    </a:p>
                  </a:txBody>
                  <a:tcPr>
                    <a:solidFill>
                      <a:srgbClr val="FFFFFF"/>
                    </a:solidFill>
                  </a:tcPr>
                </a:tc>
                <a:tc>
                  <a:txBody>
                    <a:bodyPr wrap="square"/>
                    <a:lstStyle/>
                    <a:p>
                      <a:pPr>
                        <a:defRPr sz="950">
                          <a:solidFill>
                            <a:srgbClr val="1C1B19"/>
                          </a:solidFill>
                          <a:latin typeface="Arial"/>
                        </a:defRPr>
                      </a:pPr>
                      <a:r>
                        <a:t>Vous protégez vos protéines au lavage.</a:t>
                      </a:r>
                    </a:p>
                  </a:txBody>
                  <a:tcPr>
                    <a:solidFill>
                      <a:srgbClr val="FFFFFF"/>
                    </a:solidFill>
                  </a:tcPr>
                </a:tc>
              </a:tr>
              <a:tr h="480060">
                <a:tc>
                  <a:txBody>
                    <a:bodyPr wrap="square"/>
                    <a:lstStyle/>
                    <a:p>
                      <a:pPr>
                        <a:defRPr sz="950" b="1">
                          <a:solidFill>
                            <a:srgbClr val="2B3E63"/>
                          </a:solidFill>
                          <a:latin typeface="Arial"/>
                        </a:defRPr>
                      </a:pPr>
                      <a:r>
                        <a:t>JOUR 6</a:t>
                      </a:r>
                    </a:p>
                  </a:txBody>
                  <a:tcPr>
                    <a:solidFill>
                      <a:srgbClr val="F5EEE0"/>
                    </a:solidFill>
                  </a:tcPr>
                </a:tc>
                <a:tc>
                  <a:txBody>
                    <a:bodyPr wrap="square"/>
                    <a:lstStyle/>
                    <a:p>
                      <a:pPr>
                        <a:defRPr sz="950">
                          <a:solidFill>
                            <a:srgbClr val="1C1B19"/>
                          </a:solidFill>
                          <a:latin typeface="Arial"/>
                        </a:defRPr>
                      </a:pPr>
                      <a:r>
                        <a:t>Lavage au savon noir dilué + rinçage acide au vinaigre de cidre.</a:t>
                      </a:r>
                    </a:p>
                  </a:txBody>
                  <a:tcPr>
                    <a:solidFill>
                      <a:srgbClr val="F5EEE0"/>
                    </a:solidFill>
                  </a:tcPr>
                </a:tc>
                <a:tc>
                  <a:txBody>
                    <a:bodyPr wrap="square"/>
                    <a:lstStyle/>
                    <a:p>
                      <a:pPr>
                        <a:defRPr sz="950">
                          <a:solidFill>
                            <a:srgbClr val="1C1B19"/>
                          </a:solidFill>
                          <a:latin typeface="Arial"/>
                        </a:defRPr>
                      </a:pPr>
                      <a:r>
                        <a:t>15 min</a:t>
                      </a:r>
                    </a:p>
                  </a:txBody>
                  <a:tcPr>
                    <a:solidFill>
                      <a:srgbClr val="F5EEE0"/>
                    </a:solidFill>
                  </a:tcPr>
                </a:tc>
                <a:tc>
                  <a:txBody>
                    <a:bodyPr wrap="square"/>
                    <a:lstStyle/>
                    <a:p>
                      <a:pPr>
                        <a:defRPr sz="950">
                          <a:solidFill>
                            <a:srgbClr val="1C1B19"/>
                          </a:solidFill>
                          <a:latin typeface="Arial"/>
                        </a:defRPr>
                      </a:pPr>
                      <a:r>
                        <a:t>Vos écailles sont hermétiquement fermées.</a:t>
                      </a:r>
                    </a:p>
                  </a:txBody>
                  <a:tcPr>
                    <a:solidFill>
                      <a:srgbClr val="F5EEE0"/>
                    </a:solidFill>
                  </a:tcPr>
                </a:tc>
              </a:tr>
              <a:tr h="480060">
                <a:tc>
                  <a:txBody>
                    <a:bodyPr wrap="square"/>
                    <a:lstStyle/>
                    <a:p>
                      <a:pPr>
                        <a:defRPr sz="950" b="1">
                          <a:solidFill>
                            <a:srgbClr val="2B3E63"/>
                          </a:solidFill>
                          <a:latin typeface="Arial"/>
                        </a:defRPr>
                      </a:pPr>
                      <a:r>
                        <a:t>JOUR 7</a:t>
                      </a:r>
                    </a:p>
                  </a:txBody>
                  <a:tcPr>
                    <a:solidFill>
                      <a:srgbClr val="FFFFFF"/>
                    </a:solidFill>
                  </a:tcPr>
                </a:tc>
                <a:tc>
                  <a:txBody>
                    <a:bodyPr wrap="square"/>
                    <a:lstStyle/>
                    <a:p>
                      <a:pPr>
                        <a:defRPr sz="950">
                          <a:solidFill>
                            <a:srgbClr val="1C1B19"/>
                          </a:solidFill>
                          <a:latin typeface="Arial"/>
                        </a:defRPr>
                      </a:pPr>
                      <a:r>
                        <a:t>Deux vanilles lâches et dodo avec un foulard en satin ou coton lisse.</a:t>
                      </a:r>
                    </a:p>
                  </a:txBody>
                  <a:tcPr>
                    <a:solidFill>
                      <a:srgbClr val="FFFFFF"/>
                    </a:solidFill>
                  </a:tcPr>
                </a:tc>
                <a:tc>
                  <a:txBody>
                    <a:bodyPr wrap="square"/>
                    <a:lstStyle/>
                    <a:p>
                      <a:pPr>
                        <a:defRPr sz="950">
                          <a:solidFill>
                            <a:srgbClr val="1C1B19"/>
                          </a:solidFill>
                          <a:latin typeface="Arial"/>
                        </a:defRPr>
                      </a:pPr>
                      <a:r>
                        <a:t>5 min</a:t>
                      </a:r>
                    </a:p>
                  </a:txBody>
                  <a:tcPr>
                    <a:solidFill>
                      <a:srgbClr val="FFFFFF"/>
                    </a:solidFill>
                  </a:tcPr>
                </a:tc>
                <a:tc>
                  <a:txBody>
                    <a:bodyPr wrap="square"/>
                    <a:lstStyle/>
                    <a:p>
                      <a:pPr>
                        <a:defRPr sz="950">
                          <a:solidFill>
                            <a:srgbClr val="1C1B19"/>
                          </a:solidFill>
                          <a:latin typeface="Arial"/>
                        </a:defRPr>
                      </a:pPr>
                      <a:r>
                        <a:t>Vous protégez votre chevelure pour la nuit.</a:t>
                      </a:r>
                    </a:p>
                  </a:txBody>
                  <a:tcPr>
                    <a:solidFill>
                      <a:srgbClr val="FFFFFF"/>
                    </a:solidFill>
                  </a:tcPr>
                </a:tc>
              </a:tr>
            </a:tbl>
          </a:graphicData>
        </a:graphic>
      </p:graphicFrame>
      <p:sp>
        <p:nvSpPr>
          <p:cNvPr id="7" name="Rounded Rectangle 6"/>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Après cette seule semaine, vous aurez maîtrisé 70 % de tout ce que ce livre enseigne. Le reste n'est que répétition !</a:t>
            </a:r>
          </a:p>
        </p:txBody>
      </p:sp>
      <p:sp>
        <p:nvSpPr>
          <p:cNvPr id="9" name="Rectangle 8"/>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1" name="TextBox 10"/>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57 / 75</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KIT ANTI-PARESSE · LE TABLEAU DE BORD MENSUEL</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Le Plan 30 Jours : la régularité sans pression</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Quatre semaines limpides avec une seule consigne par jour et des cases à cocher.</a:t>
            </a:r>
          </a:p>
        </p:txBody>
      </p:sp>
      <p:sp>
        <p:nvSpPr>
          <p:cNvPr id="6" name="Rounded Rectangle 5"/>
          <p:cNvSpPr/>
          <p:nvPr/>
        </p:nvSpPr>
        <p:spPr>
          <a:xfrm>
            <a:off x="73152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4892040" cy="45720"/>
          </a:xfrm>
          <a:prstGeom prst="rect">
            <a:avLst/>
          </a:prstGeom>
          <a:solidFill>
            <a:srgbClr val="2B3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09160" cy="3566160"/>
          </a:xfrm>
          <a:prstGeom prst="rect">
            <a:avLst/>
          </a:prstGeom>
          <a:noFill/>
        </p:spPr>
        <p:txBody>
          <a:bodyPr wrap="square" lIns="0" tIns="0" rIns="0" bIns="0">
            <a:spAutoFit/>
          </a:bodyPr>
          <a:lstStyle/>
          <a:p>
            <a:pPr>
              <a:spcAft>
                <a:spcPts val="800"/>
              </a:spcAft>
              <a:defRPr sz="1450" b="1">
                <a:solidFill>
                  <a:srgbClr val="2B3E63"/>
                </a:solidFill>
                <a:latin typeface="Georgia"/>
              </a:defRPr>
            </a:pPr>
            <a:r>
              <a:t>La légende des 4 codes simples</a:t>
            </a:r>
          </a:p>
          <a:p>
            <a:pPr>
              <a:spcAft>
                <a:spcPts val="400"/>
              </a:spcAft>
              <a:defRPr sz="1100" b="1">
                <a:solidFill>
                  <a:srgbClr val="2B3E63"/>
                </a:solidFill>
                <a:latin typeface="Arial"/>
              </a:defRPr>
            </a:pPr>
            <a:r>
              <a:t>H = Hydratation express (2 min) : </a:t>
            </a:r>
            <a:r>
              <a:rPr sz="1100" b="0">
                <a:solidFill>
                  <a:srgbClr val="1C1B19"/>
                </a:solidFill>
                <a:latin typeface="Arial"/>
              </a:rPr>
              <a:t>Un nuage d'eau en spray ou aloé vera sur les pointes + 1 noisette de karité scellante.</a:t>
            </a:r>
          </a:p>
          <a:p>
            <a:pPr>
              <a:spcAft>
                <a:spcPts val="400"/>
              </a:spcAft>
              <a:defRPr sz="1100" b="1">
                <a:solidFill>
                  <a:srgbClr val="2B3E63"/>
                </a:solidFill>
                <a:latin typeface="Arial"/>
              </a:defRPr>
            </a:pPr>
            <a:r>
              <a:t>M = Massage crânien (5 min) : </a:t>
            </a:r>
            <a:r>
              <a:rPr sz="1100" b="0">
                <a:solidFill>
                  <a:srgbClr val="1C1B19"/>
                </a:solidFill>
                <a:latin typeface="Arial"/>
              </a:rPr>
              <a:t>Mouvement circulaire des doigts sur le cuir chevelu pour stimuler l'afflux sanguin.</a:t>
            </a:r>
          </a:p>
          <a:p>
            <a:pPr>
              <a:spcAft>
                <a:spcPts val="400"/>
              </a:spcAft>
              <a:defRPr sz="1100" b="1">
                <a:solidFill>
                  <a:srgbClr val="2B3E63"/>
                </a:solidFill>
                <a:latin typeface="Arial"/>
              </a:defRPr>
            </a:pPr>
            <a:r>
              <a:t>L = Lavage complet (20 min) : </a:t>
            </a:r>
            <a:r>
              <a:rPr sz="1100" b="0">
                <a:solidFill>
                  <a:srgbClr val="1C1B19"/>
                </a:solidFill>
                <a:latin typeface="Arial"/>
              </a:rPr>
              <a:t>Savon noir dilué + masque hydratant + rinçage acide au vinaigre de cidre.</a:t>
            </a:r>
          </a:p>
          <a:p>
            <a:pPr>
              <a:spcAft>
                <a:spcPts val="400"/>
              </a:spcAft>
              <a:defRPr sz="1100" b="1">
                <a:solidFill>
                  <a:srgbClr val="2B3E63"/>
                </a:solidFill>
                <a:latin typeface="Arial"/>
              </a:defRPr>
            </a:pPr>
            <a:r>
              <a:t>S = Soin profond réparateur (35 min) : </a:t>
            </a:r>
            <a:r>
              <a:rPr sz="1100" b="0">
                <a:solidFill>
                  <a:srgbClr val="1C1B19"/>
                </a:solidFill>
                <a:latin typeface="Arial"/>
              </a:rPr>
              <a:t>Au jour 15 (masque miel/olive) et au jour 28 (soin protéiné à l'œuf).</a:t>
            </a:r>
          </a:p>
        </p:txBody>
      </p:sp>
      <p:sp>
        <p:nvSpPr>
          <p:cNvPr id="9" name="Rounded Rectangle 8"/>
          <p:cNvSpPr/>
          <p:nvPr/>
        </p:nvSpPr>
        <p:spPr>
          <a:xfrm>
            <a:off x="626364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481328"/>
            <a:ext cx="4892040" cy="45720"/>
          </a:xfrm>
          <a:prstGeom prst="rect">
            <a:avLst/>
          </a:prstGeom>
          <a:solidFill>
            <a:srgbClr val="556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45920"/>
            <a:ext cx="4709160" cy="3566160"/>
          </a:xfrm>
          <a:prstGeom prst="rect">
            <a:avLst/>
          </a:prstGeom>
          <a:noFill/>
        </p:spPr>
        <p:txBody>
          <a:bodyPr wrap="square" lIns="0" tIns="0" rIns="0" bIns="0">
            <a:spAutoFit/>
          </a:bodyPr>
          <a:lstStyle/>
          <a:p>
            <a:pPr>
              <a:spcAft>
                <a:spcPts val="800"/>
              </a:spcAft>
              <a:defRPr sz="1450" b="1">
                <a:solidFill>
                  <a:srgbClr val="55663A"/>
                </a:solidFill>
                <a:latin typeface="Georgia"/>
              </a:defRPr>
            </a:pPr>
            <a:r>
              <a:t>La matrice des 30 jours à cocher</a:t>
            </a:r>
          </a:p>
          <a:p>
            <a:pPr>
              <a:spcAft>
                <a:spcPts val="400"/>
              </a:spcAft>
              <a:defRPr sz="1100" b="1">
                <a:solidFill>
                  <a:srgbClr val="55663A"/>
                </a:solidFill>
                <a:latin typeface="Arial"/>
              </a:defRPr>
            </a:pPr>
            <a:r>
              <a:t>Semaine 1 (J1 à J7) : </a:t>
            </a:r>
            <a:r>
              <a:rPr sz="1100" b="0">
                <a:solidFill>
                  <a:srgbClr val="1C1B19"/>
                </a:solidFill>
                <a:latin typeface="Arial"/>
              </a:rPr>
              <a:t>J1:H  ·  J2:M  ·  J3:L  ·  J4:H  ·  J5:M  ·  J6:Repos  ·  J7:H</a:t>
            </a:r>
          </a:p>
          <a:p>
            <a:pPr>
              <a:spcAft>
                <a:spcPts val="400"/>
              </a:spcAft>
              <a:defRPr sz="1100" b="1">
                <a:solidFill>
                  <a:srgbClr val="55663A"/>
                </a:solidFill>
                <a:latin typeface="Arial"/>
              </a:defRPr>
            </a:pPr>
            <a:r>
              <a:t>Semaine 2 (J8 à J14) : </a:t>
            </a:r>
            <a:r>
              <a:rPr sz="1100" b="0">
                <a:solidFill>
                  <a:srgbClr val="1C1B19"/>
                </a:solidFill>
                <a:latin typeface="Arial"/>
              </a:rPr>
              <a:t>J8:M  ·  J9:H  ·  J10:L  ·  J11:H  ·  J12:M  ·  J13:Repos  ·  J14:H</a:t>
            </a:r>
          </a:p>
          <a:p>
            <a:pPr>
              <a:spcAft>
                <a:spcPts val="400"/>
              </a:spcAft>
              <a:defRPr sz="1100" b="1">
                <a:solidFill>
                  <a:srgbClr val="55663A"/>
                </a:solidFill>
                <a:latin typeface="Arial"/>
              </a:defRPr>
            </a:pPr>
            <a:r>
              <a:t>Semaine 3 (J15 à J21) : </a:t>
            </a:r>
            <a:r>
              <a:rPr sz="1100" b="0">
                <a:solidFill>
                  <a:srgbClr val="1C1B19"/>
                </a:solidFill>
                <a:latin typeface="Arial"/>
              </a:rPr>
              <a:t>J15:Soin profond  ·  J16:H  ·  J17:M  ·  J18:L  ·  J19:H  ·  J20:M  ·  J21:H</a:t>
            </a:r>
          </a:p>
          <a:p>
            <a:pPr>
              <a:spcAft>
                <a:spcPts val="400"/>
              </a:spcAft>
              <a:defRPr sz="1100" b="1">
                <a:solidFill>
                  <a:srgbClr val="55663A"/>
                </a:solidFill>
                <a:latin typeface="Arial"/>
              </a:defRPr>
            </a:pPr>
            <a:r>
              <a:t>Semaine 4 (J22 à J30) : </a:t>
            </a:r>
            <a:r>
              <a:rPr sz="1100" b="0">
                <a:solidFill>
                  <a:srgbClr val="1C1B19"/>
                </a:solidFill>
                <a:latin typeface="Arial"/>
              </a:rPr>
              <a:t>J22:M  ·  J23:H  ·  J24:L  ·  J25:H  ·  J26:M  ·  J27:H  ·  J28:Soin œuf  ·  J29:H  ·  J30:Photos progrès !</a:t>
            </a:r>
          </a:p>
          <a:p>
            <a:pPr>
              <a:spcAft>
                <a:spcPts val="400"/>
              </a:spcAft>
              <a:defRPr sz="1100" b="1">
                <a:solidFill>
                  <a:srgbClr val="55663A"/>
                </a:solidFill>
                <a:latin typeface="Arial"/>
              </a:defRPr>
            </a:pPr>
            <a:r>
              <a:t>La règle de bienveillance : </a:t>
            </a:r>
            <a:r>
              <a:rPr sz="1100" b="0">
                <a:solidFill>
                  <a:srgbClr val="1C1B19"/>
                </a:solidFill>
                <a:latin typeface="Arial"/>
              </a:rPr>
              <a:t>Si vous sautez un jour, ne culpabilisez pas ! Reprenez simplement au jour suivant. Réaliser 20 jours sur 30 transforme déjà vos cheveux.</a:t>
            </a:r>
          </a:p>
        </p:txBody>
      </p:sp>
      <p:sp>
        <p:nvSpPr>
          <p:cNvPr id="12" name="Rounded Rectangle 11"/>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Imprimez cette page et collez-la sur la porte de votre armoire. Cocher une case procure une vraie satisfaction.</a:t>
            </a:r>
          </a:p>
        </p:txBody>
      </p:sp>
      <p:sp>
        <p:nvSpPr>
          <p:cNvPr id="14" name="Rectangle 13"/>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6" name="TextBox 15"/>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58 / 75</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KIT ANTI-PARESSE · ROUTINES DE SECOURS</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Les 3 routines minimales quand vous n'avez pas le temps</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Parce que la vie réelle n'est pas un tutoriel parfait : le protocole d'urgence.</a:t>
            </a:r>
          </a:p>
        </p:txBody>
      </p:sp>
      <p:sp>
        <p:nvSpPr>
          <p:cNvPr id="6" name="Rounded Rectangle 5"/>
          <p:cNvSpPr/>
          <p:nvPr/>
        </p:nvSpPr>
        <p:spPr>
          <a:xfrm>
            <a:off x="731520" y="1463040"/>
            <a:ext cx="33375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3063240" cy="45720"/>
          </a:xfrm>
          <a:prstGeom prst="rect">
            <a:avLst/>
          </a:prstGeom>
          <a:solidFill>
            <a:srgbClr val="A85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2971800" cy="3566160"/>
          </a:xfrm>
          <a:prstGeom prst="rect">
            <a:avLst/>
          </a:prstGeom>
          <a:noFill/>
        </p:spPr>
        <p:txBody>
          <a:bodyPr wrap="square" lIns="0" tIns="0" rIns="0" bIns="0">
            <a:spAutoFit/>
          </a:bodyPr>
          <a:lstStyle/>
          <a:p>
            <a:pPr>
              <a:spcAft>
                <a:spcPts val="800"/>
              </a:spcAft>
              <a:defRPr sz="1450" b="1">
                <a:solidFill>
                  <a:srgbClr val="A85236"/>
                </a:solidFill>
                <a:latin typeface="Georgia"/>
              </a:defRPr>
            </a:pPr>
            <a:r>
              <a:t>Routine 2 Minutes (« Épuisée »)</a:t>
            </a:r>
          </a:p>
          <a:p>
            <a:pPr>
              <a:spcAft>
                <a:spcPts val="400"/>
              </a:spcAft>
              <a:defRPr sz="1100">
                <a:solidFill>
                  <a:srgbClr val="1C1B19"/>
                </a:solidFill>
                <a:latin typeface="Arial"/>
              </a:defRPr>
            </a:pPr>
            <a:r>
              <a:t>• Situation : Vous rentrez tard du travail, épuisée, vous voulez juste dormir.</a:t>
            </a:r>
          </a:p>
          <a:p>
            <a:pPr>
              <a:spcAft>
                <a:spcPts val="400"/>
              </a:spcAft>
              <a:defRPr sz="1100">
                <a:solidFill>
                  <a:srgbClr val="1C1B19"/>
                </a:solidFill>
                <a:latin typeface="Arial"/>
              </a:defRPr>
            </a:pPr>
            <a:r>
              <a:t>• Geste 1 (30 sec) : Mouillez vos mains sous le robinet et passez-les sur vos pointes.</a:t>
            </a:r>
          </a:p>
          <a:p>
            <a:pPr>
              <a:spcAft>
                <a:spcPts val="400"/>
              </a:spcAft>
              <a:defRPr sz="1100">
                <a:solidFill>
                  <a:srgbClr val="1C1B19"/>
                </a:solidFill>
                <a:latin typeface="Arial"/>
              </a:defRPr>
            </a:pPr>
            <a:r>
              <a:t>• Geste 2 (30 sec) : Frottez 1 noisette de karité entre vos paumes et lissez les longueurs.</a:t>
            </a:r>
          </a:p>
          <a:p>
            <a:pPr>
              <a:spcAft>
                <a:spcPts val="400"/>
              </a:spcAft>
              <a:defRPr sz="1100">
                <a:solidFill>
                  <a:srgbClr val="1C1B19"/>
                </a:solidFill>
                <a:latin typeface="Arial"/>
              </a:defRPr>
            </a:pPr>
            <a:r>
              <a:t>• Geste 3 (1 min) : Attachez en ananas lâche et posez votre bonnet en satin.</a:t>
            </a:r>
          </a:p>
        </p:txBody>
      </p:sp>
      <p:sp>
        <p:nvSpPr>
          <p:cNvPr id="9" name="Rounded Rectangle 8"/>
          <p:cNvSpPr/>
          <p:nvPr/>
        </p:nvSpPr>
        <p:spPr>
          <a:xfrm>
            <a:off x="4425696" y="1463040"/>
            <a:ext cx="33375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62856" y="1481328"/>
            <a:ext cx="3063240" cy="45720"/>
          </a:xfrm>
          <a:prstGeom prst="rect">
            <a:avLst/>
          </a:prstGeom>
          <a:solidFill>
            <a:srgbClr val="B88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08576" y="1645920"/>
            <a:ext cx="2971800" cy="3566160"/>
          </a:xfrm>
          <a:prstGeom prst="rect">
            <a:avLst/>
          </a:prstGeom>
          <a:noFill/>
        </p:spPr>
        <p:txBody>
          <a:bodyPr wrap="square" lIns="0" tIns="0" rIns="0" bIns="0">
            <a:spAutoFit/>
          </a:bodyPr>
          <a:lstStyle/>
          <a:p>
            <a:pPr>
              <a:spcAft>
                <a:spcPts val="800"/>
              </a:spcAft>
              <a:defRPr sz="1450" b="1">
                <a:solidFill>
                  <a:srgbClr val="B8862B"/>
                </a:solidFill>
                <a:latin typeface="Georgia"/>
              </a:defRPr>
            </a:pPr>
            <a:r>
              <a:t>Routine 15 Minutes (« Matin pressé »)</a:t>
            </a:r>
          </a:p>
          <a:p>
            <a:pPr>
              <a:spcAft>
                <a:spcPts val="400"/>
              </a:spcAft>
              <a:defRPr sz="1100">
                <a:solidFill>
                  <a:srgbClr val="1C1B19"/>
                </a:solidFill>
                <a:latin typeface="Arial"/>
              </a:defRPr>
            </a:pPr>
            <a:r>
              <a:t>• Situation : Les enfants à préparer, rendez-vous à 8h à Cotonou.</a:t>
            </a:r>
          </a:p>
          <a:p>
            <a:pPr>
              <a:spcAft>
                <a:spcPts val="400"/>
              </a:spcAft>
              <a:defRPr sz="1100">
                <a:solidFill>
                  <a:srgbClr val="1C1B19"/>
                </a:solidFill>
                <a:latin typeface="Arial"/>
              </a:defRPr>
            </a:pPr>
            <a:r>
              <a:t>• Geste 1 (3 min) : Vaporisez le spray aloé + huile sur toute la chevelure.</a:t>
            </a:r>
          </a:p>
          <a:p>
            <a:pPr>
              <a:spcAft>
                <a:spcPts val="400"/>
              </a:spcAft>
              <a:defRPr sz="1100">
                <a:solidFill>
                  <a:srgbClr val="1C1B19"/>
                </a:solidFill>
                <a:latin typeface="Arial"/>
              </a:defRPr>
            </a:pPr>
            <a:r>
              <a:t>• Geste 2 (5 min) : Démêlez grossièrement aux doigts sans peigne.</a:t>
            </a:r>
          </a:p>
          <a:p>
            <a:pPr>
              <a:spcAft>
                <a:spcPts val="400"/>
              </a:spcAft>
              <a:defRPr sz="1100">
                <a:solidFill>
                  <a:srgbClr val="1C1B19"/>
                </a:solidFill>
                <a:latin typeface="Arial"/>
              </a:defRPr>
            </a:pPr>
            <a:r>
              <a:t>• Geste 3 (7 min) : Réalisez 2 belles tresses plaquées ou nouez un joli foulard en wax coloré.</a:t>
            </a:r>
          </a:p>
        </p:txBody>
      </p:sp>
      <p:sp>
        <p:nvSpPr>
          <p:cNvPr id="12" name="Rounded Rectangle 11"/>
          <p:cNvSpPr/>
          <p:nvPr/>
        </p:nvSpPr>
        <p:spPr>
          <a:xfrm>
            <a:off x="8119872" y="1463040"/>
            <a:ext cx="33375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57032" y="1481328"/>
            <a:ext cx="3063240" cy="45720"/>
          </a:xfrm>
          <a:prstGeom prst="rect">
            <a:avLst/>
          </a:prstGeom>
          <a:solidFill>
            <a:srgbClr val="2B3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2752" y="1645920"/>
            <a:ext cx="2971800" cy="3566160"/>
          </a:xfrm>
          <a:prstGeom prst="rect">
            <a:avLst/>
          </a:prstGeom>
          <a:noFill/>
        </p:spPr>
        <p:txBody>
          <a:bodyPr wrap="square" lIns="0" tIns="0" rIns="0" bIns="0">
            <a:spAutoFit/>
          </a:bodyPr>
          <a:lstStyle/>
          <a:p>
            <a:pPr>
              <a:spcAft>
                <a:spcPts val="800"/>
              </a:spcAft>
              <a:defRPr sz="1450" b="1">
                <a:solidFill>
                  <a:srgbClr val="2B3E63"/>
                </a:solidFill>
                <a:latin typeface="Georgia"/>
              </a:defRPr>
            </a:pPr>
            <a:r>
              <a:t>Routine Lendemain de Dépose</a:t>
            </a:r>
          </a:p>
          <a:p>
            <a:pPr>
              <a:spcAft>
                <a:spcPts val="400"/>
              </a:spcAft>
              <a:defRPr sz="1100">
                <a:solidFill>
                  <a:srgbClr val="1C1B19"/>
                </a:solidFill>
                <a:latin typeface="Arial"/>
              </a:defRPr>
            </a:pPr>
            <a:r>
              <a:t>• Situation : Vous venez de retirer vos tresses après 6 semaines.</a:t>
            </a:r>
          </a:p>
          <a:p>
            <a:pPr>
              <a:spcAft>
                <a:spcPts val="400"/>
              </a:spcAft>
              <a:defRPr sz="1100">
                <a:solidFill>
                  <a:srgbClr val="1C1B19"/>
                </a:solidFill>
                <a:latin typeface="Arial"/>
              </a:defRPr>
            </a:pPr>
            <a:r>
              <a:t>• Règle d'or : AUCUNE TENSION PENDANT 72 HEURES !</a:t>
            </a:r>
          </a:p>
          <a:p>
            <a:pPr>
              <a:spcAft>
                <a:spcPts val="400"/>
              </a:spcAft>
              <a:defRPr sz="1100">
                <a:solidFill>
                  <a:srgbClr val="1C1B19"/>
                </a:solidFill>
                <a:latin typeface="Arial"/>
              </a:defRPr>
            </a:pPr>
            <a:r>
              <a:t>• Soin : Démêlez au gel de gombo sans tirer, faites un masque tiède miel + olive, rincez au vinaigre.</a:t>
            </a:r>
          </a:p>
          <a:p>
            <a:pPr>
              <a:spcAft>
                <a:spcPts val="400"/>
              </a:spcAft>
              <a:defRPr sz="1100">
                <a:solidFill>
                  <a:srgbClr val="1C1B19"/>
                </a:solidFill>
                <a:latin typeface="Arial"/>
              </a:defRPr>
            </a:pPr>
            <a:r>
              <a:t>• Coiffure : Laissez vos cheveux totalement libres en afro doux ou foulard flottant.</a:t>
            </a:r>
          </a:p>
        </p:txBody>
      </p:sp>
      <p:sp>
        <p:nvSpPr>
          <p:cNvPr id="15" name="Rounded Rectangle 14"/>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Même 2 minutes de soin valent infiniment mieux qu'une nuit passée à frotter des cheveux secs sur un oreiller en coton.</a:t>
            </a:r>
          </a:p>
        </p:txBody>
      </p:sp>
      <p:sp>
        <p:nvSpPr>
          <p:cNvPr id="17" name="Rectangle 16"/>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9" name="TextBox 18"/>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59 / 75</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KIT ANTI-PARESSE · LES FONDAMENTAUX ABSOLUS</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Le Filet de Sécurité &amp; Les 5 Règles d'Or à afficher</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Si vous devez tout oublier de ce livre, gardez précieusement cette seule planche.</a:t>
            </a:r>
          </a:p>
        </p:txBody>
      </p:sp>
      <p:sp>
        <p:nvSpPr>
          <p:cNvPr id="6" name="Rounded Rectangle 5"/>
          <p:cNvSpPr/>
          <p:nvPr/>
        </p:nvSpPr>
        <p:spPr>
          <a:xfrm>
            <a:off x="73152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4892040" cy="45720"/>
          </a:xfrm>
          <a:prstGeom prst="rect">
            <a:avLst/>
          </a:prstGeom>
          <a:solidFill>
            <a:srgbClr val="B88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09160" cy="3566160"/>
          </a:xfrm>
          <a:prstGeom prst="rect">
            <a:avLst/>
          </a:prstGeom>
          <a:noFill/>
        </p:spPr>
        <p:txBody>
          <a:bodyPr wrap="square" lIns="0" tIns="0" rIns="0" bIns="0">
            <a:spAutoFit/>
          </a:bodyPr>
          <a:lstStyle/>
          <a:p>
            <a:pPr>
              <a:spcAft>
                <a:spcPts val="800"/>
              </a:spcAft>
              <a:defRPr sz="1450" b="1">
                <a:solidFill>
                  <a:srgbClr val="B8862B"/>
                </a:solidFill>
                <a:latin typeface="Georgia"/>
              </a:defRPr>
            </a:pPr>
            <a:r>
              <a:t>Le Filet de Sécurité absolu</a:t>
            </a:r>
          </a:p>
          <a:p>
            <a:pPr>
              <a:spcAft>
                <a:spcPts val="400"/>
              </a:spcAft>
              <a:defRPr sz="1100" b="1">
                <a:solidFill>
                  <a:srgbClr val="B8862B"/>
                </a:solidFill>
                <a:latin typeface="Arial"/>
              </a:defRPr>
            </a:pPr>
            <a:r>
              <a:t>SI VOUS NE POUVEZ FAIRE QU'UNE SEULE CHOSE CE MOIS-CI : </a:t>
            </a:r>
            <a:r>
              <a:rPr sz="1100" b="0">
                <a:solidFill>
                  <a:srgbClr val="1C1B19"/>
                </a:solidFill>
                <a:latin typeface="Arial"/>
              </a:rPr>
              <a:t>Faites ces deux gestes combinés :
1. Un pré-poo à l'huile de coco (1 cuillère à soupe) 30 minutes avant chaque lavage.
2. Dormir chaque nuit avec un foulard ou un bonnet en satin.</a:t>
            </a:r>
          </a:p>
          <a:p>
            <a:pPr>
              <a:spcAft>
                <a:spcPts val="400"/>
              </a:spcAft>
              <a:defRPr sz="1100" b="1">
                <a:solidFill>
                  <a:srgbClr val="B8862B"/>
                </a:solidFill>
                <a:latin typeface="Arial"/>
              </a:defRPr>
            </a:pPr>
            <a:r>
              <a:t>Pourquoi ce duo est imbattable : </a:t>
            </a:r>
            <a:r>
              <a:rPr sz="1100" b="0">
                <a:solidFill>
                  <a:srgbClr val="1C1B19"/>
                </a:solidFill>
                <a:latin typeface="Arial"/>
              </a:rPr>
              <a:t>Ces deux gestes ne demandent aucun effort supplémentaire et zéro franc de plus si vous avez déjà un flacon de coco et un foulard. Ils éliminent à eux seuls 80 % de la casse mécanique et chimique !</a:t>
            </a:r>
          </a:p>
        </p:txBody>
      </p:sp>
      <p:sp>
        <p:nvSpPr>
          <p:cNvPr id="9" name="Rounded Rectangle 8"/>
          <p:cNvSpPr/>
          <p:nvPr/>
        </p:nvSpPr>
        <p:spPr>
          <a:xfrm>
            <a:off x="626364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481328"/>
            <a:ext cx="4892040" cy="45720"/>
          </a:xfrm>
          <a:prstGeom prst="rect">
            <a:avLst/>
          </a:prstGeom>
          <a:solidFill>
            <a:srgbClr val="2B3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45920"/>
            <a:ext cx="4709160" cy="3566160"/>
          </a:xfrm>
          <a:prstGeom prst="rect">
            <a:avLst/>
          </a:prstGeom>
          <a:noFill/>
        </p:spPr>
        <p:txBody>
          <a:bodyPr wrap="square" lIns="0" tIns="0" rIns="0" bIns="0">
            <a:spAutoFit/>
          </a:bodyPr>
          <a:lstStyle/>
          <a:p>
            <a:pPr>
              <a:spcAft>
                <a:spcPts val="800"/>
              </a:spcAft>
              <a:defRPr sz="1450" b="1">
                <a:solidFill>
                  <a:srgbClr val="2B3E63"/>
                </a:solidFill>
                <a:latin typeface="Georgia"/>
              </a:defRPr>
            </a:pPr>
            <a:r>
              <a:t>Les 5 règles d'or capitales à afficher</a:t>
            </a:r>
          </a:p>
          <a:p>
            <a:pPr>
              <a:spcAft>
                <a:spcPts val="400"/>
              </a:spcAft>
              <a:defRPr sz="1100" b="1">
                <a:solidFill>
                  <a:srgbClr val="2B3E63"/>
                </a:solidFill>
                <a:latin typeface="Arial"/>
              </a:defRPr>
            </a:pPr>
            <a:r>
              <a:t>1. Jamais de démêlage sur cheveux secs : </a:t>
            </a:r>
            <a:r>
              <a:rPr sz="1100" b="0">
                <a:solidFill>
                  <a:srgbClr val="1C1B19"/>
                </a:solidFill>
                <a:latin typeface="Arial"/>
              </a:rPr>
              <a:t>Toujours mouiller avec de l'eau et un gel glissant (gombo) avant de peigner.</a:t>
            </a:r>
          </a:p>
          <a:p>
            <a:pPr>
              <a:spcAft>
                <a:spcPts val="400"/>
              </a:spcAft>
              <a:defRPr sz="1100" b="1">
                <a:solidFill>
                  <a:srgbClr val="2B3E63"/>
                </a:solidFill>
                <a:latin typeface="Arial"/>
              </a:defRPr>
            </a:pPr>
            <a:r>
              <a:t>2. L'eau d'abord, le beurre ensuite : </a:t>
            </a:r>
            <a:r>
              <a:rPr sz="1100" b="0">
                <a:solidFill>
                  <a:srgbClr val="1C1B19"/>
                </a:solidFill>
                <a:latin typeface="Arial"/>
              </a:rPr>
              <a:t>Un beurre sur cheveu sec est un couvercle sur une casserole vide.</a:t>
            </a:r>
          </a:p>
          <a:p>
            <a:pPr>
              <a:spcAft>
                <a:spcPts val="400"/>
              </a:spcAft>
              <a:defRPr sz="1100" b="1">
                <a:solidFill>
                  <a:srgbClr val="2B3E63"/>
                </a:solidFill>
                <a:latin typeface="Arial"/>
              </a:defRPr>
            </a:pPr>
            <a:r>
              <a:t>3. Tout ce qui est concentré se dilue : </a:t>
            </a:r>
            <a:r>
              <a:rPr sz="1100" b="0">
                <a:solidFill>
                  <a:srgbClr val="1C1B19"/>
                </a:solidFill>
                <a:latin typeface="Arial"/>
              </a:rPr>
              <a:t>Savon noir, vinaigre, huiles essentielles : toujours dilués dans l'eau ou une huile support.</a:t>
            </a:r>
          </a:p>
          <a:p>
            <a:pPr>
              <a:spcAft>
                <a:spcPts val="400"/>
              </a:spcAft>
              <a:defRPr sz="1100" b="1">
                <a:solidFill>
                  <a:srgbClr val="2B3E63"/>
                </a:solidFill>
                <a:latin typeface="Arial"/>
              </a:defRPr>
            </a:pPr>
            <a:r>
              <a:t>4. Protéines 1×/mois, hydratation chaque semaine : </a:t>
            </a:r>
            <a:r>
              <a:rPr sz="1100" b="0">
                <a:solidFill>
                  <a:srgbClr val="1C1B19"/>
                </a:solidFill>
                <a:latin typeface="Arial"/>
              </a:rPr>
              <a:t>L'excès de protéines durcit la fibre ; l'hydratation lui redonne sa vie.</a:t>
            </a:r>
          </a:p>
          <a:p>
            <a:pPr>
              <a:spcAft>
                <a:spcPts val="400"/>
              </a:spcAft>
              <a:defRPr sz="1100" b="1">
                <a:solidFill>
                  <a:srgbClr val="2B3E63"/>
                </a:solidFill>
                <a:latin typeface="Arial"/>
              </a:defRPr>
            </a:pPr>
            <a:r>
              <a:t>5. Si ça fait mal, c'est trop serré : </a:t>
            </a:r>
            <a:r>
              <a:rPr sz="1100" b="0">
                <a:solidFill>
                  <a:srgbClr val="1C1B19"/>
                </a:solidFill>
                <a:latin typeface="Arial"/>
              </a:rPr>
              <a:t>Une coiffure ne doit JAMAIS faire mal, ni au salon ni la nuit.</a:t>
            </a:r>
          </a:p>
        </p:txBody>
      </p:sp>
      <p:sp>
        <p:nvSpPr>
          <p:cNvPr id="12" name="Rounded Rectangle 11"/>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Affichez ces 5 règles au-dessus de votre miroir de salle de bain. Elles sont le garant de votre succès.</a:t>
            </a:r>
          </a:p>
        </p:txBody>
      </p:sp>
      <p:sp>
        <p:nvSpPr>
          <p:cNvPr id="14" name="Rectangle 13"/>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6" name="TextBox 15"/>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60 / 75</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KIT ANTI-PARESSE · MESURE DES PROGRÈS RÉELS</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Les 9 signes que ça marche (même quand ça ne se voit pas)</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La longueur met du temps à se voir, mais la santé de votre cheveu change dès les premières semaines.</a:t>
            </a:r>
          </a:p>
        </p:txBody>
      </p:sp>
      <p:sp>
        <p:nvSpPr>
          <p:cNvPr id="6" name="Rounded Rectangle 5"/>
          <p:cNvSpPr/>
          <p:nvPr/>
        </p:nvSpPr>
        <p:spPr>
          <a:xfrm>
            <a:off x="731520" y="1463040"/>
            <a:ext cx="33375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3063240" cy="45720"/>
          </a:xfrm>
          <a:prstGeom prst="rect">
            <a:avLst/>
          </a:prstGeom>
          <a:solidFill>
            <a:srgbClr val="556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2971800" cy="3566160"/>
          </a:xfrm>
          <a:prstGeom prst="rect">
            <a:avLst/>
          </a:prstGeom>
          <a:noFill/>
        </p:spPr>
        <p:txBody>
          <a:bodyPr wrap="square" lIns="0" tIns="0" rIns="0" bIns="0">
            <a:spAutoFit/>
          </a:bodyPr>
          <a:lstStyle/>
          <a:p>
            <a:pPr>
              <a:spcAft>
                <a:spcPts val="800"/>
              </a:spcAft>
              <a:defRPr sz="1450" b="1">
                <a:solidFill>
                  <a:srgbClr val="55663A"/>
                </a:solidFill>
                <a:latin typeface="Georgia"/>
              </a:defRPr>
            </a:pPr>
            <a:r>
              <a:t>Signes 1 à 3 : Dans le peigne</a:t>
            </a:r>
          </a:p>
          <a:p>
            <a:pPr>
              <a:spcAft>
                <a:spcPts val="400"/>
              </a:spcAft>
              <a:defRPr sz="1100">
                <a:solidFill>
                  <a:srgbClr val="1C1B19"/>
                </a:solidFill>
                <a:latin typeface="Arial"/>
              </a:defRPr>
            </a:pPr>
            <a:r>
              <a:t>• 1. Moins de casse au démêlage : Le fond du lavabo n'est plus tapissé de petits bouts de cheveux brisés de 2 cm.</a:t>
            </a:r>
          </a:p>
          <a:p>
            <a:pPr>
              <a:spcAft>
                <a:spcPts val="400"/>
              </a:spcAft>
              <a:defRPr sz="1100">
                <a:solidFill>
                  <a:srgbClr val="1C1B19"/>
                </a:solidFill>
                <a:latin typeface="Arial"/>
              </a:defRPr>
            </a:pPr>
            <a:r>
              <a:t>• 2. La boule de cheveux perdus diminue : Vous ne perdez que les cheveux tombés naturellement (environ 50 à 100 par jour) avec leur petit bulbe blanc à la racine.</a:t>
            </a:r>
          </a:p>
          <a:p>
            <a:pPr>
              <a:spcAft>
                <a:spcPts val="400"/>
              </a:spcAft>
              <a:defRPr sz="1100">
                <a:solidFill>
                  <a:srgbClr val="1C1B19"/>
                </a:solidFill>
                <a:latin typeface="Arial"/>
              </a:defRPr>
            </a:pPr>
            <a:r>
              <a:t>• 3. Le peigne glisse sans forcer : Vous n'avez plus besoin d'arracher les nœuds pour passer.</a:t>
            </a:r>
          </a:p>
        </p:txBody>
      </p:sp>
      <p:sp>
        <p:nvSpPr>
          <p:cNvPr id="9" name="Rounded Rectangle 8"/>
          <p:cNvSpPr/>
          <p:nvPr/>
        </p:nvSpPr>
        <p:spPr>
          <a:xfrm>
            <a:off x="4425696" y="1463040"/>
            <a:ext cx="33375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62856" y="1481328"/>
            <a:ext cx="3063240" cy="45720"/>
          </a:xfrm>
          <a:prstGeom prst="rect">
            <a:avLst/>
          </a:prstGeom>
          <a:solidFill>
            <a:srgbClr val="B88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08576" y="1645920"/>
            <a:ext cx="2971800" cy="3566160"/>
          </a:xfrm>
          <a:prstGeom prst="rect">
            <a:avLst/>
          </a:prstGeom>
          <a:noFill/>
        </p:spPr>
        <p:txBody>
          <a:bodyPr wrap="square" lIns="0" tIns="0" rIns="0" bIns="0">
            <a:spAutoFit/>
          </a:bodyPr>
          <a:lstStyle/>
          <a:p>
            <a:pPr>
              <a:spcAft>
                <a:spcPts val="800"/>
              </a:spcAft>
              <a:defRPr sz="1450" b="1">
                <a:solidFill>
                  <a:srgbClr val="B8862B"/>
                </a:solidFill>
                <a:latin typeface="Georgia"/>
              </a:defRPr>
            </a:pPr>
            <a:r>
              <a:t>Signes 4 à 6 : Au toucher</a:t>
            </a:r>
          </a:p>
          <a:p>
            <a:pPr>
              <a:spcAft>
                <a:spcPts val="400"/>
              </a:spcAft>
              <a:defRPr sz="1100">
                <a:solidFill>
                  <a:srgbClr val="1C1B19"/>
                </a:solidFill>
                <a:latin typeface="Arial"/>
              </a:defRPr>
            </a:pPr>
            <a:r>
              <a:t>• 4. Souplesse prolongée : Vos cheveux restent doux 48h à 72h après le soin au lieu de sécher au bout de 2 heures.</a:t>
            </a:r>
          </a:p>
          <a:p>
            <a:pPr>
              <a:spcAft>
                <a:spcPts val="400"/>
              </a:spcAft>
              <a:defRPr sz="1100">
                <a:solidFill>
                  <a:srgbClr val="1C1B19"/>
                </a:solidFill>
                <a:latin typeface="Arial"/>
              </a:defRPr>
            </a:pPr>
            <a:r>
              <a:t>• 5. Les pointes ne s'effritent plus : En pinçant une mèche entre deux doigts, les pointes ne croustillent plus comme des feuilles mortes.</a:t>
            </a:r>
          </a:p>
          <a:p>
            <a:pPr>
              <a:spcAft>
                <a:spcPts val="400"/>
              </a:spcAft>
              <a:defRPr sz="1100">
                <a:solidFill>
                  <a:srgbClr val="1C1B19"/>
                </a:solidFill>
                <a:latin typeface="Arial"/>
              </a:defRPr>
            </a:pPr>
            <a:r>
              <a:t>• 6. Le rétrécissement est vigoureux : Votre cheveu rétrécit vigoureusement au contact de l'eau (signe éclatant d'une élasticité parfaite).</a:t>
            </a:r>
          </a:p>
        </p:txBody>
      </p:sp>
      <p:sp>
        <p:nvSpPr>
          <p:cNvPr id="12" name="Rounded Rectangle 11"/>
          <p:cNvSpPr/>
          <p:nvPr/>
        </p:nvSpPr>
        <p:spPr>
          <a:xfrm>
            <a:off x="8119872" y="1463040"/>
            <a:ext cx="33375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57032" y="1481328"/>
            <a:ext cx="3063240" cy="45720"/>
          </a:xfrm>
          <a:prstGeom prst="rect">
            <a:avLst/>
          </a:prstGeom>
          <a:solidFill>
            <a:srgbClr val="2B3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2752" y="1645920"/>
            <a:ext cx="2971800" cy="3566160"/>
          </a:xfrm>
          <a:prstGeom prst="rect">
            <a:avLst/>
          </a:prstGeom>
          <a:noFill/>
        </p:spPr>
        <p:txBody>
          <a:bodyPr wrap="square" lIns="0" tIns="0" rIns="0" bIns="0">
            <a:spAutoFit/>
          </a:bodyPr>
          <a:lstStyle/>
          <a:p>
            <a:pPr>
              <a:spcAft>
                <a:spcPts val="800"/>
              </a:spcAft>
              <a:defRPr sz="1450" b="1">
                <a:solidFill>
                  <a:srgbClr val="2B3E63"/>
                </a:solidFill>
                <a:latin typeface="Georgia"/>
              </a:defRPr>
            </a:pPr>
            <a:r>
              <a:t>Signes 7 à 9 : À l'œil nu</a:t>
            </a:r>
          </a:p>
          <a:p>
            <a:pPr>
              <a:spcAft>
                <a:spcPts val="400"/>
              </a:spcAft>
              <a:defRPr sz="1100">
                <a:solidFill>
                  <a:srgbClr val="1C1B19"/>
                </a:solidFill>
                <a:latin typeface="Arial"/>
              </a:defRPr>
            </a:pPr>
            <a:r>
              <a:t>• 7. Brillance naturelle : Vos cheveux renvoient la lumière sans que vous ayez besoin d'ajouter de spray pailleté.</a:t>
            </a:r>
          </a:p>
          <a:p>
            <a:pPr>
              <a:spcAft>
                <a:spcPts val="400"/>
              </a:spcAft>
              <a:defRPr sz="1100">
                <a:solidFill>
                  <a:srgbClr val="1C1B19"/>
                </a:solidFill>
                <a:latin typeface="Arial"/>
              </a:defRPr>
            </a:pPr>
            <a:r>
              <a:t>• 8. Le cuir chevelu respire : Plus aucune démangeaison furieuse ni plaque blanche entre deux lavages.</a:t>
            </a:r>
          </a:p>
          <a:p>
            <a:pPr>
              <a:spcAft>
                <a:spcPts val="400"/>
              </a:spcAft>
              <a:defRPr sz="1100">
                <a:solidFill>
                  <a:srgbClr val="1C1B19"/>
                </a:solidFill>
                <a:latin typeface="Arial"/>
              </a:defRPr>
            </a:pPr>
            <a:r>
              <a:t>• 9. Des repousses aux tempes : De petits cheveux neufs et vigoureux apparaissent sur la lisière de votre front.</a:t>
            </a:r>
          </a:p>
        </p:txBody>
      </p:sp>
      <p:sp>
        <p:nvSpPr>
          <p:cNvPr id="15" name="Rounded Rectangle 14"/>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Cochez ces 9 signes au fil des semaines. Ce sont vos victoires concrètes, bien avant le ruban mesureur !</a:t>
            </a:r>
          </a:p>
        </p:txBody>
      </p:sp>
      <p:sp>
        <p:nvSpPr>
          <p:cNvPr id="17" name="Rectangle 16"/>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9" name="TextBox 18"/>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61 / 75</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731520"/>
            <a:ext cx="10362895" cy="5394960"/>
          </a:xfrm>
          <a:prstGeom prst="rect">
            <a:avLst/>
          </a:prstGeom>
          <a:noFill/>
          <a:ln w="15240">
            <a:solidFill>
              <a:srgbClr val="B88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188720"/>
            <a:ext cx="9445752" cy="365760"/>
          </a:xfrm>
          <a:prstGeom prst="rect">
            <a:avLst/>
          </a:prstGeom>
          <a:noFill/>
        </p:spPr>
        <p:txBody>
          <a:bodyPr wrap="none" lIns="0" tIns="0" rIns="0" bIns="0">
            <a:spAutoFit/>
          </a:bodyPr>
          <a:lstStyle/>
          <a:p>
            <a:pPr>
              <a:defRPr sz="1200" b="1">
                <a:solidFill>
                  <a:srgbClr val="D9A13B"/>
                </a:solidFill>
                <a:latin typeface="Arial"/>
              </a:defRPr>
            </a:pPr>
            <a:r>
              <a:t>QUATRIÈME PARTIE</a:t>
            </a:r>
          </a:p>
        </p:txBody>
      </p:sp>
      <p:sp>
        <p:nvSpPr>
          <p:cNvPr id="5" name="TextBox 4"/>
          <p:cNvSpPr txBox="1"/>
          <p:nvPr/>
        </p:nvSpPr>
        <p:spPr>
          <a:xfrm>
            <a:off x="1371600" y="1645920"/>
            <a:ext cx="9445752" cy="1097280"/>
          </a:xfrm>
          <a:prstGeom prst="rect">
            <a:avLst/>
          </a:prstGeom>
          <a:noFill/>
        </p:spPr>
        <p:txBody>
          <a:bodyPr wrap="square" lIns="0" tIns="0" rIns="0" bIns="0">
            <a:spAutoFit/>
          </a:bodyPr>
          <a:lstStyle/>
          <a:p>
            <a:pPr>
              <a:defRPr sz="3600" b="1">
                <a:solidFill>
                  <a:srgbClr val="FAF6F0"/>
                </a:solidFill>
                <a:latin typeface="Georgia"/>
              </a:defRPr>
            </a:pPr>
            <a:r>
              <a:t>Les Tresses Protectrices en Afrique</a:t>
            </a:r>
          </a:p>
        </p:txBody>
      </p:sp>
      <p:sp>
        <p:nvSpPr>
          <p:cNvPr id="6" name="Rectangle 5"/>
          <p:cNvSpPr/>
          <p:nvPr/>
        </p:nvSpPr>
        <p:spPr>
          <a:xfrm>
            <a:off x="1371600" y="2926080"/>
            <a:ext cx="3200400" cy="36576"/>
          </a:xfrm>
          <a:prstGeom prst="rect">
            <a:avLst/>
          </a:prstGeom>
          <a:solidFill>
            <a:srgbClr val="D9A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154680"/>
            <a:ext cx="9445752" cy="1280160"/>
          </a:xfrm>
          <a:prstGeom prst="rect">
            <a:avLst/>
          </a:prstGeom>
          <a:noFill/>
        </p:spPr>
        <p:txBody>
          <a:bodyPr wrap="square" lIns="0" tIns="0" rIns="0" bIns="0">
            <a:spAutoFit/>
          </a:bodyPr>
          <a:lstStyle/>
          <a:p>
            <a:pPr>
              <a:defRPr sz="1800" i="1">
                <a:solidFill>
                  <a:srgbClr val="D9A13B"/>
                </a:solidFill>
                <a:latin typeface="Georgia"/>
              </a:defRPr>
            </a:pPr>
            <a:r>
              <a:t>« Ce n'est pas la tresse le problème : c'est la tension et la durée. Bien portée, elle protège ; trop serrée, elle détruit. »</a:t>
            </a:r>
          </a:p>
        </p:txBody>
      </p:sp>
      <p:sp>
        <p:nvSpPr>
          <p:cNvPr id="8" name="TextBox 7"/>
          <p:cNvSpPr txBox="1"/>
          <p:nvPr/>
        </p:nvSpPr>
        <p:spPr>
          <a:xfrm>
            <a:off x="1371600" y="4572000"/>
            <a:ext cx="9445752" cy="914400"/>
          </a:xfrm>
          <a:prstGeom prst="rect">
            <a:avLst/>
          </a:prstGeom>
          <a:noFill/>
        </p:spPr>
        <p:txBody>
          <a:bodyPr wrap="square" lIns="0" tIns="0" rIns="0" bIns="0">
            <a:spAutoFit/>
          </a:bodyPr>
          <a:lstStyle/>
          <a:p>
            <a:pPr>
              <a:defRPr sz="1300">
                <a:solidFill>
                  <a:srgbClr val="D2C8B8"/>
                </a:solidFill>
                <a:latin typeface="Arial"/>
              </a:defRPr>
            </a:pPr>
            <a:r>
              <a:t>Héritage culturel, prévention de l'alopécie de traction, catalogue des coiffures et protocole complet de la pose à la dépose.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PARTIE 4 · CHAPITRE 21 — ANTHROPOLOGIE &amp; PROTECTION</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Un héritage ancestral &amp; une science de la protection</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Pourquoi la coiffure protectrice est l'outil le plus puissant du cheveu afro quand elle est bien comprise.</a:t>
            </a:r>
          </a:p>
        </p:txBody>
      </p:sp>
      <p:sp>
        <p:nvSpPr>
          <p:cNvPr id="6" name="Rounded Rectangle 5"/>
          <p:cNvSpPr/>
          <p:nvPr/>
        </p:nvSpPr>
        <p:spPr>
          <a:xfrm>
            <a:off x="73152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4892040" cy="45720"/>
          </a:xfrm>
          <a:prstGeom prst="rect">
            <a:avLst/>
          </a:prstGeom>
          <a:solidFill>
            <a:srgbClr val="556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09160" cy="3566160"/>
          </a:xfrm>
          <a:prstGeom prst="rect">
            <a:avLst/>
          </a:prstGeom>
          <a:noFill/>
        </p:spPr>
        <p:txBody>
          <a:bodyPr wrap="square" lIns="0" tIns="0" rIns="0" bIns="0">
            <a:spAutoFit/>
          </a:bodyPr>
          <a:lstStyle/>
          <a:p>
            <a:pPr>
              <a:spcAft>
                <a:spcPts val="800"/>
              </a:spcAft>
              <a:defRPr sz="1450" b="1">
                <a:solidFill>
                  <a:srgbClr val="55663A"/>
                </a:solidFill>
                <a:latin typeface="Georgia"/>
              </a:defRPr>
            </a:pPr>
            <a:r>
              <a:t>Les trois bienfaits protecteurs réels</a:t>
            </a:r>
          </a:p>
          <a:p>
            <a:pPr>
              <a:spcAft>
                <a:spcPts val="400"/>
              </a:spcAft>
              <a:defRPr sz="1100" b="1">
                <a:solidFill>
                  <a:srgbClr val="55663A"/>
                </a:solidFill>
                <a:latin typeface="Arial"/>
              </a:defRPr>
            </a:pPr>
            <a:r>
              <a:t>1. La mise au repos totale des pointes : </a:t>
            </a:r>
            <a:r>
              <a:rPr sz="1100" b="0">
                <a:solidFill>
                  <a:srgbClr val="1C1B19"/>
                </a:solidFill>
                <a:latin typeface="Arial"/>
              </a:rPr>
              <a:t>Enfermer les pointes dans une natte ou une vanille les met à l'abri de l'air sec, de la poussière d'harmattan et des frottements destructeurs contre les vêtements.</a:t>
            </a:r>
          </a:p>
          <a:p>
            <a:pPr>
              <a:spcAft>
                <a:spcPts val="400"/>
              </a:spcAft>
              <a:defRPr sz="1100" b="1">
                <a:solidFill>
                  <a:srgbClr val="55663A"/>
                </a:solidFill>
                <a:latin typeface="Arial"/>
              </a:defRPr>
            </a:pPr>
            <a:r>
              <a:t>2. La fin de la manipulation quotidienne : </a:t>
            </a:r>
            <a:r>
              <a:rPr sz="1100" b="0">
                <a:solidFill>
                  <a:srgbClr val="1C1B19"/>
                </a:solidFill>
                <a:latin typeface="Arial"/>
              </a:rPr>
              <a:t>Moins on brosse, peigne et touche le cheveu crépu, moins il casse. Une pose raisonnable de 4 à 6 semaines permet à la racine de grandir sans traumatisme.</a:t>
            </a:r>
          </a:p>
          <a:p>
            <a:pPr>
              <a:spcAft>
                <a:spcPts val="400"/>
              </a:spcAft>
              <a:defRPr sz="1100" b="1">
                <a:solidFill>
                  <a:srgbClr val="55663A"/>
                </a:solidFill>
                <a:latin typeface="Arial"/>
              </a:defRPr>
            </a:pPr>
            <a:r>
              <a:t>3. Le maintien de l'hydratation interne : </a:t>
            </a:r>
            <a:r>
              <a:rPr sz="1100" b="0">
                <a:solidFill>
                  <a:srgbClr val="1C1B19"/>
                </a:solidFill>
                <a:latin typeface="Arial"/>
              </a:rPr>
              <a:t>Une chevelure tressée en mèches épaisses retient son eau et ses lipides beaucoup plus longtemps qu'un afro lâché exposé au vent.</a:t>
            </a:r>
          </a:p>
        </p:txBody>
      </p:sp>
      <p:sp>
        <p:nvSpPr>
          <p:cNvPr id="9" name="Rounded Rectangle 8"/>
          <p:cNvSpPr/>
          <p:nvPr/>
        </p:nvSpPr>
        <p:spPr>
          <a:xfrm>
            <a:off x="626364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481328"/>
            <a:ext cx="4892040" cy="45720"/>
          </a:xfrm>
          <a:prstGeom prst="rect">
            <a:avLst/>
          </a:prstGeom>
          <a:solidFill>
            <a:srgbClr val="A85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45920"/>
            <a:ext cx="4709160" cy="3566160"/>
          </a:xfrm>
          <a:prstGeom prst="rect">
            <a:avLst/>
          </a:prstGeom>
          <a:noFill/>
        </p:spPr>
        <p:txBody>
          <a:bodyPr wrap="square" lIns="0" tIns="0" rIns="0" bIns="0">
            <a:spAutoFit/>
          </a:bodyPr>
          <a:lstStyle/>
          <a:p>
            <a:pPr>
              <a:spcAft>
                <a:spcPts val="800"/>
              </a:spcAft>
              <a:defRPr sz="1450" b="1">
                <a:solidFill>
                  <a:srgbClr val="A85236"/>
                </a:solidFill>
                <a:latin typeface="Georgia"/>
              </a:defRPr>
            </a:pPr>
            <a:r>
              <a:t>La dérive contemporaine dangereuse</a:t>
            </a:r>
          </a:p>
          <a:p>
            <a:pPr>
              <a:spcAft>
                <a:spcPts val="400"/>
              </a:spcAft>
              <a:defRPr sz="1100" b="1">
                <a:solidFill>
                  <a:srgbClr val="A85236"/>
                </a:solidFill>
                <a:latin typeface="Arial"/>
              </a:defRPr>
            </a:pPr>
            <a:r>
              <a:t>Le piège des mèches synthétiques ultra-lourdes : </a:t>
            </a:r>
            <a:r>
              <a:rPr sz="1100" b="0">
                <a:solidFill>
                  <a:srgbClr val="1C1B19"/>
                </a:solidFill>
                <a:latin typeface="Arial"/>
              </a:rPr>
              <a:t>Poser des rajouts de 60 cm de long sur une racine fine exerce une force de levier mécanique permanente qui arrache le bulbe.</a:t>
            </a:r>
          </a:p>
          <a:p>
            <a:pPr>
              <a:spcAft>
                <a:spcPts val="400"/>
              </a:spcAft>
              <a:defRPr sz="1100" b="1">
                <a:solidFill>
                  <a:srgbClr val="A85236"/>
                </a:solidFill>
                <a:latin typeface="Arial"/>
              </a:defRPr>
            </a:pPr>
            <a:r>
              <a:t>La torture des petits cheveux du front (edges) : </a:t>
            </a:r>
            <a:r>
              <a:rPr sz="1100" b="0">
                <a:solidFill>
                  <a:srgbClr val="1C1B19"/>
                </a:solidFill>
                <a:latin typeface="Arial"/>
              </a:rPr>
              <a:t>Tirer sur les cheveux duvet de la lisière avec du gel durcissant ou de la colle pour les plaquer détruit les follicules les plus fragiles de la tête.</a:t>
            </a:r>
          </a:p>
          <a:p>
            <a:pPr>
              <a:spcAft>
                <a:spcPts val="400"/>
              </a:spcAft>
              <a:defRPr sz="1100" b="1">
                <a:solidFill>
                  <a:srgbClr val="A85236"/>
                </a:solidFill>
                <a:latin typeface="Arial"/>
              </a:defRPr>
            </a:pPr>
            <a:r>
              <a:t>Le portage excessif sans répit : </a:t>
            </a:r>
            <a:r>
              <a:rPr sz="1100" b="0">
                <a:solidFill>
                  <a:srgbClr val="1C1B19"/>
                </a:solidFill>
                <a:latin typeface="Arial"/>
              </a:rPr>
              <a:t>Garder des tresses pendant 3 mois d'affilée sans laver le crâne accumule un bouchon de sébum et de poussière qui fait étouffer et tomber la racine.</a:t>
            </a:r>
          </a:p>
        </p:txBody>
      </p:sp>
      <p:sp>
        <p:nvSpPr>
          <p:cNvPr id="12" name="Rounded Rectangle 11"/>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La tresse traditionnelle était souple, aérée et faite pour le bien-être. Revenons à l'esprit originel de nos mères.</a:t>
            </a:r>
          </a:p>
        </p:txBody>
      </p:sp>
      <p:sp>
        <p:nvSpPr>
          <p:cNvPr id="14" name="Rectangle 13"/>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6" name="TextBox 15"/>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63 / 75</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PARTIE 4 · CHAPITRE 22 — DONNÉES MÉDICALES CAPITALES</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L'Alopécie de Traction : les chiffres et les 3 stades</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Une réalité clinique majeure en Afrique qui exige une prise de conscience immédiate.</a:t>
            </a:r>
          </a:p>
        </p:txBody>
      </p:sp>
      <p:sp>
        <p:nvSpPr>
          <p:cNvPr id="6" name="Rounded Rectangle 5"/>
          <p:cNvSpPr/>
          <p:nvPr/>
        </p:nvSpPr>
        <p:spPr>
          <a:xfrm>
            <a:off x="73152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4892040" cy="45720"/>
          </a:xfrm>
          <a:prstGeom prst="rect">
            <a:avLst/>
          </a:prstGeom>
          <a:solidFill>
            <a:srgbClr val="A85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09160" cy="3566160"/>
          </a:xfrm>
          <a:prstGeom prst="rect">
            <a:avLst/>
          </a:prstGeom>
          <a:noFill/>
        </p:spPr>
        <p:txBody>
          <a:bodyPr wrap="square" lIns="0" tIns="0" rIns="0" bIns="0">
            <a:spAutoFit/>
          </a:bodyPr>
          <a:lstStyle/>
          <a:p>
            <a:pPr>
              <a:spcAft>
                <a:spcPts val="800"/>
              </a:spcAft>
              <a:defRPr sz="1450" b="1">
                <a:solidFill>
                  <a:srgbClr val="A85236"/>
                </a:solidFill>
                <a:latin typeface="Georgia"/>
              </a:defRPr>
            </a:pPr>
            <a:r>
              <a:t>Les données scientifiques chocs</a:t>
            </a:r>
          </a:p>
          <a:p>
            <a:pPr>
              <a:spcAft>
                <a:spcPts val="400"/>
              </a:spcAft>
              <a:defRPr sz="1100" b="1">
                <a:solidFill>
                  <a:srgbClr val="A85236"/>
                </a:solidFill>
                <a:latin typeface="Arial"/>
              </a:defRPr>
            </a:pPr>
            <a:r>
              <a:t>31,7 % des femmes africaines touchées : </a:t>
            </a:r>
            <a:r>
              <a:rPr sz="1100" b="0">
                <a:solidFill>
                  <a:srgbClr val="1C1B19"/>
                </a:solidFill>
                <a:latin typeface="Arial"/>
              </a:rPr>
              <a:t>Les études épidémiologiques menées sur les chevelures texturées en Afrique montrent qu'environ une femme adulte sur trois souffre d'alopécie de traction plus ou moins avancée.</a:t>
            </a:r>
          </a:p>
          <a:p>
            <a:pPr>
              <a:spcAft>
                <a:spcPts val="400"/>
              </a:spcAft>
              <a:defRPr sz="1100" b="1">
                <a:solidFill>
                  <a:srgbClr val="A85236"/>
                </a:solidFill>
                <a:latin typeface="Arial"/>
              </a:defRPr>
            </a:pPr>
            <a:r>
              <a:t>Le risque multiplié par 3,5 sur cheveux défrisés : </a:t>
            </a:r>
            <a:r>
              <a:rPr sz="1100" b="0">
                <a:solidFill>
                  <a:srgbClr val="1C1B19"/>
                </a:solidFill>
                <a:latin typeface="Arial"/>
              </a:rPr>
              <a:t>L'association de la tension mécanique des tresses et de la fragilisation chimique du défrisage multiplie par 3,47 le risque de perte définitive de la lisière.</a:t>
            </a:r>
          </a:p>
          <a:p>
            <a:pPr>
              <a:spcAft>
                <a:spcPts val="400"/>
              </a:spcAft>
              <a:defRPr sz="1100" b="1">
                <a:solidFill>
                  <a:srgbClr val="A85236"/>
                </a:solidFill>
                <a:latin typeface="Arial"/>
              </a:defRPr>
            </a:pPr>
            <a:r>
              <a:t>17 % des petites écolières déjà atteintes : </a:t>
            </a:r>
            <a:r>
              <a:rPr sz="1100" b="0">
                <a:solidFill>
                  <a:srgbClr val="1C1B19"/>
                </a:solidFill>
                <a:latin typeface="Arial"/>
              </a:rPr>
              <a:t>Le problème commence dès l'école primaire à cause des nattes trop serrées tirées à l'extrême par habitude.</a:t>
            </a:r>
          </a:p>
          <a:p>
            <a:pPr>
              <a:spcAft>
                <a:spcPts val="400"/>
              </a:spcAft>
              <a:defRPr sz="1100" b="1">
                <a:solidFill>
                  <a:srgbClr val="A85236"/>
                </a:solidFill>
                <a:latin typeface="Arial"/>
              </a:defRPr>
            </a:pPr>
            <a:r>
              <a:t>La bonne nouvelle : </a:t>
            </a:r>
            <a:r>
              <a:rPr sz="1100" b="0">
                <a:solidFill>
                  <a:srgbClr val="1C1B19"/>
                </a:solidFill>
                <a:latin typeface="Arial"/>
              </a:rPr>
              <a:t>C'est la forme d'alopécie la plus FACILE à éviter au monde !</a:t>
            </a:r>
          </a:p>
        </p:txBody>
      </p:sp>
      <p:sp>
        <p:nvSpPr>
          <p:cNvPr id="9" name="Rounded Rectangle 8"/>
          <p:cNvSpPr/>
          <p:nvPr/>
        </p:nvSpPr>
        <p:spPr>
          <a:xfrm>
            <a:off x="626364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481328"/>
            <a:ext cx="4892040" cy="45720"/>
          </a:xfrm>
          <a:prstGeom prst="rect">
            <a:avLst/>
          </a:prstGeom>
          <a:solidFill>
            <a:srgbClr val="2B3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45920"/>
            <a:ext cx="4709160" cy="3566160"/>
          </a:xfrm>
          <a:prstGeom prst="rect">
            <a:avLst/>
          </a:prstGeom>
          <a:noFill/>
        </p:spPr>
        <p:txBody>
          <a:bodyPr wrap="square" lIns="0" tIns="0" rIns="0" bIns="0">
            <a:spAutoFit/>
          </a:bodyPr>
          <a:lstStyle/>
          <a:p>
            <a:pPr>
              <a:spcAft>
                <a:spcPts val="800"/>
              </a:spcAft>
              <a:defRPr sz="1450" b="1">
                <a:solidFill>
                  <a:srgbClr val="2B3E63"/>
                </a:solidFill>
                <a:latin typeface="Georgia"/>
              </a:defRPr>
            </a:pPr>
            <a:r>
              <a:t>Les 3 stades cliniques : agir avant qu'il ne soit trop tard</a:t>
            </a:r>
          </a:p>
          <a:p>
            <a:pPr>
              <a:spcAft>
                <a:spcPts val="400"/>
              </a:spcAft>
              <a:defRPr sz="1100" b="1">
                <a:solidFill>
                  <a:srgbClr val="2B3E63"/>
                </a:solidFill>
                <a:latin typeface="Arial"/>
              </a:defRPr>
            </a:pPr>
            <a:r>
              <a:t>STADE 1 (L'Alerte réversible) : </a:t>
            </a:r>
            <a:r>
              <a:rPr sz="1100" b="0">
                <a:solidFill>
                  <a:srgbClr val="1C1B19"/>
                </a:solidFill>
                <a:latin typeface="Arial"/>
              </a:rPr>
              <a:t>Petits boutons rouges (folliculite de traction), démangeaisons vives, douleur au coucher les 3 premiers jours, sensation de peau tirée. → ACTION : Retirer ou desserrer immédiatement ! Le cheveu repousse à 100 %.</a:t>
            </a:r>
          </a:p>
          <a:p>
            <a:pPr>
              <a:spcAft>
                <a:spcPts val="400"/>
              </a:spcAft>
              <a:defRPr sz="1100" b="1">
                <a:solidFill>
                  <a:srgbClr val="2B3E63"/>
                </a:solidFill>
                <a:latin typeface="Arial"/>
              </a:defRPr>
            </a:pPr>
            <a:r>
              <a:t>STADE 2 (La Chute active) : </a:t>
            </a:r>
            <a:r>
              <a:rPr sz="1100" b="0">
                <a:solidFill>
                  <a:srgbClr val="1C1B19"/>
                </a:solidFill>
                <a:latin typeface="Arial"/>
              </a:rPr>
              <a:t>La ligne du front recule visiblement, les tempes se dégarnissent, des zones chauves apparaissent. → ACTION : Arrêt total de toute tension pendant 6 mois + massages doux à l'huile de ricin diluée.</a:t>
            </a:r>
          </a:p>
          <a:p>
            <a:pPr>
              <a:spcAft>
                <a:spcPts val="400"/>
              </a:spcAft>
              <a:defRPr sz="1100" b="1">
                <a:solidFill>
                  <a:srgbClr val="2B3E63"/>
                </a:solidFill>
                <a:latin typeface="Arial"/>
              </a:defRPr>
            </a:pPr>
            <a:r>
              <a:t>STADE 3 (Le Stade cicatriciel IRREVERSIBLE) : </a:t>
            </a:r>
            <a:r>
              <a:rPr sz="1100" b="0">
                <a:solidFill>
                  <a:srgbClr val="1C1B19"/>
                </a:solidFill>
                <a:latin typeface="Arial"/>
              </a:rPr>
              <a:t>La peau est devenue lisse, brillante comme une cicatrice. Le follicule pileux est mort et fibrosé. Aucun produit ne le fera repousser : seule une greffe est possible.</a:t>
            </a:r>
          </a:p>
        </p:txBody>
      </p:sp>
      <p:sp>
        <p:nvSpPr>
          <p:cNvPr id="12" name="Rounded Rectangle 11"/>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RÈGLE D'OR : Si lever les sourcils ou tourner la tête fait mal le soir de la pose, c'est que vos follicules sont en train d'être étranglés. Refusez la souffrance !</a:t>
            </a:r>
          </a:p>
        </p:txBody>
      </p:sp>
      <p:sp>
        <p:nvSpPr>
          <p:cNvPr id="14" name="Rectangle 13"/>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6" name="TextBox 15"/>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64 / 75</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PARTIE 4 · CHAPITRE 23 — CATALOGUE &amp; NIVEAUX DE RISQUE</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Catalogue des coiffures protectrices (Partie 1)</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Guide d'arbitrage objectif entre beauté, tenue et respect absolu de la racine.</a:t>
            </a:r>
          </a:p>
        </p:txBody>
      </p:sp>
      <p:graphicFrame>
        <p:nvGraphicFramePr>
          <p:cNvPr id="6" name="Table 5"/>
          <p:cNvGraphicFramePr>
            <a:graphicFrameLocks noGrp="1"/>
          </p:cNvGraphicFramePr>
          <p:nvPr/>
        </p:nvGraphicFramePr>
        <p:xfrm>
          <a:off x="731520" y="1463040"/>
          <a:ext cx="10728655" cy="3840480"/>
        </p:xfrm>
        <a:graphic>
          <a:graphicData uri="http://schemas.openxmlformats.org/drawingml/2006/table">
            <a:tbl>
              <a:tblPr firstRow="1" bandRow="1">
                <a:tableStyleId>{5C22544A-7EE6-4342-B048-85BDC9FD1C3A}</a:tableStyleId>
              </a:tblPr>
              <a:tblGrid>
                <a:gridCol w="1788109"/>
                <a:gridCol w="1788109"/>
                <a:gridCol w="1788109"/>
                <a:gridCol w="1788109"/>
                <a:gridCol w="1788109"/>
                <a:gridCol w="1788110"/>
              </a:tblGrid>
              <a:tr h="548640">
                <a:tc>
                  <a:txBody>
                    <a:bodyPr wrap="square"/>
                    <a:lstStyle/>
                    <a:p>
                      <a:pPr>
                        <a:defRPr sz="1000" b="1">
                          <a:solidFill>
                            <a:srgbClr val="D9A13B"/>
                          </a:solidFill>
                          <a:latin typeface="Arial"/>
                        </a:defRPr>
                      </a:pPr>
                      <a:r>
                        <a:t>Coiffure</a:t>
                      </a:r>
                    </a:p>
                  </a:txBody>
                  <a:tcPr>
                    <a:solidFill>
                      <a:srgbClr val="1B2740"/>
                    </a:solidFill>
                  </a:tcPr>
                </a:tc>
                <a:tc>
                  <a:txBody>
                    <a:bodyPr wrap="square"/>
                    <a:lstStyle/>
                    <a:p>
                      <a:pPr>
                        <a:defRPr sz="1000" b="1">
                          <a:solidFill>
                            <a:srgbClr val="D9A13B"/>
                          </a:solidFill>
                          <a:latin typeface="Arial"/>
                        </a:defRPr>
                      </a:pPr>
                      <a:r>
                        <a:t>Durée raisonnable</a:t>
                      </a:r>
                    </a:p>
                  </a:txBody>
                  <a:tcPr>
                    <a:solidFill>
                      <a:srgbClr val="1B2740"/>
                    </a:solidFill>
                  </a:tcPr>
                </a:tc>
                <a:tc>
                  <a:txBody>
                    <a:bodyPr wrap="square"/>
                    <a:lstStyle/>
                    <a:p>
                      <a:pPr>
                        <a:defRPr sz="1000" b="1">
                          <a:solidFill>
                            <a:srgbClr val="D9A13B"/>
                          </a:solidFill>
                          <a:latin typeface="Arial"/>
                        </a:defRPr>
                      </a:pPr>
                      <a:r>
                        <a:t>Tension</a:t>
                      </a:r>
                    </a:p>
                  </a:txBody>
                  <a:tcPr>
                    <a:solidFill>
                      <a:srgbClr val="1B2740"/>
                    </a:solidFill>
                  </a:tcPr>
                </a:tc>
                <a:tc>
                  <a:txBody>
                    <a:bodyPr wrap="square"/>
                    <a:lstStyle/>
                    <a:p>
                      <a:pPr>
                        <a:defRPr sz="1000" b="1">
                          <a:solidFill>
                            <a:srgbClr val="D9A13B"/>
                          </a:solidFill>
                          <a:latin typeface="Arial"/>
                        </a:defRPr>
                      </a:pPr>
                      <a:r>
                        <a:t>Poids</a:t>
                      </a:r>
                    </a:p>
                  </a:txBody>
                  <a:tcPr>
                    <a:solidFill>
                      <a:srgbClr val="1B2740"/>
                    </a:solidFill>
                  </a:tcPr>
                </a:tc>
                <a:tc>
                  <a:txBody>
                    <a:bodyPr wrap="square"/>
                    <a:lstStyle/>
                    <a:p>
                      <a:pPr>
                        <a:defRPr sz="1000" b="1">
                          <a:solidFill>
                            <a:srgbClr val="D9A13B"/>
                          </a:solidFill>
                          <a:latin typeface="Arial"/>
                        </a:defRPr>
                      </a:pPr>
                      <a:r>
                        <a:t>Risque</a:t>
                      </a:r>
                    </a:p>
                  </a:txBody>
                  <a:tcPr>
                    <a:solidFill>
                      <a:srgbClr val="1B2740"/>
                    </a:solidFill>
                  </a:tcPr>
                </a:tc>
                <a:tc>
                  <a:txBody>
                    <a:bodyPr wrap="square"/>
                    <a:lstStyle/>
                    <a:p>
                      <a:pPr>
                        <a:defRPr sz="1000" b="1">
                          <a:solidFill>
                            <a:srgbClr val="D9A13B"/>
                          </a:solidFill>
                          <a:latin typeface="Arial"/>
                        </a:defRPr>
                      </a:pPr>
                      <a:r>
                        <a:t>Verdict &amp; Conseils</a:t>
                      </a:r>
                    </a:p>
                  </a:txBody>
                  <a:tcPr>
                    <a:solidFill>
                      <a:srgbClr val="1B2740"/>
                    </a:solidFill>
                  </a:tcPr>
                </a:tc>
              </a:tr>
              <a:tr h="548640">
                <a:tc>
                  <a:txBody>
                    <a:bodyPr wrap="square"/>
                    <a:lstStyle/>
                    <a:p>
                      <a:pPr>
                        <a:defRPr sz="950" b="1">
                          <a:solidFill>
                            <a:srgbClr val="2B3E63"/>
                          </a:solidFill>
                          <a:latin typeface="Arial"/>
                        </a:defRPr>
                      </a:pPr>
                      <a:r>
                        <a:t>Vanilles / Twists naturelles</a:t>
                      </a:r>
                    </a:p>
                  </a:txBody>
                  <a:tcPr>
                    <a:solidFill>
                      <a:srgbClr val="FFFFFF"/>
                    </a:solidFill>
                  </a:tcPr>
                </a:tc>
                <a:tc>
                  <a:txBody>
                    <a:bodyPr wrap="square"/>
                    <a:lstStyle/>
                    <a:p>
                      <a:pPr>
                        <a:defRPr sz="950">
                          <a:solidFill>
                            <a:srgbClr val="1C1B19"/>
                          </a:solidFill>
                          <a:latin typeface="Arial"/>
                        </a:defRPr>
                      </a:pPr>
                      <a:r>
                        <a:t>2 à 3 semaines</a:t>
                      </a:r>
                    </a:p>
                  </a:txBody>
                  <a:tcPr>
                    <a:solidFill>
                      <a:srgbClr val="FFFFFF"/>
                    </a:solidFill>
                  </a:tcPr>
                </a:tc>
                <a:tc>
                  <a:txBody>
                    <a:bodyPr wrap="square"/>
                    <a:lstStyle/>
                    <a:p>
                      <a:pPr>
                        <a:defRPr sz="950">
                          <a:solidFill>
                            <a:srgbClr val="1C1B19"/>
                          </a:solidFill>
                          <a:latin typeface="Arial"/>
                        </a:defRPr>
                      </a:pPr>
                      <a:r>
                        <a:t>Très faible</a:t>
                      </a:r>
                    </a:p>
                  </a:txBody>
                  <a:tcPr>
                    <a:solidFill>
                      <a:srgbClr val="FFFFFF"/>
                    </a:solidFill>
                  </a:tcPr>
                </a:tc>
                <a:tc>
                  <a:txBody>
                    <a:bodyPr wrap="square"/>
                    <a:lstStyle/>
                    <a:p>
                      <a:pPr>
                        <a:defRPr sz="950">
                          <a:solidFill>
                            <a:srgbClr val="1C1B19"/>
                          </a:solidFill>
                          <a:latin typeface="Arial"/>
                        </a:defRPr>
                      </a:pPr>
                      <a:r>
                        <a:t>Très faible</a:t>
                      </a:r>
                    </a:p>
                  </a:txBody>
                  <a:tcPr>
                    <a:solidFill>
                      <a:srgbClr val="FFFFFF"/>
                    </a:solidFill>
                  </a:tcPr>
                </a:tc>
                <a:tc>
                  <a:txBody>
                    <a:bodyPr wrap="square"/>
                    <a:lstStyle/>
                    <a:p>
                      <a:pPr>
                        <a:defRPr sz="950">
                          <a:solidFill>
                            <a:srgbClr val="1C1B19"/>
                          </a:solidFill>
                          <a:latin typeface="Arial"/>
                        </a:defRPr>
                      </a:pPr>
                      <a:r>
                        <a:t>★☆☆☆☆ (1/5)</a:t>
                      </a:r>
                    </a:p>
                  </a:txBody>
                  <a:tcPr>
                    <a:solidFill>
                      <a:srgbClr val="FFFFFF"/>
                    </a:solidFill>
                  </a:tcPr>
                </a:tc>
                <a:tc>
                  <a:txBody>
                    <a:bodyPr wrap="square"/>
                    <a:lstStyle/>
                    <a:p>
                      <a:pPr>
                        <a:defRPr sz="950">
                          <a:solidFill>
                            <a:srgbClr val="1C1B19"/>
                          </a:solidFill>
                          <a:latin typeface="Arial"/>
                        </a:defRPr>
                      </a:pPr>
                      <a:r>
                        <a:t>LA REINE DE LA PROTECTION. Zéro tension, parfait pour reposer les tempes.</a:t>
                      </a:r>
                    </a:p>
                  </a:txBody>
                  <a:tcPr>
                    <a:solidFill>
                      <a:srgbClr val="FFFFFF"/>
                    </a:solidFill>
                  </a:tcPr>
                </a:tc>
              </a:tr>
              <a:tr h="548640">
                <a:tc>
                  <a:txBody>
                    <a:bodyPr wrap="square"/>
                    <a:lstStyle/>
                    <a:p>
                      <a:pPr>
                        <a:defRPr sz="950" b="1">
                          <a:solidFill>
                            <a:srgbClr val="2B3E63"/>
                          </a:solidFill>
                          <a:latin typeface="Arial"/>
                        </a:defRPr>
                      </a:pPr>
                      <a:r>
                        <a:t>Nattes collées simples</a:t>
                      </a:r>
                    </a:p>
                  </a:txBody>
                  <a:tcPr>
                    <a:solidFill>
                      <a:srgbClr val="F5EEE0"/>
                    </a:solidFill>
                  </a:tcPr>
                </a:tc>
                <a:tc>
                  <a:txBody>
                    <a:bodyPr wrap="square"/>
                    <a:lstStyle/>
                    <a:p>
                      <a:pPr>
                        <a:defRPr sz="950">
                          <a:solidFill>
                            <a:srgbClr val="1C1B19"/>
                          </a:solidFill>
                          <a:latin typeface="Arial"/>
                        </a:defRPr>
                      </a:pPr>
                      <a:r>
                        <a:t>3 à 4 semaines</a:t>
                      </a:r>
                    </a:p>
                  </a:txBody>
                  <a:tcPr>
                    <a:solidFill>
                      <a:srgbClr val="F5EEE0"/>
                    </a:solidFill>
                  </a:tcPr>
                </a:tc>
                <a:tc>
                  <a:txBody>
                    <a:bodyPr wrap="square"/>
                    <a:lstStyle/>
                    <a:p>
                      <a:pPr>
                        <a:defRPr sz="950">
                          <a:solidFill>
                            <a:srgbClr val="1C1B19"/>
                          </a:solidFill>
                          <a:latin typeface="Arial"/>
                        </a:defRPr>
                      </a:pPr>
                      <a:r>
                        <a:t>Faible à moyenne</a:t>
                      </a:r>
                    </a:p>
                  </a:txBody>
                  <a:tcPr>
                    <a:solidFill>
                      <a:srgbClr val="F5EEE0"/>
                    </a:solidFill>
                  </a:tcPr>
                </a:tc>
                <a:tc>
                  <a:txBody>
                    <a:bodyPr wrap="square"/>
                    <a:lstStyle/>
                    <a:p>
                      <a:pPr>
                        <a:defRPr sz="950">
                          <a:solidFill>
                            <a:srgbClr val="1C1B19"/>
                          </a:solidFill>
                          <a:latin typeface="Arial"/>
                        </a:defRPr>
                      </a:pPr>
                      <a:r>
                        <a:t>Très faible</a:t>
                      </a:r>
                    </a:p>
                  </a:txBody>
                  <a:tcPr>
                    <a:solidFill>
                      <a:srgbClr val="F5EEE0"/>
                    </a:solidFill>
                  </a:tcPr>
                </a:tc>
                <a:tc>
                  <a:txBody>
                    <a:bodyPr wrap="square"/>
                    <a:lstStyle/>
                    <a:p>
                      <a:pPr>
                        <a:defRPr sz="950">
                          <a:solidFill>
                            <a:srgbClr val="1C1B19"/>
                          </a:solidFill>
                          <a:latin typeface="Arial"/>
                        </a:defRPr>
                      </a:pPr>
                      <a:r>
                        <a:t>★★☆☆☆ (2/5)</a:t>
                      </a:r>
                    </a:p>
                  </a:txBody>
                  <a:tcPr>
                    <a:solidFill>
                      <a:srgbClr val="F5EEE0"/>
                    </a:solidFill>
                  </a:tcPr>
                </a:tc>
                <a:tc>
                  <a:txBody>
                    <a:bodyPr wrap="square"/>
                    <a:lstStyle/>
                    <a:p>
                      <a:pPr>
                        <a:defRPr sz="950">
                          <a:solidFill>
                            <a:srgbClr val="1C1B19"/>
                          </a:solidFill>
                          <a:latin typeface="Arial"/>
                        </a:defRPr>
                      </a:pPr>
                      <a:r>
                        <a:t>Idéales pour le sport et le travail. Ne pas serrer la racine au front.</a:t>
                      </a:r>
                    </a:p>
                  </a:txBody>
                  <a:tcPr>
                    <a:solidFill>
                      <a:srgbClr val="F5EEE0"/>
                    </a:solidFill>
                  </a:tcPr>
                </a:tc>
              </a:tr>
              <a:tr h="548640">
                <a:tc>
                  <a:txBody>
                    <a:bodyPr wrap="square"/>
                    <a:lstStyle/>
                    <a:p>
                      <a:pPr>
                        <a:defRPr sz="950" b="1">
                          <a:solidFill>
                            <a:srgbClr val="2B3E63"/>
                          </a:solidFill>
                          <a:latin typeface="Arial"/>
                        </a:defRPr>
                      </a:pPr>
                      <a:r>
                        <a:t>Knotless Braids (sans nœud)</a:t>
                      </a:r>
                    </a:p>
                  </a:txBody>
                  <a:tcPr>
                    <a:solidFill>
                      <a:srgbClr val="FFFFFF"/>
                    </a:solidFill>
                  </a:tcPr>
                </a:tc>
                <a:tc>
                  <a:txBody>
                    <a:bodyPr wrap="square"/>
                    <a:lstStyle/>
                    <a:p>
                      <a:pPr>
                        <a:defRPr sz="950">
                          <a:solidFill>
                            <a:srgbClr val="1C1B19"/>
                          </a:solidFill>
                          <a:latin typeface="Arial"/>
                        </a:defRPr>
                      </a:pPr>
                      <a:r>
                        <a:t>4 à 6 semaines</a:t>
                      </a:r>
                    </a:p>
                  </a:txBody>
                  <a:tcPr>
                    <a:solidFill>
                      <a:srgbClr val="FFFFFF"/>
                    </a:solidFill>
                  </a:tcPr>
                </a:tc>
                <a:tc>
                  <a:txBody>
                    <a:bodyPr wrap="square"/>
                    <a:lstStyle/>
                    <a:p>
                      <a:pPr>
                        <a:defRPr sz="950">
                          <a:solidFill>
                            <a:srgbClr val="1C1B19"/>
                          </a:solidFill>
                          <a:latin typeface="Arial"/>
                        </a:defRPr>
                      </a:pPr>
                      <a:r>
                        <a:t>Faible</a:t>
                      </a:r>
                    </a:p>
                  </a:txBody>
                  <a:tcPr>
                    <a:solidFill>
                      <a:srgbClr val="FFFFFF"/>
                    </a:solidFill>
                  </a:tcPr>
                </a:tc>
                <a:tc>
                  <a:txBody>
                    <a:bodyPr wrap="square"/>
                    <a:lstStyle/>
                    <a:p>
                      <a:pPr>
                        <a:defRPr sz="950">
                          <a:solidFill>
                            <a:srgbClr val="1C1B19"/>
                          </a:solidFill>
                          <a:latin typeface="Arial"/>
                        </a:defRPr>
                      </a:pPr>
                      <a:r>
                        <a:t>Moyen</a:t>
                      </a:r>
                    </a:p>
                  </a:txBody>
                  <a:tcPr>
                    <a:solidFill>
                      <a:srgbClr val="FFFFFF"/>
                    </a:solidFill>
                  </a:tcPr>
                </a:tc>
                <a:tc>
                  <a:txBody>
                    <a:bodyPr wrap="square"/>
                    <a:lstStyle/>
                    <a:p>
                      <a:pPr>
                        <a:defRPr sz="950">
                          <a:solidFill>
                            <a:srgbClr val="1C1B19"/>
                          </a:solidFill>
                          <a:latin typeface="Arial"/>
                        </a:defRPr>
                      </a:pPr>
                      <a:r>
                        <a:t>★★☆☆☆ (2/5)</a:t>
                      </a:r>
                    </a:p>
                  </a:txBody>
                  <a:tcPr>
                    <a:solidFill>
                      <a:srgbClr val="FFFFFF"/>
                    </a:solidFill>
                  </a:tcPr>
                </a:tc>
                <a:tc>
                  <a:txBody>
                    <a:bodyPr wrap="square"/>
                    <a:lstStyle/>
                    <a:p>
                      <a:pPr>
                        <a:defRPr sz="950">
                          <a:solidFill>
                            <a:srgbClr val="1C1B19"/>
                          </a:solidFill>
                          <a:latin typeface="Arial"/>
                        </a:defRPr>
                      </a:pPr>
                      <a:r>
                        <a:t>La meilleure technique avec mèches : les mèches sont insérées progressivement.</a:t>
                      </a:r>
                    </a:p>
                  </a:txBody>
                  <a:tcPr>
                    <a:solidFill>
                      <a:srgbClr val="FFFFFF"/>
                    </a:solidFill>
                  </a:tcPr>
                </a:tc>
              </a:tr>
              <a:tr h="548640">
                <a:tc>
                  <a:txBody>
                    <a:bodyPr wrap="square"/>
                    <a:lstStyle/>
                    <a:p>
                      <a:pPr>
                        <a:defRPr sz="950" b="1">
                          <a:solidFill>
                            <a:srgbClr val="2B3E63"/>
                          </a:solidFill>
                          <a:latin typeface="Arial"/>
                        </a:defRPr>
                      </a:pPr>
                      <a:r>
                        <a:t>Box Braids classiques</a:t>
                      </a:r>
                    </a:p>
                  </a:txBody>
                  <a:tcPr>
                    <a:solidFill>
                      <a:srgbClr val="F5EEE0"/>
                    </a:solidFill>
                  </a:tcPr>
                </a:tc>
                <a:tc>
                  <a:txBody>
                    <a:bodyPr wrap="square"/>
                    <a:lstStyle/>
                    <a:p>
                      <a:pPr>
                        <a:defRPr sz="950">
                          <a:solidFill>
                            <a:srgbClr val="1C1B19"/>
                          </a:solidFill>
                          <a:latin typeface="Arial"/>
                        </a:defRPr>
                      </a:pPr>
                      <a:r>
                        <a:t>4 à 5 semaines</a:t>
                      </a:r>
                    </a:p>
                  </a:txBody>
                  <a:tcPr>
                    <a:solidFill>
                      <a:srgbClr val="F5EEE0"/>
                    </a:solidFill>
                  </a:tcPr>
                </a:tc>
                <a:tc>
                  <a:txBody>
                    <a:bodyPr wrap="square"/>
                    <a:lstStyle/>
                    <a:p>
                      <a:pPr>
                        <a:defRPr sz="950">
                          <a:solidFill>
                            <a:srgbClr val="1C1B19"/>
                          </a:solidFill>
                          <a:latin typeface="Arial"/>
                        </a:defRPr>
                      </a:pPr>
                      <a:r>
                        <a:t>Moyenne à forte</a:t>
                      </a:r>
                    </a:p>
                  </a:txBody>
                  <a:tcPr>
                    <a:solidFill>
                      <a:srgbClr val="F5EEE0"/>
                    </a:solidFill>
                  </a:tcPr>
                </a:tc>
                <a:tc>
                  <a:txBody>
                    <a:bodyPr wrap="square"/>
                    <a:lstStyle/>
                    <a:p>
                      <a:pPr>
                        <a:defRPr sz="950">
                          <a:solidFill>
                            <a:srgbClr val="1C1B19"/>
                          </a:solidFill>
                          <a:latin typeface="Arial"/>
                        </a:defRPr>
                      </a:pPr>
                      <a:r>
                        <a:t>Moyen à lourd</a:t>
                      </a:r>
                    </a:p>
                  </a:txBody>
                  <a:tcPr>
                    <a:solidFill>
                      <a:srgbClr val="F5EEE0"/>
                    </a:solidFill>
                  </a:tcPr>
                </a:tc>
                <a:tc>
                  <a:txBody>
                    <a:bodyPr wrap="square"/>
                    <a:lstStyle/>
                    <a:p>
                      <a:pPr>
                        <a:defRPr sz="950">
                          <a:solidFill>
                            <a:srgbClr val="1C1B19"/>
                          </a:solidFill>
                          <a:latin typeface="Arial"/>
                        </a:defRPr>
                      </a:pPr>
                      <a:r>
                        <a:t>★★★☆☆ (3/5)</a:t>
                      </a:r>
                    </a:p>
                  </a:txBody>
                  <a:tcPr>
                    <a:solidFill>
                      <a:srgbClr val="F5EEE0"/>
                    </a:solidFill>
                  </a:tcPr>
                </a:tc>
                <a:tc>
                  <a:txBody>
                    <a:bodyPr wrap="square"/>
                    <a:lstStyle/>
                    <a:p>
                      <a:pPr>
                        <a:defRPr sz="950">
                          <a:solidFill>
                            <a:srgbClr val="1C1B19"/>
                          </a:solidFill>
                          <a:latin typeface="Arial"/>
                        </a:defRPr>
                      </a:pPr>
                      <a:r>
                        <a:t>Attention au gros nœud de départ qui cisaille la base du cheveu.</a:t>
                      </a:r>
                    </a:p>
                  </a:txBody>
                  <a:tcPr>
                    <a:solidFill>
                      <a:srgbClr val="F5EEE0"/>
                    </a:solidFill>
                  </a:tcPr>
                </a:tc>
              </a:tr>
              <a:tr h="548640">
                <a:tc>
                  <a:txBody>
                    <a:bodyPr wrap="square"/>
                    <a:lstStyle/>
                    <a:p>
                      <a:pPr>
                        <a:defRPr sz="950" b="1">
                          <a:solidFill>
                            <a:srgbClr val="2B3E63"/>
                          </a:solidFill>
                          <a:latin typeface="Arial"/>
                        </a:defRPr>
                      </a:pPr>
                      <a:r>
                        <a:t>Twists avec mèches (Senegalese)</a:t>
                      </a:r>
                    </a:p>
                  </a:txBody>
                  <a:tcPr>
                    <a:solidFill>
                      <a:srgbClr val="FFFFFF"/>
                    </a:solidFill>
                  </a:tcPr>
                </a:tc>
                <a:tc>
                  <a:txBody>
                    <a:bodyPr wrap="square"/>
                    <a:lstStyle/>
                    <a:p>
                      <a:pPr>
                        <a:defRPr sz="950">
                          <a:solidFill>
                            <a:srgbClr val="1C1B19"/>
                          </a:solidFill>
                          <a:latin typeface="Arial"/>
                        </a:defRPr>
                      </a:pPr>
                      <a:r>
                        <a:t>3 à 5 semaines</a:t>
                      </a:r>
                    </a:p>
                  </a:txBody>
                  <a:tcPr>
                    <a:solidFill>
                      <a:srgbClr val="FFFFFF"/>
                    </a:solidFill>
                  </a:tcPr>
                </a:tc>
                <a:tc>
                  <a:txBody>
                    <a:bodyPr wrap="square"/>
                    <a:lstStyle/>
                    <a:p>
                      <a:pPr>
                        <a:defRPr sz="950">
                          <a:solidFill>
                            <a:srgbClr val="1C1B19"/>
                          </a:solidFill>
                          <a:latin typeface="Arial"/>
                        </a:defRPr>
                      </a:pPr>
                      <a:r>
                        <a:t>Moyenne</a:t>
                      </a:r>
                    </a:p>
                  </a:txBody>
                  <a:tcPr>
                    <a:solidFill>
                      <a:srgbClr val="FFFFFF"/>
                    </a:solidFill>
                  </a:tcPr>
                </a:tc>
                <a:tc>
                  <a:txBody>
                    <a:bodyPr wrap="square"/>
                    <a:lstStyle/>
                    <a:p>
                      <a:pPr>
                        <a:defRPr sz="950">
                          <a:solidFill>
                            <a:srgbClr val="1C1B19"/>
                          </a:solidFill>
                          <a:latin typeface="Arial"/>
                        </a:defRPr>
                      </a:pPr>
                      <a:r>
                        <a:t>Moyen</a:t>
                      </a:r>
                    </a:p>
                  </a:txBody>
                  <a:tcPr>
                    <a:solidFill>
                      <a:srgbClr val="FFFFFF"/>
                    </a:solidFill>
                  </a:tcPr>
                </a:tc>
                <a:tc>
                  <a:txBody>
                    <a:bodyPr wrap="square"/>
                    <a:lstStyle/>
                    <a:p>
                      <a:pPr>
                        <a:defRPr sz="950">
                          <a:solidFill>
                            <a:srgbClr val="1C1B19"/>
                          </a:solidFill>
                          <a:latin typeface="Arial"/>
                        </a:defRPr>
                      </a:pPr>
                      <a:r>
                        <a:t>★★★☆☆ (3/5)</a:t>
                      </a:r>
                    </a:p>
                  </a:txBody>
                  <a:tcPr>
                    <a:solidFill>
                      <a:srgbClr val="FFFFFF"/>
                    </a:solidFill>
                  </a:tcPr>
                </a:tc>
                <a:tc>
                  <a:txBody>
                    <a:bodyPr wrap="square"/>
                    <a:lstStyle/>
                    <a:p>
                      <a:pPr>
                        <a:defRPr sz="950">
                          <a:solidFill>
                            <a:srgbClr val="1C1B19"/>
                          </a:solidFill>
                          <a:latin typeface="Arial"/>
                        </a:defRPr>
                      </a:pPr>
                      <a:r>
                        <a:t>Moins de tension que les tresses à 3 brins. Belle tenue sans alourdir.</a:t>
                      </a:r>
                    </a:p>
                  </a:txBody>
                  <a:tcPr>
                    <a:solidFill>
                      <a:srgbClr val="FFFFFF"/>
                    </a:solidFill>
                  </a:tcPr>
                </a:tc>
              </a:tr>
              <a:tr h="548640">
                <a:tc>
                  <a:txBody>
                    <a:bodyPr wrap="square"/>
                    <a:lstStyle/>
                    <a:p>
                      <a:pPr>
                        <a:defRPr sz="950" b="1">
                          <a:solidFill>
                            <a:srgbClr val="2B3E63"/>
                          </a:solidFill>
                          <a:latin typeface="Arial"/>
                        </a:defRPr>
                      </a:pPr>
                      <a:r>
                        <a:t>Nattes au fil traditionnel</a:t>
                      </a:r>
                    </a:p>
                  </a:txBody>
                  <a:tcPr>
                    <a:solidFill>
                      <a:srgbClr val="F5EEE0"/>
                    </a:solidFill>
                  </a:tcPr>
                </a:tc>
                <a:tc>
                  <a:txBody>
                    <a:bodyPr wrap="square"/>
                    <a:lstStyle/>
                    <a:p>
                      <a:pPr>
                        <a:defRPr sz="950">
                          <a:solidFill>
                            <a:srgbClr val="1C1B19"/>
                          </a:solidFill>
                          <a:latin typeface="Arial"/>
                        </a:defRPr>
                      </a:pPr>
                      <a:r>
                        <a:t>1 à 2 semaines</a:t>
                      </a:r>
                    </a:p>
                  </a:txBody>
                  <a:tcPr>
                    <a:solidFill>
                      <a:srgbClr val="F5EEE0"/>
                    </a:solidFill>
                  </a:tcPr>
                </a:tc>
                <a:tc>
                  <a:txBody>
                    <a:bodyPr wrap="square"/>
                    <a:lstStyle/>
                    <a:p>
                      <a:pPr>
                        <a:defRPr sz="950">
                          <a:solidFill>
                            <a:srgbClr val="1C1B19"/>
                          </a:solidFill>
                          <a:latin typeface="Arial"/>
                        </a:defRPr>
                      </a:pPr>
                      <a:r>
                        <a:t>Moyenne</a:t>
                      </a:r>
                    </a:p>
                  </a:txBody>
                  <a:tcPr>
                    <a:solidFill>
                      <a:srgbClr val="F5EEE0"/>
                    </a:solidFill>
                  </a:tcPr>
                </a:tc>
                <a:tc>
                  <a:txBody>
                    <a:bodyPr wrap="square"/>
                    <a:lstStyle/>
                    <a:p>
                      <a:pPr>
                        <a:defRPr sz="950">
                          <a:solidFill>
                            <a:srgbClr val="1C1B19"/>
                          </a:solidFill>
                          <a:latin typeface="Arial"/>
                        </a:defRPr>
                      </a:pPr>
                      <a:r>
                        <a:t>Très faible</a:t>
                      </a:r>
                    </a:p>
                  </a:txBody>
                  <a:tcPr>
                    <a:solidFill>
                      <a:srgbClr val="F5EEE0"/>
                    </a:solidFill>
                  </a:tcPr>
                </a:tc>
                <a:tc>
                  <a:txBody>
                    <a:bodyPr wrap="square"/>
                    <a:lstStyle/>
                    <a:p>
                      <a:pPr>
                        <a:defRPr sz="950">
                          <a:solidFill>
                            <a:srgbClr val="1C1B19"/>
                          </a:solidFill>
                          <a:latin typeface="Arial"/>
                        </a:defRPr>
                      </a:pPr>
                      <a:r>
                        <a:t>★★☆☆☆ (2/5)</a:t>
                      </a:r>
                    </a:p>
                  </a:txBody>
                  <a:tcPr>
                    <a:solidFill>
                      <a:srgbClr val="F5EEE0"/>
                    </a:solidFill>
                  </a:tcPr>
                </a:tc>
                <a:tc>
                  <a:txBody>
                    <a:bodyPr wrap="square"/>
                    <a:lstStyle/>
                    <a:p>
                      <a:pPr>
                        <a:defRPr sz="950">
                          <a:solidFill>
                            <a:srgbClr val="1C1B19"/>
                          </a:solidFill>
                          <a:latin typeface="Arial"/>
                        </a:defRPr>
                      </a:pPr>
                      <a:r>
                        <a:t>Étire magnifiquement le cheveu sans aucune chaleur. Desserrer la racine.</a:t>
                      </a:r>
                    </a:p>
                  </a:txBody>
                  <a:tcPr>
                    <a:solidFill>
                      <a:srgbClr val="F5EEE0"/>
                    </a:solidFill>
                  </a:tcPr>
                </a:tc>
              </a:tr>
            </a:tbl>
          </a:graphicData>
        </a:graphic>
      </p:graphicFrame>
      <p:sp>
        <p:nvSpPr>
          <p:cNvPr id="7" name="Rounded Rectangle 6"/>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Privilégiez les coiffures à score de risque 1 ou 2 pour vos routines courantes, et gardez les styles plus lourds pour les grandes occasions.</a:t>
            </a:r>
          </a:p>
        </p:txBody>
      </p:sp>
      <p:sp>
        <p:nvSpPr>
          <p:cNvPr id="9" name="Rectangle 8"/>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1" name="TextBox 10"/>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65 / 75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PARTIE 4 · CHAPITRE 23 — CATALOGUE &amp; NIVEAUX DE RISQUE</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Catalogue des coiffures protectrices (Partie 2)</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Les styles les plus lourds décryptés pour éviter les pièges irréparables.</a:t>
            </a:r>
          </a:p>
        </p:txBody>
      </p:sp>
      <p:graphicFrame>
        <p:nvGraphicFramePr>
          <p:cNvPr id="6" name="Table 5"/>
          <p:cNvGraphicFramePr>
            <a:graphicFrameLocks noGrp="1"/>
          </p:cNvGraphicFramePr>
          <p:nvPr/>
        </p:nvGraphicFramePr>
        <p:xfrm>
          <a:off x="731520" y="1463040"/>
          <a:ext cx="10728655" cy="3840480"/>
        </p:xfrm>
        <a:graphic>
          <a:graphicData uri="http://schemas.openxmlformats.org/drawingml/2006/table">
            <a:tbl>
              <a:tblPr firstRow="1" bandRow="1">
                <a:tableStyleId>{5C22544A-7EE6-4342-B048-85BDC9FD1C3A}</a:tableStyleId>
              </a:tblPr>
              <a:tblGrid>
                <a:gridCol w="1788109"/>
                <a:gridCol w="1788109"/>
                <a:gridCol w="1788109"/>
                <a:gridCol w="1788109"/>
                <a:gridCol w="1788109"/>
                <a:gridCol w="1788110"/>
              </a:tblGrid>
              <a:tr h="640080">
                <a:tc>
                  <a:txBody>
                    <a:bodyPr wrap="square"/>
                    <a:lstStyle/>
                    <a:p>
                      <a:pPr>
                        <a:defRPr sz="1000" b="1">
                          <a:solidFill>
                            <a:srgbClr val="D9A13B"/>
                          </a:solidFill>
                          <a:latin typeface="Arial"/>
                        </a:defRPr>
                      </a:pPr>
                      <a:r>
                        <a:t>Coiffure</a:t>
                      </a:r>
                    </a:p>
                  </a:txBody>
                  <a:tcPr>
                    <a:solidFill>
                      <a:srgbClr val="1B2740"/>
                    </a:solidFill>
                  </a:tcPr>
                </a:tc>
                <a:tc>
                  <a:txBody>
                    <a:bodyPr wrap="square"/>
                    <a:lstStyle/>
                    <a:p>
                      <a:pPr>
                        <a:defRPr sz="1000" b="1">
                          <a:solidFill>
                            <a:srgbClr val="D9A13B"/>
                          </a:solidFill>
                          <a:latin typeface="Arial"/>
                        </a:defRPr>
                      </a:pPr>
                      <a:r>
                        <a:t>Durée raisonnable</a:t>
                      </a:r>
                    </a:p>
                  </a:txBody>
                  <a:tcPr>
                    <a:solidFill>
                      <a:srgbClr val="1B2740"/>
                    </a:solidFill>
                  </a:tcPr>
                </a:tc>
                <a:tc>
                  <a:txBody>
                    <a:bodyPr wrap="square"/>
                    <a:lstStyle/>
                    <a:p>
                      <a:pPr>
                        <a:defRPr sz="1000" b="1">
                          <a:solidFill>
                            <a:srgbClr val="D9A13B"/>
                          </a:solidFill>
                          <a:latin typeface="Arial"/>
                        </a:defRPr>
                      </a:pPr>
                      <a:r>
                        <a:t>Tension</a:t>
                      </a:r>
                    </a:p>
                  </a:txBody>
                  <a:tcPr>
                    <a:solidFill>
                      <a:srgbClr val="1B2740"/>
                    </a:solidFill>
                  </a:tcPr>
                </a:tc>
                <a:tc>
                  <a:txBody>
                    <a:bodyPr wrap="square"/>
                    <a:lstStyle/>
                    <a:p>
                      <a:pPr>
                        <a:defRPr sz="1000" b="1">
                          <a:solidFill>
                            <a:srgbClr val="D9A13B"/>
                          </a:solidFill>
                          <a:latin typeface="Arial"/>
                        </a:defRPr>
                      </a:pPr>
                      <a:r>
                        <a:t>Poids</a:t>
                      </a:r>
                    </a:p>
                  </a:txBody>
                  <a:tcPr>
                    <a:solidFill>
                      <a:srgbClr val="1B2740"/>
                    </a:solidFill>
                  </a:tcPr>
                </a:tc>
                <a:tc>
                  <a:txBody>
                    <a:bodyPr wrap="square"/>
                    <a:lstStyle/>
                    <a:p>
                      <a:pPr>
                        <a:defRPr sz="1000" b="1">
                          <a:solidFill>
                            <a:srgbClr val="D9A13B"/>
                          </a:solidFill>
                          <a:latin typeface="Arial"/>
                        </a:defRPr>
                      </a:pPr>
                      <a:r>
                        <a:t>Risque</a:t>
                      </a:r>
                    </a:p>
                  </a:txBody>
                  <a:tcPr>
                    <a:solidFill>
                      <a:srgbClr val="1B2740"/>
                    </a:solidFill>
                  </a:tcPr>
                </a:tc>
                <a:tc>
                  <a:txBody>
                    <a:bodyPr wrap="square"/>
                    <a:lstStyle/>
                    <a:p>
                      <a:pPr>
                        <a:defRPr sz="1000" b="1">
                          <a:solidFill>
                            <a:srgbClr val="D9A13B"/>
                          </a:solidFill>
                          <a:latin typeface="Arial"/>
                        </a:defRPr>
                      </a:pPr>
                      <a:r>
                        <a:t>Verdict &amp; Précautions</a:t>
                      </a:r>
                    </a:p>
                  </a:txBody>
                  <a:tcPr>
                    <a:solidFill>
                      <a:srgbClr val="1B2740"/>
                    </a:solidFill>
                  </a:tcPr>
                </a:tc>
              </a:tr>
              <a:tr h="640080">
                <a:tc>
                  <a:txBody>
                    <a:bodyPr wrap="square"/>
                    <a:lstStyle/>
                    <a:p>
                      <a:pPr>
                        <a:defRPr sz="950" b="1">
                          <a:solidFill>
                            <a:srgbClr val="2B3E63"/>
                          </a:solidFill>
                          <a:latin typeface="Arial"/>
                        </a:defRPr>
                      </a:pPr>
                      <a:r>
                        <a:t>Faux Locs épaisses</a:t>
                      </a:r>
                    </a:p>
                  </a:txBody>
                  <a:tcPr>
                    <a:solidFill>
                      <a:srgbClr val="FFFFFF"/>
                    </a:solidFill>
                  </a:tcPr>
                </a:tc>
                <a:tc>
                  <a:txBody>
                    <a:bodyPr wrap="square"/>
                    <a:lstStyle/>
                    <a:p>
                      <a:pPr>
                        <a:defRPr sz="950">
                          <a:solidFill>
                            <a:srgbClr val="1C1B19"/>
                          </a:solidFill>
                          <a:latin typeface="Arial"/>
                        </a:defRPr>
                      </a:pPr>
                      <a:r>
                        <a:t>4 semaines max</a:t>
                      </a:r>
                    </a:p>
                  </a:txBody>
                  <a:tcPr>
                    <a:solidFill>
                      <a:srgbClr val="FFFFFF"/>
                    </a:solidFill>
                  </a:tcPr>
                </a:tc>
                <a:tc>
                  <a:txBody>
                    <a:bodyPr wrap="square"/>
                    <a:lstStyle/>
                    <a:p>
                      <a:pPr>
                        <a:defRPr sz="950">
                          <a:solidFill>
                            <a:srgbClr val="1C1B19"/>
                          </a:solidFill>
                          <a:latin typeface="Arial"/>
                        </a:defRPr>
                      </a:pPr>
                      <a:r>
                        <a:t>Forte</a:t>
                      </a:r>
                    </a:p>
                  </a:txBody>
                  <a:tcPr>
                    <a:solidFill>
                      <a:srgbClr val="FFFFFF"/>
                    </a:solidFill>
                  </a:tcPr>
                </a:tc>
                <a:tc>
                  <a:txBody>
                    <a:bodyPr wrap="square"/>
                    <a:lstStyle/>
                    <a:p>
                      <a:pPr>
                        <a:defRPr sz="950">
                          <a:solidFill>
                            <a:srgbClr val="1C1B19"/>
                          </a:solidFill>
                          <a:latin typeface="Arial"/>
                        </a:defRPr>
                      </a:pPr>
                      <a:r>
                        <a:t>Très lourd</a:t>
                      </a:r>
                    </a:p>
                  </a:txBody>
                  <a:tcPr>
                    <a:solidFill>
                      <a:srgbClr val="FFFFFF"/>
                    </a:solidFill>
                  </a:tcPr>
                </a:tc>
                <a:tc>
                  <a:txBody>
                    <a:bodyPr wrap="square"/>
                    <a:lstStyle/>
                    <a:p>
                      <a:pPr>
                        <a:defRPr sz="950">
                          <a:solidFill>
                            <a:srgbClr val="1C1B19"/>
                          </a:solidFill>
                          <a:latin typeface="Arial"/>
                        </a:defRPr>
                      </a:pPr>
                      <a:r>
                        <a:t>★★★★☆ (4/5)</a:t>
                      </a:r>
                    </a:p>
                  </a:txBody>
                  <a:tcPr>
                    <a:solidFill>
                      <a:srgbClr val="FFFFFF"/>
                    </a:solidFill>
                  </a:tcPr>
                </a:tc>
                <a:tc>
                  <a:txBody>
                    <a:bodyPr wrap="square"/>
                    <a:lstStyle/>
                    <a:p>
                      <a:pPr>
                        <a:defRPr sz="950">
                          <a:solidFill>
                            <a:srgbClr val="1C1B19"/>
                          </a:solidFill>
                          <a:latin typeface="Arial"/>
                        </a:defRPr>
                      </a:pPr>
                      <a:r>
                        <a:t>Pèse lourdement sur la nuque. Éviter absolument si vous avez les cheveux fins.</a:t>
                      </a:r>
                    </a:p>
                  </a:txBody>
                  <a:tcPr>
                    <a:solidFill>
                      <a:srgbClr val="FFFFFF"/>
                    </a:solidFill>
                  </a:tcPr>
                </a:tc>
              </a:tr>
              <a:tr h="640080">
                <a:tc>
                  <a:txBody>
                    <a:bodyPr wrap="square"/>
                    <a:lstStyle/>
                    <a:p>
                      <a:pPr>
                        <a:defRPr sz="950" b="1">
                          <a:solidFill>
                            <a:srgbClr val="2B3E63"/>
                          </a:solidFill>
                          <a:latin typeface="Arial"/>
                        </a:defRPr>
                      </a:pPr>
                      <a:r>
                        <a:t>Tissages &amp; perruques cousues</a:t>
                      </a:r>
                    </a:p>
                  </a:txBody>
                  <a:tcPr>
                    <a:solidFill>
                      <a:srgbClr val="F5EEE0"/>
                    </a:solidFill>
                  </a:tcPr>
                </a:tc>
                <a:tc>
                  <a:txBody>
                    <a:bodyPr wrap="square"/>
                    <a:lstStyle/>
                    <a:p>
                      <a:pPr>
                        <a:defRPr sz="950">
                          <a:solidFill>
                            <a:srgbClr val="1C1B19"/>
                          </a:solidFill>
                          <a:latin typeface="Arial"/>
                        </a:defRPr>
                      </a:pPr>
                      <a:r>
                        <a:t>4 à 6 semaines</a:t>
                      </a:r>
                    </a:p>
                  </a:txBody>
                  <a:tcPr>
                    <a:solidFill>
                      <a:srgbClr val="F5EEE0"/>
                    </a:solidFill>
                  </a:tcPr>
                </a:tc>
                <a:tc>
                  <a:txBody>
                    <a:bodyPr wrap="square"/>
                    <a:lstStyle/>
                    <a:p>
                      <a:pPr>
                        <a:defRPr sz="950">
                          <a:solidFill>
                            <a:srgbClr val="1C1B19"/>
                          </a:solidFill>
                          <a:latin typeface="Arial"/>
                        </a:defRPr>
                      </a:pPr>
                      <a:r>
                        <a:t>Moyenne à forte</a:t>
                      </a:r>
                    </a:p>
                  </a:txBody>
                  <a:tcPr>
                    <a:solidFill>
                      <a:srgbClr val="F5EEE0"/>
                    </a:solidFill>
                  </a:tcPr>
                </a:tc>
                <a:tc>
                  <a:txBody>
                    <a:bodyPr wrap="square"/>
                    <a:lstStyle/>
                    <a:p>
                      <a:pPr>
                        <a:defRPr sz="950">
                          <a:solidFill>
                            <a:srgbClr val="1C1B19"/>
                          </a:solidFill>
                          <a:latin typeface="Arial"/>
                        </a:defRPr>
                      </a:pPr>
                      <a:r>
                        <a:t>Moyen à lourd</a:t>
                      </a:r>
                    </a:p>
                  </a:txBody>
                  <a:tcPr>
                    <a:solidFill>
                      <a:srgbClr val="F5EEE0"/>
                    </a:solidFill>
                  </a:tcPr>
                </a:tc>
                <a:tc>
                  <a:txBody>
                    <a:bodyPr wrap="square"/>
                    <a:lstStyle/>
                    <a:p>
                      <a:pPr>
                        <a:defRPr sz="950">
                          <a:solidFill>
                            <a:srgbClr val="1C1B19"/>
                          </a:solidFill>
                          <a:latin typeface="Arial"/>
                        </a:defRPr>
                      </a:pPr>
                      <a:r>
                        <a:t>★★★★☆ (4/5)</a:t>
                      </a:r>
                    </a:p>
                  </a:txBody>
                  <a:tcPr>
                    <a:solidFill>
                      <a:srgbClr val="F5EEE0"/>
                    </a:solidFill>
                  </a:tcPr>
                </a:tc>
                <a:tc>
                  <a:txBody>
                    <a:bodyPr wrap="square"/>
                    <a:lstStyle/>
                    <a:p>
                      <a:pPr>
                        <a:defRPr sz="950">
                          <a:solidFill>
                            <a:srgbClr val="1C1B19"/>
                          </a:solidFill>
                          <a:latin typeface="Arial"/>
                        </a:defRPr>
                      </a:pPr>
                      <a:r>
                        <a:t>Asphyxie du cuir chevelu si mal lavé. Bien aérer et laver les tresses du dessous.</a:t>
                      </a:r>
                    </a:p>
                  </a:txBody>
                  <a:tcPr>
                    <a:solidFill>
                      <a:srgbClr val="F5EEE0"/>
                    </a:solidFill>
                  </a:tcPr>
                </a:tc>
              </a:tr>
              <a:tr h="640080">
                <a:tc>
                  <a:txBody>
                    <a:bodyPr wrap="square"/>
                    <a:lstStyle/>
                    <a:p>
                      <a:pPr>
                        <a:defRPr sz="950" b="1">
                          <a:solidFill>
                            <a:srgbClr val="2B3E63"/>
                          </a:solidFill>
                          <a:latin typeface="Arial"/>
                        </a:defRPr>
                      </a:pPr>
                      <a:r>
                        <a:t>Perruque amovible (Wig)</a:t>
                      </a:r>
                    </a:p>
                  </a:txBody>
                  <a:tcPr>
                    <a:solidFill>
                      <a:srgbClr val="FFFFFF"/>
                    </a:solidFill>
                  </a:tcPr>
                </a:tc>
                <a:tc>
                  <a:txBody>
                    <a:bodyPr wrap="square"/>
                    <a:lstStyle/>
                    <a:p>
                      <a:pPr>
                        <a:defRPr sz="950">
                          <a:solidFill>
                            <a:srgbClr val="1C1B19"/>
                          </a:solidFill>
                          <a:latin typeface="Arial"/>
                        </a:defRPr>
                      </a:pPr>
                      <a:r>
                        <a:t>Retirer chaque soir</a:t>
                      </a:r>
                    </a:p>
                  </a:txBody>
                  <a:tcPr>
                    <a:solidFill>
                      <a:srgbClr val="FFFFFF"/>
                    </a:solidFill>
                  </a:tcPr>
                </a:tc>
                <a:tc>
                  <a:txBody>
                    <a:bodyPr wrap="square"/>
                    <a:lstStyle/>
                    <a:p>
                      <a:pPr>
                        <a:defRPr sz="950">
                          <a:solidFill>
                            <a:srgbClr val="1C1B19"/>
                          </a:solidFill>
                          <a:latin typeface="Arial"/>
                        </a:defRPr>
                      </a:pPr>
                      <a:r>
                        <a:t>Très faible</a:t>
                      </a:r>
                    </a:p>
                  </a:txBody>
                  <a:tcPr>
                    <a:solidFill>
                      <a:srgbClr val="FFFFFF"/>
                    </a:solidFill>
                  </a:tcPr>
                </a:tc>
                <a:tc>
                  <a:txBody>
                    <a:bodyPr wrap="square"/>
                    <a:lstStyle/>
                    <a:p>
                      <a:pPr>
                        <a:defRPr sz="950">
                          <a:solidFill>
                            <a:srgbClr val="1C1B19"/>
                          </a:solidFill>
                          <a:latin typeface="Arial"/>
                        </a:defRPr>
                      </a:pPr>
                      <a:r>
                        <a:t>Nul sur la racine</a:t>
                      </a:r>
                    </a:p>
                  </a:txBody>
                  <a:tcPr>
                    <a:solidFill>
                      <a:srgbClr val="FFFFFF"/>
                    </a:solidFill>
                  </a:tcPr>
                </a:tc>
                <a:tc>
                  <a:txBody>
                    <a:bodyPr wrap="square"/>
                    <a:lstStyle/>
                    <a:p>
                      <a:pPr>
                        <a:defRPr sz="950">
                          <a:solidFill>
                            <a:srgbClr val="1C1B19"/>
                          </a:solidFill>
                          <a:latin typeface="Arial"/>
                        </a:defRPr>
                      </a:pPr>
                      <a:r>
                        <a:t>★☆☆☆☆ (1/5)</a:t>
                      </a:r>
                    </a:p>
                  </a:txBody>
                  <a:tcPr>
                    <a:solidFill>
                      <a:srgbClr val="FFFFFF"/>
                    </a:solidFill>
                  </a:tcPr>
                </a:tc>
                <a:tc>
                  <a:txBody>
                    <a:bodyPr wrap="square"/>
                    <a:lstStyle/>
                    <a:p>
                      <a:pPr>
                        <a:defRPr sz="950">
                          <a:solidFill>
                            <a:srgbClr val="1C1B19"/>
                          </a:solidFill>
                          <a:latin typeface="Arial"/>
                        </a:defRPr>
                      </a:pPr>
                      <a:r>
                        <a:t>Excellente protection du climat si vous la retirez pour dormir et masser.</a:t>
                      </a:r>
                    </a:p>
                  </a:txBody>
                  <a:tcPr>
                    <a:solidFill>
                      <a:srgbClr val="FFFFFF"/>
                    </a:solidFill>
                  </a:tcPr>
                </a:tc>
              </a:tr>
              <a:tr h="640080">
                <a:tc>
                  <a:txBody>
                    <a:bodyPr wrap="square"/>
                    <a:lstStyle/>
                    <a:p>
                      <a:pPr>
                        <a:defRPr sz="950" b="1">
                          <a:solidFill>
                            <a:srgbClr val="2B3E63"/>
                          </a:solidFill>
                          <a:latin typeface="Arial"/>
                        </a:defRPr>
                      </a:pPr>
                      <a:r>
                        <a:t>Tresses d'enfants fines</a:t>
                      </a:r>
                    </a:p>
                  </a:txBody>
                  <a:tcPr>
                    <a:solidFill>
                      <a:srgbClr val="F5EEE0"/>
                    </a:solidFill>
                  </a:tcPr>
                </a:tc>
                <a:tc>
                  <a:txBody>
                    <a:bodyPr wrap="square"/>
                    <a:lstStyle/>
                    <a:p>
                      <a:pPr>
                        <a:defRPr sz="950">
                          <a:solidFill>
                            <a:srgbClr val="1C1B19"/>
                          </a:solidFill>
                          <a:latin typeface="Arial"/>
                        </a:defRPr>
                      </a:pPr>
                      <a:r>
                        <a:t>2 à 3 semaines MAX</a:t>
                      </a:r>
                    </a:p>
                  </a:txBody>
                  <a:tcPr>
                    <a:solidFill>
                      <a:srgbClr val="F5EEE0"/>
                    </a:solidFill>
                  </a:tcPr>
                </a:tc>
                <a:tc>
                  <a:txBody>
                    <a:bodyPr wrap="square"/>
                    <a:lstStyle/>
                    <a:p>
                      <a:pPr>
                        <a:defRPr sz="950">
                          <a:solidFill>
                            <a:srgbClr val="1C1B19"/>
                          </a:solidFill>
                          <a:latin typeface="Arial"/>
                        </a:defRPr>
                      </a:pPr>
                      <a:r>
                        <a:t>À surveiller</a:t>
                      </a:r>
                    </a:p>
                  </a:txBody>
                  <a:tcPr>
                    <a:solidFill>
                      <a:srgbClr val="F5EEE0"/>
                    </a:solidFill>
                  </a:tcPr>
                </a:tc>
                <a:tc>
                  <a:txBody>
                    <a:bodyPr wrap="square"/>
                    <a:lstStyle/>
                    <a:p>
                      <a:pPr>
                        <a:defRPr sz="950">
                          <a:solidFill>
                            <a:srgbClr val="1C1B19"/>
                          </a:solidFill>
                          <a:latin typeface="Arial"/>
                        </a:defRPr>
                      </a:pPr>
                      <a:r>
                        <a:t>Faible</a:t>
                      </a:r>
                    </a:p>
                  </a:txBody>
                  <a:tcPr>
                    <a:solidFill>
                      <a:srgbClr val="F5EEE0"/>
                    </a:solidFill>
                  </a:tcPr>
                </a:tc>
                <a:tc>
                  <a:txBody>
                    <a:bodyPr wrap="square"/>
                    <a:lstStyle/>
                    <a:p>
                      <a:pPr>
                        <a:defRPr sz="950">
                          <a:solidFill>
                            <a:srgbClr val="1C1B19"/>
                          </a:solidFill>
                          <a:latin typeface="Arial"/>
                        </a:defRPr>
                      </a:pPr>
                      <a:r>
                        <a:t>★★★☆☆ (3/5)</a:t>
                      </a:r>
                    </a:p>
                  </a:txBody>
                  <a:tcPr>
                    <a:solidFill>
                      <a:srgbClr val="F5EEE0"/>
                    </a:solidFill>
                  </a:tcPr>
                </a:tc>
                <a:tc>
                  <a:txBody>
                    <a:bodyPr wrap="square"/>
                    <a:lstStyle/>
                    <a:p>
                      <a:pPr>
                        <a:defRPr sz="950">
                          <a:solidFill>
                            <a:srgbClr val="1C1B19"/>
                          </a:solidFill>
                          <a:latin typeface="Arial"/>
                        </a:defRPr>
                      </a:pPr>
                      <a:r>
                        <a:t>Jamais de rajouts lourds chez la petite fille ! Raies larges obligatoires.</a:t>
                      </a:r>
                    </a:p>
                  </a:txBody>
                  <a:tcPr>
                    <a:solidFill>
                      <a:srgbClr val="F5EEE0"/>
                    </a:solidFill>
                  </a:tcPr>
                </a:tc>
              </a:tr>
              <a:tr h="640080">
                <a:tc>
                  <a:txBody>
                    <a:bodyPr wrap="square"/>
                    <a:lstStyle/>
                    <a:p>
                      <a:pPr>
                        <a:defRPr sz="950" b="1">
                          <a:solidFill>
                            <a:srgbClr val="2B3E63"/>
                          </a:solidFill>
                          <a:latin typeface="Arial"/>
                        </a:defRPr>
                      </a:pPr>
                      <a:r>
                        <a:t>Chignon haut tiré (High puff)</a:t>
                      </a:r>
                    </a:p>
                  </a:txBody>
                  <a:tcPr>
                    <a:solidFill>
                      <a:srgbClr val="FFFFFF"/>
                    </a:solidFill>
                  </a:tcPr>
                </a:tc>
                <a:tc>
                  <a:txBody>
                    <a:bodyPr wrap="square"/>
                    <a:lstStyle/>
                    <a:p>
                      <a:pPr>
                        <a:defRPr sz="950">
                          <a:solidFill>
                            <a:srgbClr val="1C1B19"/>
                          </a:solidFill>
                          <a:latin typeface="Arial"/>
                        </a:defRPr>
                      </a:pPr>
                      <a:r>
                        <a:t>1 journée (ponctuel)</a:t>
                      </a:r>
                    </a:p>
                  </a:txBody>
                  <a:tcPr>
                    <a:solidFill>
                      <a:srgbClr val="FFFFFF"/>
                    </a:solidFill>
                  </a:tcPr>
                </a:tc>
                <a:tc>
                  <a:txBody>
                    <a:bodyPr wrap="square"/>
                    <a:lstStyle/>
                    <a:p>
                      <a:pPr>
                        <a:defRPr sz="950">
                          <a:solidFill>
                            <a:srgbClr val="1C1B19"/>
                          </a:solidFill>
                          <a:latin typeface="Arial"/>
                        </a:defRPr>
                      </a:pPr>
                      <a:r>
                        <a:t>Très forte</a:t>
                      </a:r>
                    </a:p>
                  </a:txBody>
                  <a:tcPr>
                    <a:solidFill>
                      <a:srgbClr val="FFFFFF"/>
                    </a:solidFill>
                  </a:tcPr>
                </a:tc>
                <a:tc>
                  <a:txBody>
                    <a:bodyPr wrap="square"/>
                    <a:lstStyle/>
                    <a:p>
                      <a:pPr>
                        <a:defRPr sz="950">
                          <a:solidFill>
                            <a:srgbClr val="1C1B19"/>
                          </a:solidFill>
                          <a:latin typeface="Arial"/>
                        </a:defRPr>
                      </a:pPr>
                      <a:r>
                        <a:t>Faible</a:t>
                      </a:r>
                    </a:p>
                  </a:txBody>
                  <a:tcPr>
                    <a:solidFill>
                      <a:srgbClr val="FFFFFF"/>
                    </a:solidFill>
                  </a:tcPr>
                </a:tc>
                <a:tc>
                  <a:txBody>
                    <a:bodyPr wrap="square"/>
                    <a:lstStyle/>
                    <a:p>
                      <a:pPr>
                        <a:defRPr sz="950">
                          <a:solidFill>
                            <a:srgbClr val="1C1B19"/>
                          </a:solidFill>
                          <a:latin typeface="Arial"/>
                        </a:defRPr>
                      </a:pPr>
                      <a:r>
                        <a:t>★★★★☆ (4/5)</a:t>
                      </a:r>
                    </a:p>
                  </a:txBody>
                  <a:tcPr>
                    <a:solidFill>
                      <a:srgbClr val="FFFFFF"/>
                    </a:solidFill>
                  </a:tcPr>
                </a:tc>
                <a:tc>
                  <a:txBody>
                    <a:bodyPr wrap="square"/>
                    <a:lstStyle/>
                    <a:p>
                      <a:pPr>
                        <a:defRPr sz="950">
                          <a:solidFill>
                            <a:srgbClr val="1C1B19"/>
                          </a:solidFill>
                          <a:latin typeface="Arial"/>
                        </a:defRPr>
                      </a:pPr>
                      <a:r>
                        <a:t>L'élastique trop serré quotidien est la cause n°1 du recul de la lisière chez les jeunes.</a:t>
                      </a:r>
                    </a:p>
                  </a:txBody>
                  <a:tcPr>
                    <a:solidFill>
                      <a:srgbClr val="FFFFFF"/>
                    </a:solidFill>
                  </a:tcPr>
                </a:tc>
              </a:tr>
            </a:tbl>
          </a:graphicData>
        </a:graphic>
      </p:graphicFrame>
      <p:sp>
        <p:nvSpPr>
          <p:cNvPr id="7" name="Rounded Rectangle 6"/>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Chez l'enfant de moins de 12 ans : jamais de rajouts synthétiques lourds, jamais de coiffure gardée plus de 3 semaines.</a:t>
            </a:r>
          </a:p>
        </p:txBody>
      </p:sp>
      <p:sp>
        <p:nvSpPr>
          <p:cNvPr id="9" name="Rectangle 8"/>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1" name="TextBox 10"/>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66 / 75</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PARTIE 4 · CHAPITRE 24 — PROTOCOLE CHRONOLOGIQUE</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Le Protocole complet : de la pose à la dépose</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Chaque étape chronologique pour transformer vos tresses en véritable cure de pousse.</a:t>
            </a:r>
          </a:p>
        </p:txBody>
      </p:sp>
      <p:sp>
        <p:nvSpPr>
          <p:cNvPr id="6" name="Rounded Rectangle 5"/>
          <p:cNvSpPr/>
          <p:nvPr/>
        </p:nvSpPr>
        <p:spPr>
          <a:xfrm>
            <a:off x="73152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4892040" cy="45720"/>
          </a:xfrm>
          <a:prstGeom prst="rect">
            <a:avLst/>
          </a:prstGeom>
          <a:solidFill>
            <a:srgbClr val="2B3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09160" cy="3566160"/>
          </a:xfrm>
          <a:prstGeom prst="rect">
            <a:avLst/>
          </a:prstGeom>
          <a:noFill/>
        </p:spPr>
        <p:txBody>
          <a:bodyPr wrap="square" lIns="0" tIns="0" rIns="0" bIns="0">
            <a:spAutoFit/>
          </a:bodyPr>
          <a:lstStyle/>
          <a:p>
            <a:pPr>
              <a:spcAft>
                <a:spcPts val="800"/>
              </a:spcAft>
              <a:defRPr sz="1450" b="1">
                <a:solidFill>
                  <a:srgbClr val="2B3E63"/>
                </a:solidFill>
                <a:latin typeface="Georgia"/>
              </a:defRPr>
            </a:pPr>
            <a:r>
              <a:t>Avant &amp; Pendant la pose</a:t>
            </a:r>
          </a:p>
          <a:p>
            <a:pPr>
              <a:spcAft>
                <a:spcPts val="400"/>
              </a:spcAft>
              <a:defRPr sz="1100" b="1">
                <a:solidFill>
                  <a:srgbClr val="2B3E63"/>
                </a:solidFill>
                <a:latin typeface="Arial"/>
              </a:defRPr>
            </a:pPr>
            <a:r>
              <a:t>J-7 : La fortification préparatoire : </a:t>
            </a:r>
            <a:r>
              <a:rPr sz="1100" b="0">
                <a:solidFill>
                  <a:srgbClr val="1C1B19"/>
                </a:solidFill>
                <a:latin typeface="Arial"/>
              </a:rPr>
              <a:t>Faites un masque hydratant profond et un pré-poo à l'huile de coco. On ne pose JAMAIS de tresses sur un cheveu sec, cassant ou défraîchi.</a:t>
            </a:r>
          </a:p>
          <a:p>
            <a:pPr>
              <a:spcAft>
                <a:spcPts val="400"/>
              </a:spcAft>
              <a:defRPr sz="1100" b="1">
                <a:solidFill>
                  <a:srgbClr val="2B3E63"/>
                </a:solidFill>
                <a:latin typeface="Arial"/>
              </a:defRPr>
            </a:pPr>
            <a:r>
              <a:t>Jour J : La pose respectueuse : </a:t>
            </a:r>
            <a:r>
              <a:rPr sz="1100" b="0">
                <a:solidFill>
                  <a:srgbClr val="1C1B19"/>
                </a:solidFill>
                <a:latin typeface="Arial"/>
              </a:rPr>
              <a:t>Arrivez au salon les cheveux propres, secs et démêlés. Donnez vos consignes fermes à la coiffeuse : laissez les tempes libres, pas de tension douloureuse.</a:t>
            </a:r>
          </a:p>
          <a:p>
            <a:pPr>
              <a:spcAft>
                <a:spcPts val="400"/>
              </a:spcAft>
              <a:defRPr sz="1100" b="1">
                <a:solidFill>
                  <a:srgbClr val="2B3E63"/>
                </a:solidFill>
                <a:latin typeface="Arial"/>
              </a:defRPr>
            </a:pPr>
            <a:r>
              <a:t>Semaines 1 à 5 : L'entretien sous tresses : </a:t>
            </a:r>
            <a:r>
              <a:rPr sz="1100" b="0">
                <a:solidFill>
                  <a:srgbClr val="1C1B19"/>
                </a:solidFill>
                <a:latin typeface="Arial"/>
              </a:rPr>
              <a:t>• Hydrater : Vaporisez le spray aloé + huile 2 fois par semaine entre les raies.
• Laver : Tous les 15 jours, appliquez du savon noir très dilué au flacon applicateur directement sur le crâne, rincez doucement sous la douche sans frotter les tresses.
• Nuit : Foulard en satin obligatoire.</a:t>
            </a:r>
          </a:p>
        </p:txBody>
      </p:sp>
      <p:sp>
        <p:nvSpPr>
          <p:cNvPr id="9" name="Rounded Rectangle 8"/>
          <p:cNvSpPr/>
          <p:nvPr/>
        </p:nvSpPr>
        <p:spPr>
          <a:xfrm>
            <a:off x="626364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481328"/>
            <a:ext cx="4892040" cy="45720"/>
          </a:xfrm>
          <a:prstGeom prst="rect">
            <a:avLst/>
          </a:prstGeom>
          <a:solidFill>
            <a:srgbClr val="A85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45920"/>
            <a:ext cx="4709160" cy="3566160"/>
          </a:xfrm>
          <a:prstGeom prst="rect">
            <a:avLst/>
          </a:prstGeom>
          <a:noFill/>
        </p:spPr>
        <p:txBody>
          <a:bodyPr wrap="square" lIns="0" tIns="0" rIns="0" bIns="0">
            <a:spAutoFit/>
          </a:bodyPr>
          <a:lstStyle/>
          <a:p>
            <a:pPr>
              <a:spcAft>
                <a:spcPts val="800"/>
              </a:spcAft>
              <a:defRPr sz="1450" b="1">
                <a:solidFill>
                  <a:srgbClr val="A85236"/>
                </a:solidFill>
                <a:latin typeface="Georgia"/>
              </a:defRPr>
            </a:pPr>
            <a:r>
              <a:t>La Dépose &amp; Les 72 heures qui sauvent tout</a:t>
            </a:r>
          </a:p>
          <a:p>
            <a:pPr>
              <a:spcAft>
                <a:spcPts val="400"/>
              </a:spcAft>
              <a:defRPr sz="1100" b="1">
                <a:solidFill>
                  <a:srgbClr val="A85236"/>
                </a:solidFill>
                <a:latin typeface="Arial"/>
              </a:defRPr>
            </a:pPr>
            <a:r>
              <a:t>La Dépose sans arracher : </a:t>
            </a:r>
            <a:r>
              <a:rPr sz="1100" b="0">
                <a:solidFill>
                  <a:srgbClr val="1C1B19"/>
                </a:solidFill>
                <a:latin typeface="Arial"/>
              </a:rPr>
              <a:t>Ne tirez jamais sur un nœud ! Coupez le fil ou le rajout bien en dessous de votre cheveu. Imbibez chaque mèche de gel de gombo frais très glissant pour dissoudre le bouchon de sébum à la racine et démêlez aux doigts.</a:t>
            </a:r>
          </a:p>
          <a:p>
            <a:pPr>
              <a:spcAft>
                <a:spcPts val="400"/>
              </a:spcAft>
              <a:defRPr sz="1100" b="1">
                <a:solidFill>
                  <a:srgbClr val="A85236"/>
                </a:solidFill>
                <a:latin typeface="Arial"/>
              </a:defRPr>
            </a:pPr>
            <a:r>
              <a:t>Les 72 heures de repos sacré (Post-dépose) : </a:t>
            </a:r>
            <a:r>
              <a:rPr sz="1100" b="0">
                <a:solidFill>
                  <a:srgbClr val="1C1B19"/>
                </a:solidFill>
                <a:latin typeface="Arial"/>
              </a:rPr>
              <a:t>AUCUNE traction pendant 3 jours complets. Pas de brosse dure, pas de nouveau tressage.</a:t>
            </a:r>
          </a:p>
          <a:p>
            <a:pPr>
              <a:spcAft>
                <a:spcPts val="400"/>
              </a:spcAft>
              <a:defRPr sz="1100" b="1">
                <a:solidFill>
                  <a:srgbClr val="A85236"/>
                </a:solidFill>
                <a:latin typeface="Arial"/>
              </a:defRPr>
            </a:pPr>
            <a:r>
              <a:t>Le mois de repos obligatoire entre deux poses : </a:t>
            </a:r>
            <a:r>
              <a:rPr sz="1100" b="0">
                <a:solidFill>
                  <a:srgbClr val="1C1B19"/>
                </a:solidFill>
                <a:latin typeface="Arial"/>
              </a:rPr>
              <a:t>Observez toujours 2 à 4 semaines de repos complet (cheveux au naturel en vanilles lâches) avant de refaire des tresses.</a:t>
            </a:r>
          </a:p>
        </p:txBody>
      </p:sp>
      <p:sp>
        <p:nvSpPr>
          <p:cNvPr id="12" name="Rounded Rectangle 11"/>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C'est pendant les 3 semaines de repos entre deux poses que vos cheveux respirent, s'hydratent et conservent leur longueur.</a:t>
            </a:r>
          </a:p>
        </p:txBody>
      </p:sp>
      <p:sp>
        <p:nvSpPr>
          <p:cNvPr id="14" name="Rectangle 13"/>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6" name="TextBox 15"/>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67 / 75</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PARTIE 4 · CHAPITRE 25 — OUTIL DE COMMUNICATION AU SALON</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La fiche à remettre à ma coiffeuse (Le contrat de respect)</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Un mémo poli, clair et ferme pour faire respecter votre santé capillaire au salon.</a:t>
            </a:r>
          </a:p>
        </p:txBody>
      </p:sp>
      <p:sp>
        <p:nvSpPr>
          <p:cNvPr id="6" name="Rounded Rectangle 5"/>
          <p:cNvSpPr/>
          <p:nvPr/>
        </p:nvSpPr>
        <p:spPr>
          <a:xfrm>
            <a:off x="73152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4892040" cy="45720"/>
          </a:xfrm>
          <a:prstGeom prst="rect">
            <a:avLst/>
          </a:prstGeom>
          <a:solidFill>
            <a:srgbClr val="A85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09160" cy="3566160"/>
          </a:xfrm>
          <a:prstGeom prst="rect">
            <a:avLst/>
          </a:prstGeom>
          <a:noFill/>
        </p:spPr>
        <p:txBody>
          <a:bodyPr wrap="square" lIns="0" tIns="0" rIns="0" bIns="0">
            <a:spAutoFit/>
          </a:bodyPr>
          <a:lstStyle/>
          <a:p>
            <a:pPr>
              <a:spcAft>
                <a:spcPts val="800"/>
              </a:spcAft>
              <a:defRPr sz="1450" b="1">
                <a:solidFill>
                  <a:srgbClr val="A85236"/>
                </a:solidFill>
                <a:latin typeface="Georgia"/>
              </a:defRPr>
            </a:pPr>
            <a:r>
              <a:t>Mes 7 consignes claires pour cette pose</a:t>
            </a:r>
          </a:p>
          <a:p>
            <a:pPr>
              <a:spcAft>
                <a:spcPts val="400"/>
              </a:spcAft>
              <a:defRPr sz="1100" b="1">
                <a:solidFill>
                  <a:srgbClr val="A85236"/>
                </a:solidFill>
                <a:latin typeface="Arial"/>
              </a:defRPr>
            </a:pPr>
            <a:r>
              <a:t>1. Le test des sourcils : </a:t>
            </a:r>
            <a:r>
              <a:rPr sz="1100" b="0">
                <a:solidFill>
                  <a:srgbClr val="1C1B19"/>
                </a:solidFill>
                <a:latin typeface="Arial"/>
              </a:rPr>
              <a:t>« Merci de ne pas trop serrer : je dois pouvoir lever les sourcils et cligner des yeux sans ressentir aucune tension. »</a:t>
            </a:r>
          </a:p>
          <a:p>
            <a:pPr>
              <a:spcAft>
                <a:spcPts val="400"/>
              </a:spcAft>
              <a:defRPr sz="1100" b="1">
                <a:solidFill>
                  <a:srgbClr val="A85236"/>
                </a:solidFill>
                <a:latin typeface="Arial"/>
              </a:defRPr>
            </a:pPr>
            <a:r>
              <a:t>2. Les tempes et la lisière libres : </a:t>
            </a:r>
            <a:r>
              <a:rPr sz="1100" b="0">
                <a:solidFill>
                  <a:srgbClr val="1C1B19"/>
                </a:solidFill>
                <a:latin typeface="Arial"/>
              </a:rPr>
              <a:t>« Laissez les petits cheveux fins de mon front et de mes tempes (baby hairs) totalement libres. Ne les attrapez pas dans les grosses tresses. »</a:t>
            </a:r>
          </a:p>
          <a:p>
            <a:pPr>
              <a:spcAft>
                <a:spcPts val="400"/>
              </a:spcAft>
              <a:defRPr sz="1100" b="1">
                <a:solidFill>
                  <a:srgbClr val="A85236"/>
                </a:solidFill>
                <a:latin typeface="Arial"/>
              </a:defRPr>
            </a:pPr>
            <a:r>
              <a:t>3. Des raies larges et confortables : </a:t>
            </a:r>
            <a:r>
              <a:rPr sz="1100" b="0">
                <a:solidFill>
                  <a:srgbClr val="1C1B19"/>
                </a:solidFill>
                <a:latin typeface="Arial"/>
              </a:rPr>
              <a:t>« Je préfère des séparations un peu plus larges pour que chaque mèche supporte moins de poids. »</a:t>
            </a:r>
          </a:p>
          <a:p>
            <a:pPr>
              <a:spcAft>
                <a:spcPts val="400"/>
              </a:spcAft>
              <a:defRPr sz="1100" b="1">
                <a:solidFill>
                  <a:srgbClr val="A85236"/>
                </a:solidFill>
                <a:latin typeface="Arial"/>
              </a:defRPr>
            </a:pPr>
            <a:r>
              <a:t>4. Des rajouts légers : </a:t>
            </a:r>
            <a:r>
              <a:rPr sz="1100" b="0">
                <a:solidFill>
                  <a:srgbClr val="1C1B19"/>
                </a:solidFill>
                <a:latin typeface="Arial"/>
              </a:rPr>
              <a:t>« Pas de rajouts de plus de 10 cm plus longs que mes cheveux, et pas trop épais. »</a:t>
            </a:r>
          </a:p>
        </p:txBody>
      </p:sp>
      <p:sp>
        <p:nvSpPr>
          <p:cNvPr id="9" name="Rounded Rectangle 8"/>
          <p:cNvSpPr/>
          <p:nvPr/>
        </p:nvSpPr>
        <p:spPr>
          <a:xfrm>
            <a:off x="626364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481328"/>
            <a:ext cx="4892040" cy="45720"/>
          </a:xfrm>
          <a:prstGeom prst="rect">
            <a:avLst/>
          </a:prstGeom>
          <a:solidFill>
            <a:srgbClr val="2B3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45920"/>
            <a:ext cx="4709160" cy="3566160"/>
          </a:xfrm>
          <a:prstGeom prst="rect">
            <a:avLst/>
          </a:prstGeom>
          <a:noFill/>
        </p:spPr>
        <p:txBody>
          <a:bodyPr wrap="square" lIns="0" tIns="0" rIns="0" bIns="0">
            <a:spAutoFit/>
          </a:bodyPr>
          <a:lstStyle/>
          <a:p>
            <a:pPr>
              <a:spcAft>
                <a:spcPts val="800"/>
              </a:spcAft>
              <a:defRPr sz="1450" b="1">
                <a:solidFill>
                  <a:srgbClr val="2B3E63"/>
                </a:solidFill>
                <a:latin typeface="Georgia"/>
              </a:defRPr>
            </a:pPr>
            <a:r>
              <a:t>Les 3 règles de sécurité au fauteuil</a:t>
            </a:r>
          </a:p>
          <a:p>
            <a:pPr>
              <a:spcAft>
                <a:spcPts val="400"/>
              </a:spcAft>
              <a:defRPr sz="1100" b="1">
                <a:solidFill>
                  <a:srgbClr val="2B3E63"/>
                </a:solidFill>
                <a:latin typeface="Arial"/>
              </a:defRPr>
            </a:pPr>
            <a:r>
              <a:t>5. Pas de colle ni de gel décapant : </a:t>
            </a:r>
            <a:r>
              <a:rPr sz="1100" b="0">
                <a:solidFill>
                  <a:srgbClr val="1C1B19"/>
                </a:solidFill>
                <a:latin typeface="Arial"/>
              </a:rPr>
              <a:t>« Je refuse toute colle à perruque sur ma peau ou gel à l'alcool fort qui dessèche mes racines. »</a:t>
            </a:r>
          </a:p>
          <a:p>
            <a:pPr>
              <a:spcAft>
                <a:spcPts val="400"/>
              </a:spcAft>
              <a:defRPr sz="1100" b="1">
                <a:solidFill>
                  <a:srgbClr val="2B3E63"/>
                </a:solidFill>
                <a:latin typeface="Arial"/>
              </a:defRPr>
            </a:pPr>
            <a:r>
              <a:t>6. Arrêtez si je dis que ça fait mal : </a:t>
            </a:r>
            <a:r>
              <a:rPr sz="1100" b="0">
                <a:solidFill>
                  <a:srgbClr val="1C1B19"/>
                </a:solidFill>
                <a:latin typeface="Arial"/>
              </a:rPr>
              <a:t>« Si je vous dis qu'une mèche tire trop, merci de la desserrer immédiatement. Je préfère un rendu plus souple à une lisière détruite. »</a:t>
            </a:r>
          </a:p>
          <a:p>
            <a:pPr>
              <a:spcAft>
                <a:spcPts val="400"/>
              </a:spcAft>
              <a:defRPr sz="1100" b="1">
                <a:solidFill>
                  <a:srgbClr val="2B3E63"/>
                </a:solidFill>
                <a:latin typeface="Arial"/>
              </a:defRPr>
            </a:pPr>
            <a:r>
              <a:t>7. Durée de portage convenue : </a:t>
            </a:r>
            <a:r>
              <a:rPr sz="1100" b="0">
                <a:solidFill>
                  <a:srgbClr val="1C1B19"/>
                </a:solidFill>
                <a:latin typeface="Arial"/>
              </a:rPr>
              <a:t>« J'ai prévu de garder cette coiffure 5 semaines maximum. »</a:t>
            </a:r>
          </a:p>
          <a:p>
            <a:pPr>
              <a:spcAft>
                <a:spcPts val="400"/>
              </a:spcAft>
              <a:defRPr sz="1100" b="1">
                <a:solidFill>
                  <a:srgbClr val="2B3E63"/>
                </a:solidFill>
                <a:latin typeface="Arial"/>
              </a:defRPr>
            </a:pPr>
            <a:r>
              <a:t>Pourquoi cette démarche est acceptée : </a:t>
            </a:r>
            <a:r>
              <a:rPr sz="1100" b="0">
                <a:solidFill>
                  <a:srgbClr val="1C1B19"/>
                </a:solidFill>
                <a:latin typeface="Arial"/>
              </a:rPr>
              <a:t>Les coiffeuses professionnelles respectent les clientes qui connaissent leurs cheveux et expriment leurs besoins avec courtoisie et précision.</a:t>
            </a:r>
          </a:p>
        </p:txBody>
      </p:sp>
      <p:sp>
        <p:nvSpPr>
          <p:cNvPr id="12" name="Rounded Rectangle 11"/>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Votre tête vous appartient. C'est vous qui vivez avec vos cheveux : vous avez le droit absolu de dire non à la douleur.</a:t>
            </a:r>
          </a:p>
        </p:txBody>
      </p:sp>
      <p:sp>
        <p:nvSpPr>
          <p:cNvPr id="14" name="Rectangle 13"/>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6" name="TextBox 15"/>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68 / 75</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PARTIE 4 · CHAPITRE 26 — PLANIFICATION ANNUELLE AU BÉNIN</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Le Calendrier Protecteur Annuel au rythme béninois</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Une alternance équilibrée entre tresses protectrices et fenêtres de repos au fil des saisons.</a:t>
            </a:r>
          </a:p>
        </p:txBody>
      </p:sp>
      <p:graphicFrame>
        <p:nvGraphicFramePr>
          <p:cNvPr id="6" name="Table 5"/>
          <p:cNvGraphicFramePr>
            <a:graphicFrameLocks noGrp="1"/>
          </p:cNvGraphicFramePr>
          <p:nvPr/>
        </p:nvGraphicFramePr>
        <p:xfrm>
          <a:off x="731520" y="1463040"/>
          <a:ext cx="10728655" cy="3840480"/>
        </p:xfrm>
        <a:graphic>
          <a:graphicData uri="http://schemas.openxmlformats.org/drawingml/2006/table">
            <a:tbl>
              <a:tblPr firstRow="1" bandRow="1">
                <a:tableStyleId>{5C22544A-7EE6-4342-B048-85BDC9FD1C3A}</a:tableStyleId>
              </a:tblPr>
              <a:tblGrid>
                <a:gridCol w="2682163"/>
                <a:gridCol w="2682163"/>
                <a:gridCol w="2682163"/>
                <a:gridCol w="2682166"/>
              </a:tblGrid>
              <a:tr h="548640">
                <a:tc>
                  <a:txBody>
                    <a:bodyPr wrap="square"/>
                    <a:lstStyle/>
                    <a:p>
                      <a:pPr>
                        <a:defRPr sz="1000" b="1">
                          <a:solidFill>
                            <a:srgbClr val="D9A13B"/>
                          </a:solidFill>
                          <a:latin typeface="Arial"/>
                        </a:defRPr>
                      </a:pPr>
                      <a:r>
                        <a:t>Période &amp; Saison</a:t>
                      </a:r>
                    </a:p>
                  </a:txBody>
                  <a:tcPr>
                    <a:solidFill>
                      <a:srgbClr val="1B2740"/>
                    </a:solidFill>
                  </a:tcPr>
                </a:tc>
                <a:tc>
                  <a:txBody>
                    <a:bodyPr wrap="square"/>
                    <a:lstStyle/>
                    <a:p>
                      <a:pPr>
                        <a:defRPr sz="1000" b="1">
                          <a:solidFill>
                            <a:srgbClr val="D9A13B"/>
                          </a:solidFill>
                          <a:latin typeface="Arial"/>
                        </a:defRPr>
                      </a:pPr>
                      <a:r>
                        <a:t>Climat béninois</a:t>
                      </a:r>
                    </a:p>
                  </a:txBody>
                  <a:tcPr>
                    <a:solidFill>
                      <a:srgbClr val="1B2740"/>
                    </a:solidFill>
                  </a:tcPr>
                </a:tc>
                <a:tc>
                  <a:txBody>
                    <a:bodyPr wrap="square"/>
                    <a:lstStyle/>
                    <a:p>
                      <a:pPr>
                        <a:defRPr sz="1000" b="1">
                          <a:solidFill>
                            <a:srgbClr val="D9A13B"/>
                          </a:solidFill>
                          <a:latin typeface="Arial"/>
                        </a:defRPr>
                      </a:pPr>
                      <a:r>
                        <a:t>Coiffure recommandée</a:t>
                      </a:r>
                    </a:p>
                  </a:txBody>
                  <a:tcPr>
                    <a:solidFill>
                      <a:srgbClr val="1B2740"/>
                    </a:solidFill>
                  </a:tcPr>
                </a:tc>
                <a:tc>
                  <a:txBody>
                    <a:bodyPr wrap="square"/>
                    <a:lstStyle/>
                    <a:p>
                      <a:pPr>
                        <a:defRPr sz="1000" b="1">
                          <a:solidFill>
                            <a:srgbClr val="D9A13B"/>
                          </a:solidFill>
                          <a:latin typeface="Arial"/>
                        </a:defRPr>
                      </a:pPr>
                      <a:r>
                        <a:t>Objectif de santé capillaire</a:t>
                      </a:r>
                    </a:p>
                  </a:txBody>
                  <a:tcPr>
                    <a:solidFill>
                      <a:srgbClr val="1B2740"/>
                    </a:solidFill>
                  </a:tcPr>
                </a:tc>
              </a:tr>
              <a:tr h="548640">
                <a:tc>
                  <a:txBody>
                    <a:bodyPr wrap="square"/>
                    <a:lstStyle/>
                    <a:p>
                      <a:pPr>
                        <a:defRPr sz="950" b="1">
                          <a:solidFill>
                            <a:srgbClr val="2B3E63"/>
                          </a:solidFill>
                          <a:latin typeface="Arial"/>
                        </a:defRPr>
                      </a:pPr>
                      <a:r>
                        <a:t>Décembre - Janvier</a:t>
                      </a:r>
                    </a:p>
                  </a:txBody>
                  <a:tcPr>
                    <a:solidFill>
                      <a:srgbClr val="FFFFFF"/>
                    </a:solidFill>
                  </a:tcPr>
                </a:tc>
                <a:tc>
                  <a:txBody>
                    <a:bodyPr wrap="square"/>
                    <a:lstStyle/>
                    <a:p>
                      <a:pPr>
                        <a:defRPr sz="950">
                          <a:solidFill>
                            <a:srgbClr val="1C1B19"/>
                          </a:solidFill>
                          <a:latin typeface="Arial"/>
                        </a:defRPr>
                      </a:pPr>
                      <a:r>
                        <a:t>Harmattan rude &amp; vent sec</a:t>
                      </a:r>
                    </a:p>
                  </a:txBody>
                  <a:tcPr>
                    <a:solidFill>
                      <a:srgbClr val="FFFFFF"/>
                    </a:solidFill>
                  </a:tcPr>
                </a:tc>
                <a:tc>
                  <a:txBody>
                    <a:bodyPr wrap="square"/>
                    <a:lstStyle/>
                    <a:p>
                      <a:pPr>
                        <a:defRPr sz="950">
                          <a:solidFill>
                            <a:srgbClr val="1C1B19"/>
                          </a:solidFill>
                          <a:latin typeface="Arial"/>
                        </a:defRPr>
                      </a:pPr>
                      <a:r>
                        <a:t>Knotless bien scellées au karité ou foulard wax</a:t>
                      </a:r>
                    </a:p>
                  </a:txBody>
                  <a:tcPr>
                    <a:solidFill>
                      <a:srgbClr val="FFFFFF"/>
                    </a:solidFill>
                  </a:tcPr>
                </a:tc>
                <a:tc>
                  <a:txBody>
                    <a:bodyPr wrap="square"/>
                    <a:lstStyle/>
                    <a:p>
                      <a:pPr>
                        <a:defRPr sz="950">
                          <a:solidFill>
                            <a:srgbClr val="1C1B19"/>
                          </a:solidFill>
                          <a:latin typeface="Arial"/>
                        </a:defRPr>
                      </a:pPr>
                      <a:r>
                        <a:t>Bouclier total contre l'évaporation et la poussière</a:t>
                      </a:r>
                    </a:p>
                  </a:txBody>
                  <a:tcPr>
                    <a:solidFill>
                      <a:srgbClr val="FFFFFF"/>
                    </a:solidFill>
                  </a:tcPr>
                </a:tc>
              </a:tr>
              <a:tr h="548640">
                <a:tc>
                  <a:txBody>
                    <a:bodyPr wrap="square"/>
                    <a:lstStyle/>
                    <a:p>
                      <a:pPr>
                        <a:defRPr sz="950" b="1">
                          <a:solidFill>
                            <a:srgbClr val="2B3E63"/>
                          </a:solidFill>
                          <a:latin typeface="Arial"/>
                        </a:defRPr>
                      </a:pPr>
                      <a:r>
                        <a:t>Février</a:t>
                      </a:r>
                    </a:p>
                  </a:txBody>
                  <a:tcPr>
                    <a:solidFill>
                      <a:srgbClr val="F5EEE0"/>
                    </a:solidFill>
                  </a:tcPr>
                </a:tc>
                <a:tc>
                  <a:txBody>
                    <a:bodyPr wrap="square"/>
                    <a:lstStyle/>
                    <a:p>
                      <a:pPr>
                        <a:defRPr sz="950">
                          <a:solidFill>
                            <a:srgbClr val="1C1B19"/>
                          </a:solidFill>
                          <a:latin typeface="Arial"/>
                        </a:defRPr>
                      </a:pPr>
                      <a:r>
                        <a:t>Fin de saison sèche</a:t>
                      </a:r>
                    </a:p>
                  </a:txBody>
                  <a:tcPr>
                    <a:solidFill>
                      <a:srgbClr val="F5EEE0"/>
                    </a:solidFill>
                  </a:tcPr>
                </a:tc>
                <a:tc>
                  <a:txBody>
                    <a:bodyPr wrap="square"/>
                    <a:lstStyle/>
                    <a:p>
                      <a:pPr>
                        <a:defRPr sz="950">
                          <a:solidFill>
                            <a:srgbClr val="1C1B19"/>
                          </a:solidFill>
                          <a:latin typeface="Arial"/>
                        </a:defRPr>
                      </a:pPr>
                      <a:r>
                        <a:t>MOIS DE REPOS : Cheveux libres, vanilles lâches</a:t>
                      </a:r>
                    </a:p>
                  </a:txBody>
                  <a:tcPr>
                    <a:solidFill>
                      <a:srgbClr val="F5EEE0"/>
                    </a:solidFill>
                  </a:tcPr>
                </a:tc>
                <a:tc>
                  <a:txBody>
                    <a:bodyPr wrap="square"/>
                    <a:lstStyle/>
                    <a:p>
                      <a:pPr>
                        <a:defRPr sz="950">
                          <a:solidFill>
                            <a:srgbClr val="1C1B19"/>
                          </a:solidFill>
                          <a:latin typeface="Arial"/>
                        </a:defRPr>
                      </a:pPr>
                      <a:r>
                        <a:t>Détox du cuir chevelu, bains d'huile tièdes hebdomadaires</a:t>
                      </a:r>
                    </a:p>
                  </a:txBody>
                  <a:tcPr>
                    <a:solidFill>
                      <a:srgbClr val="F5EEE0"/>
                    </a:solidFill>
                  </a:tcPr>
                </a:tc>
              </a:tr>
              <a:tr h="548640">
                <a:tc>
                  <a:txBody>
                    <a:bodyPr wrap="square"/>
                    <a:lstStyle/>
                    <a:p>
                      <a:pPr>
                        <a:defRPr sz="950" b="1">
                          <a:solidFill>
                            <a:srgbClr val="2B3E63"/>
                          </a:solidFill>
                          <a:latin typeface="Arial"/>
                        </a:defRPr>
                      </a:pPr>
                      <a:r>
                        <a:t>Mars - Avril</a:t>
                      </a:r>
                    </a:p>
                  </a:txBody>
                  <a:tcPr>
                    <a:solidFill>
                      <a:srgbClr val="FFFFFF"/>
                    </a:solidFill>
                  </a:tcPr>
                </a:tc>
                <a:tc>
                  <a:txBody>
                    <a:bodyPr wrap="square"/>
                    <a:lstStyle/>
                    <a:p>
                      <a:pPr>
                        <a:defRPr sz="950">
                          <a:solidFill>
                            <a:srgbClr val="1C1B19"/>
                          </a:solidFill>
                          <a:latin typeface="Arial"/>
                        </a:defRPr>
                      </a:pPr>
                      <a:r>
                        <a:t>Chaleur intense avant les pluies</a:t>
                      </a:r>
                    </a:p>
                  </a:txBody>
                  <a:tcPr>
                    <a:solidFill>
                      <a:srgbClr val="FFFFFF"/>
                    </a:solidFill>
                  </a:tcPr>
                </a:tc>
                <a:tc>
                  <a:txBody>
                    <a:bodyPr wrap="square"/>
                    <a:lstStyle/>
                    <a:p>
                      <a:pPr>
                        <a:defRPr sz="950">
                          <a:solidFill>
                            <a:srgbClr val="1C1B19"/>
                          </a:solidFill>
                          <a:latin typeface="Arial"/>
                        </a:defRPr>
                      </a:pPr>
                      <a:r>
                        <a:t>Nattes collées simples ou twists légères</a:t>
                      </a:r>
                    </a:p>
                  </a:txBody>
                  <a:tcPr>
                    <a:solidFill>
                      <a:srgbClr val="FFFFFF"/>
                    </a:solidFill>
                  </a:tcPr>
                </a:tc>
                <a:tc>
                  <a:txBody>
                    <a:bodyPr wrap="square"/>
                    <a:lstStyle/>
                    <a:p>
                      <a:pPr>
                        <a:defRPr sz="950">
                          <a:solidFill>
                            <a:srgbClr val="1C1B19"/>
                          </a:solidFill>
                          <a:latin typeface="Arial"/>
                        </a:defRPr>
                      </a:pPr>
                      <a:r>
                        <a:t>Aérer les racines, soins hydratants légers à l'aloé</a:t>
                      </a:r>
                    </a:p>
                  </a:txBody>
                  <a:tcPr>
                    <a:solidFill>
                      <a:srgbClr val="FFFFFF"/>
                    </a:solidFill>
                  </a:tcPr>
                </a:tc>
              </a:tr>
              <a:tr h="548640">
                <a:tc>
                  <a:txBody>
                    <a:bodyPr wrap="square"/>
                    <a:lstStyle/>
                    <a:p>
                      <a:pPr>
                        <a:defRPr sz="950" b="1">
                          <a:solidFill>
                            <a:srgbClr val="2B3E63"/>
                          </a:solidFill>
                          <a:latin typeface="Arial"/>
                        </a:defRPr>
                      </a:pPr>
                      <a:r>
                        <a:t>Mai - Juillet</a:t>
                      </a:r>
                    </a:p>
                  </a:txBody>
                  <a:tcPr>
                    <a:solidFill>
                      <a:srgbClr val="F5EEE0"/>
                    </a:solidFill>
                  </a:tcPr>
                </a:tc>
                <a:tc>
                  <a:txBody>
                    <a:bodyPr wrap="square"/>
                    <a:lstStyle/>
                    <a:p>
                      <a:pPr>
                        <a:defRPr sz="950">
                          <a:solidFill>
                            <a:srgbClr val="1C1B19"/>
                          </a:solidFill>
                          <a:latin typeface="Arial"/>
                        </a:defRPr>
                      </a:pPr>
                      <a:r>
                        <a:t>Grande saison des pluies</a:t>
                      </a:r>
                    </a:p>
                  </a:txBody>
                  <a:tcPr>
                    <a:solidFill>
                      <a:srgbClr val="F5EEE0"/>
                    </a:solidFill>
                  </a:tcPr>
                </a:tc>
                <a:tc>
                  <a:txBody>
                    <a:bodyPr wrap="square"/>
                    <a:lstStyle/>
                    <a:p>
                      <a:pPr>
                        <a:defRPr sz="950">
                          <a:solidFill>
                            <a:srgbClr val="1C1B19"/>
                          </a:solidFill>
                          <a:latin typeface="Arial"/>
                        </a:defRPr>
                      </a:pPr>
                      <a:r>
                        <a:t>Vanilles définies au gel de lin ou afro doux</a:t>
                      </a:r>
                    </a:p>
                  </a:txBody>
                  <a:tcPr>
                    <a:solidFill>
                      <a:srgbClr val="F5EEE0"/>
                    </a:solidFill>
                  </a:tcPr>
                </a:tc>
                <a:tc>
                  <a:txBody>
                    <a:bodyPr wrap="square"/>
                    <a:lstStyle/>
                    <a:p>
                      <a:pPr>
                        <a:defRPr sz="950">
                          <a:solidFill>
                            <a:srgbClr val="1C1B19"/>
                          </a:solidFill>
                          <a:latin typeface="Arial"/>
                        </a:defRPr>
                      </a:pPr>
                      <a:r>
                        <a:t>Profiter de l'hygrométrie ambiante pour hydrater</a:t>
                      </a:r>
                    </a:p>
                  </a:txBody>
                  <a:tcPr>
                    <a:solidFill>
                      <a:srgbClr val="F5EEE0"/>
                    </a:solidFill>
                  </a:tcPr>
                </a:tc>
              </a:tr>
              <a:tr h="548640">
                <a:tc>
                  <a:txBody>
                    <a:bodyPr wrap="square"/>
                    <a:lstStyle/>
                    <a:p>
                      <a:pPr>
                        <a:defRPr sz="950" b="1">
                          <a:solidFill>
                            <a:srgbClr val="2B3E63"/>
                          </a:solidFill>
                          <a:latin typeface="Arial"/>
                        </a:defRPr>
                      </a:pPr>
                      <a:r>
                        <a:t>Août</a:t>
                      </a:r>
                    </a:p>
                  </a:txBody>
                  <a:tcPr>
                    <a:solidFill>
                      <a:srgbClr val="FFFFFF"/>
                    </a:solidFill>
                  </a:tcPr>
                </a:tc>
                <a:tc>
                  <a:txBody>
                    <a:bodyPr wrap="square"/>
                    <a:lstStyle/>
                    <a:p>
                      <a:pPr>
                        <a:defRPr sz="950">
                          <a:solidFill>
                            <a:srgbClr val="1C1B19"/>
                          </a:solidFill>
                          <a:latin typeface="Arial"/>
                        </a:defRPr>
                      </a:pPr>
                      <a:r>
                        <a:t>Petite saison sèche / Pause</a:t>
                      </a:r>
                    </a:p>
                  </a:txBody>
                  <a:tcPr>
                    <a:solidFill>
                      <a:srgbClr val="FFFFFF"/>
                    </a:solidFill>
                  </a:tcPr>
                </a:tc>
                <a:tc>
                  <a:txBody>
                    <a:bodyPr wrap="square"/>
                    <a:lstStyle/>
                    <a:p>
                      <a:pPr>
                        <a:defRPr sz="950">
                          <a:solidFill>
                            <a:srgbClr val="1C1B19"/>
                          </a:solidFill>
                          <a:latin typeface="Arial"/>
                        </a:defRPr>
                      </a:pPr>
                      <a:r>
                        <a:t>MOIS DE REPOS : Cheveux au naturel, masques miel</a:t>
                      </a:r>
                    </a:p>
                  </a:txBody>
                  <a:tcPr>
                    <a:solidFill>
                      <a:srgbClr val="FFFFFF"/>
                    </a:solidFill>
                  </a:tcPr>
                </a:tc>
                <a:tc>
                  <a:txBody>
                    <a:bodyPr wrap="square"/>
                    <a:lstStyle/>
                    <a:p>
                      <a:pPr>
                        <a:defRPr sz="950">
                          <a:solidFill>
                            <a:srgbClr val="1C1B19"/>
                          </a:solidFill>
                          <a:latin typeface="Arial"/>
                        </a:defRPr>
                      </a:pPr>
                      <a:r>
                        <a:t>Bilan de mi-année, coupe légère des pointes (0,5 cm)</a:t>
                      </a:r>
                    </a:p>
                  </a:txBody>
                  <a:tcPr>
                    <a:solidFill>
                      <a:srgbClr val="FFFFFF"/>
                    </a:solidFill>
                  </a:tcPr>
                </a:tc>
              </a:tr>
              <a:tr h="548640">
                <a:tc>
                  <a:txBody>
                    <a:bodyPr wrap="square"/>
                    <a:lstStyle/>
                    <a:p>
                      <a:pPr>
                        <a:defRPr sz="950" b="1">
                          <a:solidFill>
                            <a:srgbClr val="2B3E63"/>
                          </a:solidFill>
                          <a:latin typeface="Arial"/>
                        </a:defRPr>
                      </a:pPr>
                      <a:r>
                        <a:t>Septembre - Novembre</a:t>
                      </a:r>
                    </a:p>
                  </a:txBody>
                  <a:tcPr>
                    <a:solidFill>
                      <a:srgbClr val="F5EEE0"/>
                    </a:solidFill>
                  </a:tcPr>
                </a:tc>
                <a:tc>
                  <a:txBody>
                    <a:bodyPr wrap="square"/>
                    <a:lstStyle/>
                    <a:p>
                      <a:pPr>
                        <a:defRPr sz="950">
                          <a:solidFill>
                            <a:srgbClr val="1C1B19"/>
                          </a:solidFill>
                          <a:latin typeface="Arial"/>
                        </a:defRPr>
                      </a:pPr>
                      <a:r>
                        <a:t>Rentrée &amp; reprise du travail</a:t>
                      </a:r>
                    </a:p>
                  </a:txBody>
                  <a:tcPr>
                    <a:solidFill>
                      <a:srgbClr val="F5EEE0"/>
                    </a:solidFill>
                  </a:tcPr>
                </a:tc>
                <a:tc>
                  <a:txBody>
                    <a:bodyPr wrap="square"/>
                    <a:lstStyle/>
                    <a:p>
                      <a:pPr>
                        <a:defRPr sz="950">
                          <a:solidFill>
                            <a:srgbClr val="1C1B19"/>
                          </a:solidFill>
                          <a:latin typeface="Arial"/>
                        </a:defRPr>
                      </a:pPr>
                      <a:r>
                        <a:t>Tresses protectrices moyennes confortables</a:t>
                      </a:r>
                    </a:p>
                  </a:txBody>
                  <a:tcPr>
                    <a:solidFill>
                      <a:srgbClr val="F5EEE0"/>
                    </a:solidFill>
                  </a:tcPr>
                </a:tc>
                <a:tc>
                  <a:txBody>
                    <a:bodyPr wrap="square"/>
                    <a:lstStyle/>
                    <a:p>
                      <a:pPr>
                        <a:defRPr sz="950">
                          <a:solidFill>
                            <a:srgbClr val="1C1B19"/>
                          </a:solidFill>
                          <a:latin typeface="Arial"/>
                        </a:defRPr>
                      </a:pPr>
                      <a:r>
                        <a:t>Praticité du quotidien tout en hydratant 2×/semaine</a:t>
                      </a:r>
                    </a:p>
                  </a:txBody>
                  <a:tcPr>
                    <a:solidFill>
                      <a:srgbClr val="F5EEE0"/>
                    </a:solidFill>
                  </a:tcPr>
                </a:tc>
              </a:tr>
            </a:tbl>
          </a:graphicData>
        </a:graphic>
      </p:graphicFrame>
      <p:sp>
        <p:nvSpPr>
          <p:cNvPr id="7" name="Rounded Rectangle 6"/>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Bilan de l'année : 4 à 5 poses de tresses maximum, entrecoupées de vraies fenêtres de liberté. Vos cheveux respireront comme jamais.</a:t>
            </a:r>
          </a:p>
        </p:txBody>
      </p:sp>
      <p:sp>
        <p:nvSpPr>
          <p:cNvPr id="9" name="Rectangle 8"/>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1" name="TextBox 10"/>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69 / 75</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731520"/>
            <a:ext cx="10362895" cy="5394960"/>
          </a:xfrm>
          <a:prstGeom prst="rect">
            <a:avLst/>
          </a:prstGeom>
          <a:noFill/>
          <a:ln w="15240">
            <a:solidFill>
              <a:srgbClr val="B88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188720"/>
            <a:ext cx="9445752" cy="365760"/>
          </a:xfrm>
          <a:prstGeom prst="rect">
            <a:avLst/>
          </a:prstGeom>
          <a:noFill/>
        </p:spPr>
        <p:txBody>
          <a:bodyPr wrap="none" lIns="0" tIns="0" rIns="0" bIns="0">
            <a:spAutoFit/>
          </a:bodyPr>
          <a:lstStyle/>
          <a:p>
            <a:pPr>
              <a:defRPr sz="1200" b="1">
                <a:solidFill>
                  <a:srgbClr val="D9A13B"/>
                </a:solidFill>
                <a:latin typeface="Arial"/>
              </a:defRPr>
            </a:pPr>
            <a:r>
              <a:t>BOÎTE À OUTILS PRATIQUE</a:t>
            </a:r>
          </a:p>
        </p:txBody>
      </p:sp>
      <p:sp>
        <p:nvSpPr>
          <p:cNvPr id="5" name="TextBox 4"/>
          <p:cNvSpPr txBox="1"/>
          <p:nvPr/>
        </p:nvSpPr>
        <p:spPr>
          <a:xfrm>
            <a:off x="1371600" y="1645920"/>
            <a:ext cx="9445752" cy="1097280"/>
          </a:xfrm>
          <a:prstGeom prst="rect">
            <a:avLst/>
          </a:prstGeom>
          <a:noFill/>
        </p:spPr>
        <p:txBody>
          <a:bodyPr wrap="square" lIns="0" tIns="0" rIns="0" bIns="0">
            <a:spAutoFit/>
          </a:bodyPr>
          <a:lstStyle/>
          <a:p>
            <a:pPr>
              <a:defRPr sz="3600" b="1">
                <a:solidFill>
                  <a:srgbClr val="FAF6F0"/>
                </a:solidFill>
                <a:latin typeface="Georgia"/>
              </a:defRPr>
            </a:pPr>
            <a:r>
              <a:t>Vos fiches d'action et d'urgence</a:t>
            </a:r>
          </a:p>
        </p:txBody>
      </p:sp>
      <p:sp>
        <p:nvSpPr>
          <p:cNvPr id="6" name="Rectangle 5"/>
          <p:cNvSpPr/>
          <p:nvPr/>
        </p:nvSpPr>
        <p:spPr>
          <a:xfrm>
            <a:off x="1371600" y="2926080"/>
            <a:ext cx="3200400" cy="36576"/>
          </a:xfrm>
          <a:prstGeom prst="rect">
            <a:avLst/>
          </a:prstGeom>
          <a:solidFill>
            <a:srgbClr val="D9A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154680"/>
            <a:ext cx="9445752" cy="1280160"/>
          </a:xfrm>
          <a:prstGeom prst="rect">
            <a:avLst/>
          </a:prstGeom>
          <a:noFill/>
        </p:spPr>
        <p:txBody>
          <a:bodyPr wrap="square" lIns="0" tIns="0" rIns="0" bIns="0">
            <a:spAutoFit/>
          </a:bodyPr>
          <a:lstStyle/>
          <a:p>
            <a:pPr>
              <a:defRPr sz="1800" i="1">
                <a:solidFill>
                  <a:srgbClr val="D9A13B"/>
                </a:solidFill>
                <a:latin typeface="Georgia"/>
              </a:defRPr>
            </a:pPr>
            <a:r>
              <a:t>« Tout ce qu'il vous faut pour passer de la théorie à la pratique immédiate dans votre cuisine et au marché. »</a:t>
            </a:r>
          </a:p>
        </p:txBody>
      </p:sp>
      <p:sp>
        <p:nvSpPr>
          <p:cNvPr id="8" name="TextBox 7"/>
          <p:cNvSpPr txBox="1"/>
          <p:nvPr/>
        </p:nvSpPr>
        <p:spPr>
          <a:xfrm>
            <a:off x="1371600" y="4572000"/>
            <a:ext cx="9445752" cy="914400"/>
          </a:xfrm>
          <a:prstGeom prst="rect">
            <a:avLst/>
          </a:prstGeom>
          <a:noFill/>
        </p:spPr>
        <p:txBody>
          <a:bodyPr wrap="square" lIns="0" tIns="0" rIns="0" bIns="0">
            <a:spAutoFit/>
          </a:bodyPr>
          <a:lstStyle/>
          <a:p>
            <a:pPr>
              <a:defRPr sz="1300">
                <a:solidFill>
                  <a:srgbClr val="D2C8B8"/>
                </a:solidFill>
                <a:latin typeface="Arial"/>
              </a:defRPr>
            </a:pPr>
            <a:r>
              <a:t>Index d'urgence, panier de courses économique, carnet de suivi mensuel et glossaire des termes locaux.</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BOÎTE À OUTILS · SECOURS IMMÉDIAT</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L'Index d'urgence capillaire : « Que faire si... »</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Trouvez en 5 secondes la solution exacte au problème que vous rencontrez aujourd'hui.</a:t>
            </a:r>
          </a:p>
        </p:txBody>
      </p:sp>
      <p:sp>
        <p:nvSpPr>
          <p:cNvPr id="6" name="Rounded Rectangle 5"/>
          <p:cNvSpPr/>
          <p:nvPr/>
        </p:nvSpPr>
        <p:spPr>
          <a:xfrm>
            <a:off x="73152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481328"/>
            <a:ext cx="4892040" cy="45720"/>
          </a:xfrm>
          <a:prstGeom prst="rect">
            <a:avLst/>
          </a:prstGeom>
          <a:solidFill>
            <a:srgbClr val="A85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09160" cy="3566160"/>
          </a:xfrm>
          <a:prstGeom prst="rect">
            <a:avLst/>
          </a:prstGeom>
          <a:noFill/>
        </p:spPr>
        <p:txBody>
          <a:bodyPr wrap="square" lIns="0" tIns="0" rIns="0" bIns="0">
            <a:spAutoFit/>
          </a:bodyPr>
          <a:lstStyle/>
          <a:p>
            <a:pPr>
              <a:spcAft>
                <a:spcPts val="800"/>
              </a:spcAft>
              <a:defRPr sz="1450" b="1">
                <a:solidFill>
                  <a:srgbClr val="A85236"/>
                </a:solidFill>
                <a:latin typeface="Georgia"/>
              </a:defRPr>
            </a:pPr>
            <a:r>
              <a:t>Problèmes de fibre &amp; casse</a:t>
            </a:r>
          </a:p>
          <a:p>
            <a:pPr>
              <a:spcAft>
                <a:spcPts val="400"/>
              </a:spcAft>
              <a:defRPr sz="1100" b="1">
                <a:solidFill>
                  <a:srgbClr val="A85236"/>
                </a:solidFill>
                <a:latin typeface="Arial"/>
              </a:defRPr>
            </a:pPr>
            <a:r>
              <a:t>« Mes cheveux cassent au brossage et tombent en petits morceaux » : </a:t>
            </a:r>
            <a:r>
              <a:rPr sz="1100" b="0">
                <a:solidFill>
                  <a:srgbClr val="1C1B19"/>
                </a:solidFill>
                <a:latin typeface="Arial"/>
              </a:rPr>
              <a:t>URGENCE : Pré-poo coco 30 min + masque à l'œuf entier (protéines) + démêlage exclusivement aux doigts avec du gel de gombo. Bannir le peigne fin pendant 15 jours.</a:t>
            </a:r>
          </a:p>
          <a:p>
            <a:pPr>
              <a:spcAft>
                <a:spcPts val="400"/>
              </a:spcAft>
              <a:defRPr sz="1100" b="1">
                <a:solidFill>
                  <a:srgbClr val="A85236"/>
                </a:solidFill>
                <a:latin typeface="Arial"/>
              </a:defRPr>
            </a:pPr>
            <a:r>
              <a:t>« Mes cheveux sont rêches et secs comme de la paille » : </a:t>
            </a:r>
            <a:r>
              <a:rPr sz="1100" b="0">
                <a:solidFill>
                  <a:srgbClr val="1C1B19"/>
                </a:solidFill>
                <a:latin typeface="Arial"/>
              </a:rPr>
              <a:t>URGENCE : Bain d'huile d'olive tiède + masque généreux au miel et yaourt + scellage au beurre de karité sur cheveux humides chaque soir.</a:t>
            </a:r>
          </a:p>
          <a:p>
            <a:pPr>
              <a:spcAft>
                <a:spcPts val="400"/>
              </a:spcAft>
              <a:defRPr sz="1100" b="1">
                <a:solidFill>
                  <a:srgbClr val="A85236"/>
                </a:solidFill>
                <a:latin typeface="Arial"/>
              </a:defRPr>
            </a:pPr>
            <a:r>
              <a:t>« Mes cheveux rétrécissent trop sous la douche (shrinkage) » : </a:t>
            </a:r>
            <a:r>
              <a:rPr sz="1100" b="0">
                <a:solidFill>
                  <a:srgbClr val="1C1B19"/>
                </a:solidFill>
                <a:latin typeface="Arial"/>
              </a:rPr>
              <a:t>RASSURANCE : Le shrinkage est le signe suprême que votre cheveu est en parfaite santé ! Si vous voulez étirer la longueur sans fer chaud, faites des vanilles ou la méthode du fil africain.</a:t>
            </a:r>
          </a:p>
        </p:txBody>
      </p:sp>
      <p:sp>
        <p:nvSpPr>
          <p:cNvPr id="9" name="Rounded Rectangle 8"/>
          <p:cNvSpPr/>
          <p:nvPr/>
        </p:nvSpPr>
        <p:spPr>
          <a:xfrm>
            <a:off x="6263640" y="1463040"/>
            <a:ext cx="5166360" cy="388620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481328"/>
            <a:ext cx="4892040" cy="45720"/>
          </a:xfrm>
          <a:prstGeom prst="rect">
            <a:avLst/>
          </a:prstGeom>
          <a:solidFill>
            <a:srgbClr val="2B3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45920"/>
            <a:ext cx="4709160" cy="3566160"/>
          </a:xfrm>
          <a:prstGeom prst="rect">
            <a:avLst/>
          </a:prstGeom>
          <a:noFill/>
        </p:spPr>
        <p:txBody>
          <a:bodyPr wrap="square" lIns="0" tIns="0" rIns="0" bIns="0">
            <a:spAutoFit/>
          </a:bodyPr>
          <a:lstStyle/>
          <a:p>
            <a:pPr>
              <a:spcAft>
                <a:spcPts val="800"/>
              </a:spcAft>
              <a:defRPr sz="1450" b="1">
                <a:solidFill>
                  <a:srgbClr val="2B3E63"/>
                </a:solidFill>
                <a:latin typeface="Georgia"/>
              </a:defRPr>
            </a:pPr>
            <a:r>
              <a:t>Problèmes de cuir chevelu &amp; tempes</a:t>
            </a:r>
          </a:p>
          <a:p>
            <a:pPr>
              <a:spcAft>
                <a:spcPts val="400"/>
              </a:spcAft>
              <a:defRPr sz="1100" b="1">
                <a:solidFill>
                  <a:srgbClr val="2B3E63"/>
                </a:solidFill>
                <a:latin typeface="Arial"/>
              </a:defRPr>
            </a:pPr>
            <a:r>
              <a:t>« Mon cuir chevelu me démange terriblement sous mes nattes » : </a:t>
            </a:r>
            <a:r>
              <a:rPr sz="1100" b="0">
                <a:solidFill>
                  <a:srgbClr val="1C1B19"/>
                </a:solidFill>
                <a:latin typeface="Arial"/>
              </a:rPr>
              <a:t>URGENCE : Imbibez un disque de coton d'eau tiède vinaigrée et tapotez entre vos raies. Vaporisez du gel d'aloé vera frais mélangé à 2 gouttes d'huile de tea tree.</a:t>
            </a:r>
          </a:p>
          <a:p>
            <a:pPr>
              <a:spcAft>
                <a:spcPts val="400"/>
              </a:spcAft>
              <a:defRPr sz="1100" b="1">
                <a:solidFill>
                  <a:srgbClr val="2B3E63"/>
                </a:solidFill>
                <a:latin typeface="Arial"/>
              </a:defRPr>
            </a:pPr>
            <a:r>
              <a:t>« Mes tempes s'éclaircissent et ma lisière recule » : </a:t>
            </a:r>
            <a:r>
              <a:rPr sz="1100" b="0">
                <a:solidFill>
                  <a:srgbClr val="1C1B19"/>
                </a:solidFill>
                <a:latin typeface="Arial"/>
              </a:rPr>
              <a:t>URGENCE : DÉPOSE IMMÉDIATE. Zéro tension pendant 3 mois. Massez les zones dégarnies chaque soir avec ½ cuillère à café d'huile de ricin diluée à 50 % dans l'huile de coco.</a:t>
            </a:r>
          </a:p>
          <a:p>
            <a:pPr>
              <a:spcAft>
                <a:spcPts val="400"/>
              </a:spcAft>
              <a:defRPr sz="1100" b="1">
                <a:solidFill>
                  <a:srgbClr val="2B3E63"/>
                </a:solidFill>
                <a:latin typeface="Arial"/>
              </a:defRPr>
            </a:pPr>
            <a:r>
              <a:t>« J'ai plein de pellicules blanches sèches » : </a:t>
            </a:r>
            <a:r>
              <a:rPr sz="1100" b="0">
                <a:solidFill>
                  <a:srgbClr val="1C1B19"/>
                </a:solidFill>
                <a:latin typeface="Arial"/>
              </a:rPr>
              <a:t>URGENCE : Évitez de gratter avec les ongles. Clarification au savon noir dilué + dernier rinçage au vinaigre de cidre non rincé.</a:t>
            </a:r>
          </a:p>
        </p:txBody>
      </p:sp>
      <p:sp>
        <p:nvSpPr>
          <p:cNvPr id="12" name="Rounded Rectangle 11"/>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Cet index d'urgence est votre médecin de poche capillaire : gardez-le sous la main pour ne plus jamais paniquer.</a:t>
            </a:r>
          </a:p>
        </p:txBody>
      </p:sp>
      <p:sp>
        <p:nvSpPr>
          <p:cNvPr id="14" name="Rectangle 13"/>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6" name="TextBox 15"/>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71 / 75</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BOÎTE À OUTILS · ÉCONOMIE DU FOYER</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Le panier de courses à moins de 3 000 FCFA</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Tout ce dont vous avez besoin pour 3 mois complets de soins au marché de Dantokpa ou Ganhi.</a:t>
            </a:r>
          </a:p>
        </p:txBody>
      </p:sp>
      <p:graphicFrame>
        <p:nvGraphicFramePr>
          <p:cNvPr id="6" name="Table 5"/>
          <p:cNvGraphicFramePr>
            <a:graphicFrameLocks noGrp="1"/>
          </p:cNvGraphicFramePr>
          <p:nvPr/>
        </p:nvGraphicFramePr>
        <p:xfrm>
          <a:off x="731520" y="1463040"/>
          <a:ext cx="10728655" cy="3840480"/>
        </p:xfrm>
        <a:graphic>
          <a:graphicData uri="http://schemas.openxmlformats.org/drawingml/2006/table">
            <a:tbl>
              <a:tblPr firstRow="1" bandRow="1">
                <a:tableStyleId>{5C22544A-7EE6-4342-B048-85BDC9FD1C3A}</a:tableStyleId>
              </a:tblPr>
              <a:tblGrid>
                <a:gridCol w="2145731"/>
                <a:gridCol w="2145731"/>
                <a:gridCol w="2145731"/>
                <a:gridCol w="2145731"/>
                <a:gridCol w="2145731"/>
              </a:tblGrid>
              <a:tr h="548640">
                <a:tc>
                  <a:txBody>
                    <a:bodyPr wrap="square"/>
                    <a:lstStyle/>
                    <a:p>
                      <a:pPr>
                        <a:defRPr sz="1000" b="1">
                          <a:solidFill>
                            <a:srgbClr val="D9A13B"/>
                          </a:solidFill>
                          <a:latin typeface="Arial"/>
                        </a:defRPr>
                      </a:pPr>
                      <a:r>
                        <a:t>Ingrédient</a:t>
                      </a:r>
                    </a:p>
                  </a:txBody>
                  <a:tcPr>
                    <a:solidFill>
                      <a:srgbClr val="1B2740"/>
                    </a:solidFill>
                  </a:tcPr>
                </a:tc>
                <a:tc>
                  <a:txBody>
                    <a:bodyPr wrap="square"/>
                    <a:lstStyle/>
                    <a:p>
                      <a:pPr>
                        <a:defRPr sz="1000" b="1">
                          <a:solidFill>
                            <a:srgbClr val="D9A13B"/>
                          </a:solidFill>
                          <a:latin typeface="Arial"/>
                        </a:defRPr>
                      </a:pPr>
                      <a:r>
                        <a:t>Où l'acheter au Bénin</a:t>
                      </a:r>
                    </a:p>
                  </a:txBody>
                  <a:tcPr>
                    <a:solidFill>
                      <a:srgbClr val="1B2740"/>
                    </a:solidFill>
                  </a:tcPr>
                </a:tc>
                <a:tc>
                  <a:txBody>
                    <a:bodyPr wrap="square"/>
                    <a:lstStyle/>
                    <a:p>
                      <a:pPr>
                        <a:defRPr sz="1000" b="1">
                          <a:solidFill>
                            <a:srgbClr val="D9A13B"/>
                          </a:solidFill>
                          <a:latin typeface="Arial"/>
                        </a:defRPr>
                      </a:pPr>
                      <a:r>
                        <a:t>Quantité</a:t>
                      </a:r>
                    </a:p>
                  </a:txBody>
                  <a:tcPr>
                    <a:solidFill>
                      <a:srgbClr val="1B2740"/>
                    </a:solidFill>
                  </a:tcPr>
                </a:tc>
                <a:tc>
                  <a:txBody>
                    <a:bodyPr wrap="square"/>
                    <a:lstStyle/>
                    <a:p>
                      <a:pPr>
                        <a:defRPr sz="1000" b="1">
                          <a:solidFill>
                            <a:srgbClr val="D9A13B"/>
                          </a:solidFill>
                          <a:latin typeface="Arial"/>
                        </a:defRPr>
                      </a:pPr>
                      <a:r>
                        <a:t>Prix indicatif</a:t>
                      </a:r>
                    </a:p>
                  </a:txBody>
                  <a:tcPr>
                    <a:solidFill>
                      <a:srgbClr val="1B2740"/>
                    </a:solidFill>
                  </a:tcPr>
                </a:tc>
                <a:tc>
                  <a:txBody>
                    <a:bodyPr wrap="square"/>
                    <a:lstStyle/>
                    <a:p>
                      <a:pPr>
                        <a:defRPr sz="1000" b="1">
                          <a:solidFill>
                            <a:srgbClr val="D9A13B"/>
                          </a:solidFill>
                          <a:latin typeface="Arial"/>
                        </a:defRPr>
                      </a:pPr>
                      <a:r>
                        <a:t>Durée d'utilisation</a:t>
                      </a:r>
                    </a:p>
                  </a:txBody>
                  <a:tcPr>
                    <a:solidFill>
                      <a:srgbClr val="1B2740"/>
                    </a:solidFill>
                  </a:tcPr>
                </a:tc>
              </a:tr>
              <a:tr h="548640">
                <a:tc>
                  <a:txBody>
                    <a:bodyPr wrap="square"/>
                    <a:lstStyle/>
                    <a:p>
                      <a:pPr>
                        <a:defRPr sz="950" b="1">
                          <a:solidFill>
                            <a:srgbClr val="2B3E63"/>
                          </a:solidFill>
                          <a:latin typeface="Arial"/>
                        </a:defRPr>
                      </a:pPr>
                      <a:r>
                        <a:t>Beurre de karité brut</a:t>
                      </a:r>
                    </a:p>
                  </a:txBody>
                  <a:tcPr>
                    <a:solidFill>
                      <a:srgbClr val="FFFFFF"/>
                    </a:solidFill>
                  </a:tcPr>
                </a:tc>
                <a:tc>
                  <a:txBody>
                    <a:bodyPr wrap="square"/>
                    <a:lstStyle/>
                    <a:p>
                      <a:pPr>
                        <a:defRPr sz="950">
                          <a:solidFill>
                            <a:srgbClr val="1C1B19"/>
                          </a:solidFill>
                          <a:latin typeface="Arial"/>
                        </a:defRPr>
                      </a:pPr>
                      <a:r>
                        <a:t>Étal des bonnes dames du Nord (Dantokpa)</a:t>
                      </a:r>
                    </a:p>
                  </a:txBody>
                  <a:tcPr>
                    <a:solidFill>
                      <a:srgbClr val="FFFFFF"/>
                    </a:solidFill>
                  </a:tcPr>
                </a:tc>
                <a:tc>
                  <a:txBody>
                    <a:bodyPr wrap="square"/>
                    <a:lstStyle/>
                    <a:p>
                      <a:pPr>
                        <a:defRPr sz="950">
                          <a:solidFill>
                            <a:srgbClr val="1C1B19"/>
                          </a:solidFill>
                          <a:latin typeface="Arial"/>
                        </a:defRPr>
                      </a:pPr>
                      <a:r>
                        <a:t>1 grand pot</a:t>
                      </a:r>
                    </a:p>
                  </a:txBody>
                  <a:tcPr>
                    <a:solidFill>
                      <a:srgbClr val="FFFFFF"/>
                    </a:solidFill>
                  </a:tcPr>
                </a:tc>
                <a:tc>
                  <a:txBody>
                    <a:bodyPr wrap="square"/>
                    <a:lstStyle/>
                    <a:p>
                      <a:pPr>
                        <a:defRPr sz="950">
                          <a:solidFill>
                            <a:srgbClr val="1C1B19"/>
                          </a:solidFill>
                          <a:latin typeface="Arial"/>
                        </a:defRPr>
                      </a:pPr>
                      <a:r>
                        <a:t>500 FCFA</a:t>
                      </a:r>
                    </a:p>
                  </a:txBody>
                  <a:tcPr>
                    <a:solidFill>
                      <a:srgbClr val="FFFFFF"/>
                    </a:solidFill>
                  </a:tcPr>
                </a:tc>
                <a:tc>
                  <a:txBody>
                    <a:bodyPr wrap="square"/>
                    <a:lstStyle/>
                    <a:p>
                      <a:pPr>
                        <a:defRPr sz="950">
                          <a:solidFill>
                            <a:srgbClr val="1C1B19"/>
                          </a:solidFill>
                          <a:latin typeface="Arial"/>
                        </a:defRPr>
                      </a:pPr>
                      <a:r>
                        <a:t>3 à 4 mois de scellage</a:t>
                      </a:r>
                    </a:p>
                  </a:txBody>
                  <a:tcPr>
                    <a:solidFill>
                      <a:srgbClr val="FFFFFF"/>
                    </a:solidFill>
                  </a:tcPr>
                </a:tc>
              </a:tr>
              <a:tr h="548640">
                <a:tc>
                  <a:txBody>
                    <a:bodyPr wrap="square"/>
                    <a:lstStyle/>
                    <a:p>
                      <a:pPr>
                        <a:defRPr sz="950" b="1">
                          <a:solidFill>
                            <a:srgbClr val="2B3E63"/>
                          </a:solidFill>
                          <a:latin typeface="Arial"/>
                        </a:defRPr>
                      </a:pPr>
                      <a:r>
                        <a:t>Huile de coco vierge artisanale</a:t>
                      </a:r>
                    </a:p>
                  </a:txBody>
                  <a:tcPr>
                    <a:solidFill>
                      <a:srgbClr val="F5EEE0"/>
                    </a:solidFill>
                  </a:tcPr>
                </a:tc>
                <a:tc>
                  <a:txBody>
                    <a:bodyPr wrap="square"/>
                    <a:lstStyle/>
                    <a:p>
                      <a:pPr>
                        <a:defRPr sz="950">
                          <a:solidFill>
                            <a:srgbClr val="1C1B19"/>
                          </a:solidFill>
                          <a:latin typeface="Arial"/>
                        </a:defRPr>
                      </a:pPr>
                      <a:r>
                        <a:t>Marché de quartier / vendeuses d'huiles</a:t>
                      </a:r>
                    </a:p>
                  </a:txBody>
                  <a:tcPr>
                    <a:solidFill>
                      <a:srgbClr val="F5EEE0"/>
                    </a:solidFill>
                  </a:tcPr>
                </a:tc>
                <a:tc>
                  <a:txBody>
                    <a:bodyPr wrap="square"/>
                    <a:lstStyle/>
                    <a:p>
                      <a:pPr>
                        <a:defRPr sz="950">
                          <a:solidFill>
                            <a:srgbClr val="1C1B19"/>
                          </a:solidFill>
                          <a:latin typeface="Arial"/>
                        </a:defRPr>
                      </a:pPr>
                      <a:r>
                        <a:t>1 petite bouteille (25 cl)</a:t>
                      </a:r>
                    </a:p>
                  </a:txBody>
                  <a:tcPr>
                    <a:solidFill>
                      <a:srgbClr val="F5EEE0"/>
                    </a:solidFill>
                  </a:tcPr>
                </a:tc>
                <a:tc>
                  <a:txBody>
                    <a:bodyPr wrap="square"/>
                    <a:lstStyle/>
                    <a:p>
                      <a:pPr>
                        <a:defRPr sz="950">
                          <a:solidFill>
                            <a:srgbClr val="1C1B19"/>
                          </a:solidFill>
                          <a:latin typeface="Arial"/>
                        </a:defRPr>
                      </a:pPr>
                      <a:r>
                        <a:t>1 000 FCFA</a:t>
                      </a:r>
                    </a:p>
                  </a:txBody>
                  <a:tcPr>
                    <a:solidFill>
                      <a:srgbClr val="F5EEE0"/>
                    </a:solidFill>
                  </a:tcPr>
                </a:tc>
                <a:tc>
                  <a:txBody>
                    <a:bodyPr wrap="square"/>
                    <a:lstStyle/>
                    <a:p>
                      <a:pPr>
                        <a:defRPr sz="950">
                          <a:solidFill>
                            <a:srgbClr val="1C1B19"/>
                          </a:solidFill>
                          <a:latin typeface="Arial"/>
                        </a:defRPr>
                      </a:pPr>
                      <a:r>
                        <a:t>2 à 3 mois de pré-poo</a:t>
                      </a:r>
                    </a:p>
                  </a:txBody>
                  <a:tcPr>
                    <a:solidFill>
                      <a:srgbClr val="F5EEE0"/>
                    </a:solidFill>
                  </a:tcPr>
                </a:tc>
              </a:tr>
              <a:tr h="548640">
                <a:tc>
                  <a:txBody>
                    <a:bodyPr wrap="square"/>
                    <a:lstStyle/>
                    <a:p>
                      <a:pPr>
                        <a:defRPr sz="950" b="1">
                          <a:solidFill>
                            <a:srgbClr val="2B3E63"/>
                          </a:solidFill>
                          <a:latin typeface="Arial"/>
                        </a:defRPr>
                      </a:pPr>
                      <a:r>
                        <a:t>Savon noir local pur</a:t>
                      </a:r>
                    </a:p>
                  </a:txBody>
                  <a:tcPr>
                    <a:solidFill>
                      <a:srgbClr val="FFFFFF"/>
                    </a:solidFill>
                  </a:tcPr>
                </a:tc>
                <a:tc>
                  <a:txBody>
                    <a:bodyPr wrap="square"/>
                    <a:lstStyle/>
                    <a:p>
                      <a:pPr>
                        <a:defRPr sz="950">
                          <a:solidFill>
                            <a:srgbClr val="1C1B19"/>
                          </a:solidFill>
                          <a:latin typeface="Arial"/>
                        </a:defRPr>
                      </a:pPr>
                      <a:r>
                        <a:t>Rayon des produits traditionnels</a:t>
                      </a:r>
                    </a:p>
                  </a:txBody>
                  <a:tcPr>
                    <a:solidFill>
                      <a:srgbClr val="FFFFFF"/>
                    </a:solidFill>
                  </a:tcPr>
                </a:tc>
                <a:tc>
                  <a:txBody>
                    <a:bodyPr wrap="square"/>
                    <a:lstStyle/>
                    <a:p>
                      <a:pPr>
                        <a:defRPr sz="950">
                          <a:solidFill>
                            <a:srgbClr val="1C1B19"/>
                          </a:solidFill>
                          <a:latin typeface="Arial"/>
                        </a:defRPr>
                      </a:pPr>
                      <a:r>
                        <a:t>1 boule moyenne</a:t>
                      </a:r>
                    </a:p>
                  </a:txBody>
                  <a:tcPr>
                    <a:solidFill>
                      <a:srgbClr val="FFFFFF"/>
                    </a:solidFill>
                  </a:tcPr>
                </a:tc>
                <a:tc>
                  <a:txBody>
                    <a:bodyPr wrap="square"/>
                    <a:lstStyle/>
                    <a:p>
                      <a:pPr>
                        <a:defRPr sz="950">
                          <a:solidFill>
                            <a:srgbClr val="1C1B19"/>
                          </a:solidFill>
                          <a:latin typeface="Arial"/>
                        </a:defRPr>
                      </a:pPr>
                      <a:r>
                        <a:t>200 FCFA</a:t>
                      </a:r>
                    </a:p>
                  </a:txBody>
                  <a:tcPr>
                    <a:solidFill>
                      <a:srgbClr val="FFFFFF"/>
                    </a:solidFill>
                  </a:tcPr>
                </a:tc>
                <a:tc>
                  <a:txBody>
                    <a:bodyPr wrap="square"/>
                    <a:lstStyle/>
                    <a:p>
                      <a:pPr>
                        <a:defRPr sz="950">
                          <a:solidFill>
                            <a:srgbClr val="1C1B19"/>
                          </a:solidFill>
                          <a:latin typeface="Arial"/>
                        </a:defRPr>
                      </a:pPr>
                      <a:r>
                        <a:t>6 mois de shampoing doux</a:t>
                      </a:r>
                    </a:p>
                  </a:txBody>
                  <a:tcPr>
                    <a:solidFill>
                      <a:srgbClr val="FFFFFF"/>
                    </a:solidFill>
                  </a:tcPr>
                </a:tc>
              </a:tr>
              <a:tr h="548640">
                <a:tc>
                  <a:txBody>
                    <a:bodyPr wrap="square"/>
                    <a:lstStyle/>
                    <a:p>
                      <a:pPr>
                        <a:defRPr sz="950" b="1">
                          <a:solidFill>
                            <a:srgbClr val="2B3E63"/>
                          </a:solidFill>
                          <a:latin typeface="Arial"/>
                        </a:defRPr>
                      </a:pPr>
                      <a:r>
                        <a:t>Gombos frais de cuisine</a:t>
                      </a:r>
                    </a:p>
                  </a:txBody>
                  <a:tcPr>
                    <a:solidFill>
                      <a:srgbClr val="F5EEE0"/>
                    </a:solidFill>
                  </a:tcPr>
                </a:tc>
                <a:tc>
                  <a:txBody>
                    <a:bodyPr wrap="square"/>
                    <a:lstStyle/>
                    <a:p>
                      <a:pPr>
                        <a:defRPr sz="950">
                          <a:solidFill>
                            <a:srgbClr val="1C1B19"/>
                          </a:solidFill>
                          <a:latin typeface="Arial"/>
                        </a:defRPr>
                      </a:pPr>
                      <a:r>
                        <a:t>Marché de légumes</a:t>
                      </a:r>
                    </a:p>
                  </a:txBody>
                  <a:tcPr>
                    <a:solidFill>
                      <a:srgbClr val="F5EEE0"/>
                    </a:solidFill>
                  </a:tcPr>
                </a:tc>
                <a:tc>
                  <a:txBody>
                    <a:bodyPr wrap="square"/>
                    <a:lstStyle/>
                    <a:p>
                      <a:pPr>
                        <a:defRPr sz="950">
                          <a:solidFill>
                            <a:srgbClr val="1C1B19"/>
                          </a:solidFill>
                          <a:latin typeface="Arial"/>
                        </a:defRPr>
                      </a:pPr>
                      <a:r>
                        <a:t>1 tas frais</a:t>
                      </a:r>
                    </a:p>
                  </a:txBody>
                  <a:tcPr>
                    <a:solidFill>
                      <a:srgbClr val="F5EEE0"/>
                    </a:solidFill>
                  </a:tcPr>
                </a:tc>
                <a:tc>
                  <a:txBody>
                    <a:bodyPr wrap="square"/>
                    <a:lstStyle/>
                    <a:p>
                      <a:pPr>
                        <a:defRPr sz="950">
                          <a:solidFill>
                            <a:srgbClr val="1C1B19"/>
                          </a:solidFill>
                          <a:latin typeface="Arial"/>
                        </a:defRPr>
                      </a:pPr>
                      <a:r>
                        <a:t>100 FCFA</a:t>
                      </a:r>
                    </a:p>
                  </a:txBody>
                  <a:tcPr>
                    <a:solidFill>
                      <a:srgbClr val="F5EEE0"/>
                    </a:solidFill>
                  </a:tcPr>
                </a:tc>
                <a:tc>
                  <a:txBody>
                    <a:bodyPr wrap="square"/>
                    <a:lstStyle/>
                    <a:p>
                      <a:pPr>
                        <a:defRPr sz="950">
                          <a:solidFill>
                            <a:srgbClr val="1C1B19"/>
                          </a:solidFill>
                          <a:latin typeface="Arial"/>
                        </a:defRPr>
                      </a:pPr>
                      <a:r>
                        <a:t>2 semaines de gel démêlant</a:t>
                      </a:r>
                    </a:p>
                  </a:txBody>
                  <a:tcPr>
                    <a:solidFill>
                      <a:srgbClr val="F5EEE0"/>
                    </a:solidFill>
                  </a:tcPr>
                </a:tc>
              </a:tr>
              <a:tr h="548640">
                <a:tc>
                  <a:txBody>
                    <a:bodyPr wrap="square"/>
                    <a:lstStyle/>
                    <a:p>
                      <a:pPr>
                        <a:defRPr sz="950" b="1">
                          <a:solidFill>
                            <a:srgbClr val="2B3E63"/>
                          </a:solidFill>
                          <a:latin typeface="Arial"/>
                        </a:defRPr>
                      </a:pPr>
                      <a:r>
                        <a:t>Vinaigre de cidre</a:t>
                      </a:r>
                    </a:p>
                  </a:txBody>
                  <a:tcPr>
                    <a:solidFill>
                      <a:srgbClr val="FFFFFF"/>
                    </a:solidFill>
                  </a:tcPr>
                </a:tc>
                <a:tc>
                  <a:txBody>
                    <a:bodyPr wrap="square"/>
                    <a:lstStyle/>
                    <a:p>
                      <a:pPr>
                        <a:defRPr sz="950">
                          <a:solidFill>
                            <a:srgbClr val="1C1B19"/>
                          </a:solidFill>
                          <a:latin typeface="Arial"/>
                        </a:defRPr>
                      </a:pPr>
                      <a:r>
                        <a:t>Boutique d'alimentation ou supermarché</a:t>
                      </a:r>
                    </a:p>
                  </a:txBody>
                  <a:tcPr>
                    <a:solidFill>
                      <a:srgbClr val="FFFFFF"/>
                    </a:solidFill>
                  </a:tcPr>
                </a:tc>
                <a:tc>
                  <a:txBody>
                    <a:bodyPr wrap="square"/>
                    <a:lstStyle/>
                    <a:p>
                      <a:pPr>
                        <a:defRPr sz="950">
                          <a:solidFill>
                            <a:srgbClr val="1C1B19"/>
                          </a:solidFill>
                          <a:latin typeface="Arial"/>
                        </a:defRPr>
                      </a:pPr>
                      <a:r>
                        <a:t>1 bouteille (50 cl)</a:t>
                      </a:r>
                    </a:p>
                  </a:txBody>
                  <a:tcPr>
                    <a:solidFill>
                      <a:srgbClr val="FFFFFF"/>
                    </a:solidFill>
                  </a:tcPr>
                </a:tc>
                <a:tc>
                  <a:txBody>
                    <a:bodyPr wrap="square"/>
                    <a:lstStyle/>
                    <a:p>
                      <a:pPr>
                        <a:defRPr sz="950">
                          <a:solidFill>
                            <a:srgbClr val="1C1B19"/>
                          </a:solidFill>
                          <a:latin typeface="Arial"/>
                        </a:defRPr>
                      </a:pPr>
                      <a:r>
                        <a:t>800 FCFA</a:t>
                      </a:r>
                    </a:p>
                  </a:txBody>
                  <a:tcPr>
                    <a:solidFill>
                      <a:srgbClr val="FFFFFF"/>
                    </a:solidFill>
                  </a:tcPr>
                </a:tc>
                <a:tc>
                  <a:txBody>
                    <a:bodyPr wrap="square"/>
                    <a:lstStyle/>
                    <a:p>
                      <a:pPr>
                        <a:defRPr sz="950">
                          <a:solidFill>
                            <a:srgbClr val="1C1B19"/>
                          </a:solidFill>
                          <a:latin typeface="Arial"/>
                        </a:defRPr>
                      </a:pPr>
                      <a:r>
                        <a:t>3 mois de rinçage acide</a:t>
                      </a:r>
                    </a:p>
                  </a:txBody>
                  <a:tcPr>
                    <a:solidFill>
                      <a:srgbClr val="FFFFFF"/>
                    </a:solidFill>
                  </a:tcPr>
                </a:tc>
              </a:tr>
              <a:tr h="548640">
                <a:tc>
                  <a:txBody>
                    <a:bodyPr wrap="square"/>
                    <a:lstStyle/>
                    <a:p>
                      <a:pPr>
                        <a:defRPr sz="950" b="1">
                          <a:solidFill>
                            <a:srgbClr val="2B3E63"/>
                          </a:solidFill>
                          <a:latin typeface="Arial"/>
                        </a:defRPr>
                      </a:pPr>
                      <a:r>
                        <a:t>Huile de ricin locale</a:t>
                      </a:r>
                    </a:p>
                  </a:txBody>
                  <a:tcPr>
                    <a:solidFill>
                      <a:srgbClr val="F5EEE0"/>
                    </a:solidFill>
                  </a:tcPr>
                </a:tc>
                <a:tc>
                  <a:txBody>
                    <a:bodyPr wrap="square"/>
                    <a:lstStyle/>
                    <a:p>
                      <a:pPr>
                        <a:defRPr sz="950">
                          <a:solidFill>
                            <a:srgbClr val="1C1B19"/>
                          </a:solidFill>
                          <a:latin typeface="Arial"/>
                        </a:defRPr>
                      </a:pPr>
                      <a:r>
                        <a:t>Pharmacie ou herboristerie traditionnelle</a:t>
                      </a:r>
                    </a:p>
                  </a:txBody>
                  <a:tcPr>
                    <a:solidFill>
                      <a:srgbClr val="F5EEE0"/>
                    </a:solidFill>
                  </a:tcPr>
                </a:tc>
                <a:tc>
                  <a:txBody>
                    <a:bodyPr wrap="square"/>
                    <a:lstStyle/>
                    <a:p>
                      <a:pPr>
                        <a:defRPr sz="950">
                          <a:solidFill>
                            <a:srgbClr val="1C1B19"/>
                          </a:solidFill>
                          <a:latin typeface="Arial"/>
                        </a:defRPr>
                      </a:pPr>
                      <a:r>
                        <a:t>1 petit flacon (50 ml)</a:t>
                      </a:r>
                    </a:p>
                  </a:txBody>
                  <a:tcPr>
                    <a:solidFill>
                      <a:srgbClr val="F5EEE0"/>
                    </a:solidFill>
                  </a:tcPr>
                </a:tc>
                <a:tc>
                  <a:txBody>
                    <a:bodyPr wrap="square"/>
                    <a:lstStyle/>
                    <a:p>
                      <a:pPr>
                        <a:defRPr sz="950">
                          <a:solidFill>
                            <a:srgbClr val="1C1B19"/>
                          </a:solidFill>
                          <a:latin typeface="Arial"/>
                        </a:defRPr>
                      </a:pPr>
                      <a:r>
                        <a:t>400 FCFA</a:t>
                      </a:r>
                    </a:p>
                  </a:txBody>
                  <a:tcPr>
                    <a:solidFill>
                      <a:srgbClr val="F5EEE0"/>
                    </a:solidFill>
                  </a:tcPr>
                </a:tc>
                <a:tc>
                  <a:txBody>
                    <a:bodyPr wrap="square"/>
                    <a:lstStyle/>
                    <a:p>
                      <a:pPr>
                        <a:defRPr sz="950">
                          <a:solidFill>
                            <a:srgbClr val="1C1B19"/>
                          </a:solidFill>
                          <a:latin typeface="Arial"/>
                        </a:defRPr>
                      </a:pPr>
                      <a:r>
                        <a:t>4 mois de soin des tempes</a:t>
                      </a:r>
                    </a:p>
                  </a:txBody>
                  <a:tcPr>
                    <a:solidFill>
                      <a:srgbClr val="F5EEE0"/>
                    </a:solidFill>
                  </a:tcPr>
                </a:tc>
              </a:tr>
            </a:tbl>
          </a:graphicData>
        </a:graphic>
      </p:graphicFrame>
      <p:sp>
        <p:nvSpPr>
          <p:cNvPr id="7" name="Rounded Rectangle 6"/>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TOTAL DU PANIER COMPLET : 3 000 FCFA pour 90 jours de routine intégrale ! Prendre soin de ses cheveux naturels coûte moins de 35 FCFA par jour.</a:t>
            </a:r>
          </a:p>
        </p:txBody>
      </p:sp>
      <p:sp>
        <p:nvSpPr>
          <p:cNvPr id="9" name="Rectangle 8"/>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1" name="TextBox 10"/>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72 / 75</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BOÎTE À OUTILS · JOURNAL DE BORD PERSONNEL</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Mon carnet de suivi mensuel sur 6 mois</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Cinq minutes par mois pour mesurer objectivement vos victoires et adapter votre routine.</a:t>
            </a:r>
          </a:p>
        </p:txBody>
      </p:sp>
      <p:graphicFrame>
        <p:nvGraphicFramePr>
          <p:cNvPr id="6" name="Table 5"/>
          <p:cNvGraphicFramePr>
            <a:graphicFrameLocks noGrp="1"/>
          </p:cNvGraphicFramePr>
          <p:nvPr/>
        </p:nvGraphicFramePr>
        <p:xfrm>
          <a:off x="731520" y="1463040"/>
          <a:ext cx="10728655" cy="3840480"/>
        </p:xfrm>
        <a:graphic>
          <a:graphicData uri="http://schemas.openxmlformats.org/drawingml/2006/table">
            <a:tbl>
              <a:tblPr firstRow="1" bandRow="1">
                <a:tableStyleId>{5C22544A-7EE6-4342-B048-85BDC9FD1C3A}</a:tableStyleId>
              </a:tblPr>
              <a:tblGrid>
                <a:gridCol w="1788109"/>
                <a:gridCol w="1788109"/>
                <a:gridCol w="1788109"/>
                <a:gridCol w="1788109"/>
                <a:gridCol w="1788109"/>
                <a:gridCol w="1788110"/>
              </a:tblGrid>
              <a:tr h="548640">
                <a:tc>
                  <a:txBody>
                    <a:bodyPr wrap="square"/>
                    <a:lstStyle/>
                    <a:p>
                      <a:pPr>
                        <a:defRPr sz="1000" b="1">
                          <a:solidFill>
                            <a:srgbClr val="D9A13B"/>
                          </a:solidFill>
                          <a:latin typeface="Arial"/>
                        </a:defRPr>
                      </a:pPr>
                      <a:r>
                        <a:t>Mois</a:t>
                      </a:r>
                    </a:p>
                  </a:txBody>
                  <a:tcPr>
                    <a:solidFill>
                      <a:srgbClr val="1B2740"/>
                    </a:solidFill>
                  </a:tcPr>
                </a:tc>
                <a:tc>
                  <a:txBody>
                    <a:bodyPr wrap="square"/>
                    <a:lstStyle/>
                    <a:p>
                      <a:pPr>
                        <a:defRPr sz="1000" b="1">
                          <a:solidFill>
                            <a:srgbClr val="D9A13B"/>
                          </a:solidFill>
                          <a:latin typeface="Arial"/>
                        </a:defRPr>
                      </a:pPr>
                      <a:r>
                        <a:t>Longueur mèche repère</a:t>
                      </a:r>
                    </a:p>
                  </a:txBody>
                  <a:tcPr>
                    <a:solidFill>
                      <a:srgbClr val="1B2740"/>
                    </a:solidFill>
                  </a:tcPr>
                </a:tc>
                <a:tc>
                  <a:txBody>
                    <a:bodyPr wrap="square"/>
                    <a:lstStyle/>
                    <a:p>
                      <a:pPr>
                        <a:defRPr sz="1000" b="1">
                          <a:solidFill>
                            <a:srgbClr val="D9A13B"/>
                          </a:solidFill>
                          <a:latin typeface="Arial"/>
                        </a:defRPr>
                      </a:pPr>
                      <a:r>
                        <a:t>Casse au peigne</a:t>
                      </a:r>
                    </a:p>
                  </a:txBody>
                  <a:tcPr>
                    <a:solidFill>
                      <a:srgbClr val="1B2740"/>
                    </a:solidFill>
                  </a:tcPr>
                </a:tc>
                <a:tc>
                  <a:txBody>
                    <a:bodyPr wrap="square"/>
                    <a:lstStyle/>
                    <a:p>
                      <a:pPr>
                        <a:defRPr sz="1000" b="1">
                          <a:solidFill>
                            <a:srgbClr val="D9A13B"/>
                          </a:solidFill>
                          <a:latin typeface="Arial"/>
                        </a:defRPr>
                      </a:pPr>
                      <a:r>
                        <a:t>Souplesse au toucher</a:t>
                      </a:r>
                    </a:p>
                  </a:txBody>
                  <a:tcPr>
                    <a:solidFill>
                      <a:srgbClr val="1B2740"/>
                    </a:solidFill>
                  </a:tcPr>
                </a:tc>
                <a:tc>
                  <a:txBody>
                    <a:bodyPr wrap="square"/>
                    <a:lstStyle/>
                    <a:p>
                      <a:pPr>
                        <a:defRPr sz="1000" b="1">
                          <a:solidFill>
                            <a:srgbClr val="D9A13B"/>
                          </a:solidFill>
                          <a:latin typeface="Arial"/>
                        </a:defRPr>
                      </a:pPr>
                      <a:r>
                        <a:t>Coiffure du mois</a:t>
                      </a:r>
                    </a:p>
                  </a:txBody>
                  <a:tcPr>
                    <a:solidFill>
                      <a:srgbClr val="1B2740"/>
                    </a:solidFill>
                  </a:tcPr>
                </a:tc>
                <a:tc>
                  <a:txBody>
                    <a:bodyPr wrap="square"/>
                    <a:lstStyle/>
                    <a:p>
                      <a:pPr>
                        <a:defRPr sz="1000" b="1">
                          <a:solidFill>
                            <a:srgbClr val="D9A13B"/>
                          </a:solidFill>
                          <a:latin typeface="Arial"/>
                        </a:defRPr>
                      </a:pPr>
                      <a:r>
                        <a:t>Ajustement pour le mois suivant</a:t>
                      </a:r>
                    </a:p>
                  </a:txBody>
                  <a:tcPr>
                    <a:solidFill>
                      <a:srgbClr val="1B2740"/>
                    </a:solidFill>
                  </a:tcPr>
                </a:tc>
              </a:tr>
              <a:tr h="548640">
                <a:tc>
                  <a:txBody>
                    <a:bodyPr wrap="square"/>
                    <a:lstStyle/>
                    <a:p>
                      <a:pPr>
                        <a:defRPr sz="950" b="1">
                          <a:solidFill>
                            <a:srgbClr val="2B3E63"/>
                          </a:solidFill>
                          <a:latin typeface="Arial"/>
                        </a:defRPr>
                      </a:pPr>
                      <a:r>
                        <a:t>Mois 1 (Départ)</a:t>
                      </a:r>
                    </a:p>
                  </a:txBody>
                  <a:tcPr>
                    <a:solidFill>
                      <a:srgbClr val="FFFFFF"/>
                    </a:solidFill>
                  </a:tcPr>
                </a:tc>
                <a:tc>
                  <a:txBody>
                    <a:bodyPr wrap="square"/>
                    <a:lstStyle/>
                    <a:p>
                      <a:pPr>
                        <a:defRPr sz="950">
                          <a:solidFill>
                            <a:srgbClr val="1C1B19"/>
                          </a:solidFill>
                          <a:latin typeface="Arial"/>
                        </a:defRPr>
                      </a:pPr>
                      <a:r>
                        <a:t>Ex : 12 cm au sommet</a:t>
                      </a:r>
                    </a:p>
                  </a:txBody>
                  <a:tcPr>
                    <a:solidFill>
                      <a:srgbClr val="FFFFFF"/>
                    </a:solidFill>
                  </a:tcPr>
                </a:tc>
                <a:tc>
                  <a:txBody>
                    <a:bodyPr wrap="square"/>
                    <a:lstStyle/>
                    <a:p>
                      <a:pPr>
                        <a:defRPr sz="950">
                          <a:solidFill>
                            <a:srgbClr val="1C1B19"/>
                          </a:solidFill>
                          <a:latin typeface="Arial"/>
                        </a:defRPr>
                      </a:pPr>
                      <a:r>
                        <a:t>Forte (fond lavabo plein)</a:t>
                      </a:r>
                    </a:p>
                  </a:txBody>
                  <a:tcPr>
                    <a:solidFill>
                      <a:srgbClr val="FFFFFF"/>
                    </a:solidFill>
                  </a:tcPr>
                </a:tc>
                <a:tc>
                  <a:txBody>
                    <a:bodyPr wrap="square"/>
                    <a:lstStyle/>
                    <a:p>
                      <a:pPr>
                        <a:defRPr sz="950">
                          <a:solidFill>
                            <a:srgbClr val="1C1B19"/>
                          </a:solidFill>
                          <a:latin typeface="Arial"/>
                        </a:defRPr>
                      </a:pPr>
                      <a:r>
                        <a:t>Rêche après 2h</a:t>
                      </a:r>
                    </a:p>
                  </a:txBody>
                  <a:tcPr>
                    <a:solidFill>
                      <a:srgbClr val="FFFFFF"/>
                    </a:solidFill>
                  </a:tcPr>
                </a:tc>
                <a:tc>
                  <a:txBody>
                    <a:bodyPr wrap="square"/>
                    <a:lstStyle/>
                    <a:p>
                      <a:pPr>
                        <a:defRPr sz="950">
                          <a:solidFill>
                            <a:srgbClr val="1C1B19"/>
                          </a:solidFill>
                          <a:latin typeface="Arial"/>
                        </a:defRPr>
                      </a:pPr>
                      <a:r>
                        <a:t>Cheveux naturels</a:t>
                      </a:r>
                    </a:p>
                  </a:txBody>
                  <a:tcPr>
                    <a:solidFill>
                      <a:srgbClr val="FFFFFF"/>
                    </a:solidFill>
                  </a:tcPr>
                </a:tc>
                <a:tc>
                  <a:txBody>
                    <a:bodyPr wrap="square"/>
                    <a:lstStyle/>
                    <a:p>
                      <a:pPr>
                        <a:defRPr sz="950">
                          <a:solidFill>
                            <a:srgbClr val="1C1B19"/>
                          </a:solidFill>
                          <a:latin typeface="Arial"/>
                        </a:defRPr>
                      </a:pPr>
                      <a:r>
                        <a:t>Commencer le pré-poo coco</a:t>
                      </a:r>
                    </a:p>
                  </a:txBody>
                  <a:tcPr>
                    <a:solidFill>
                      <a:srgbClr val="FFFFFF"/>
                    </a:solidFill>
                  </a:tcPr>
                </a:tc>
              </a:tr>
              <a:tr h="548640">
                <a:tc>
                  <a:txBody>
                    <a:bodyPr wrap="square"/>
                    <a:lstStyle/>
                    <a:p>
                      <a:pPr>
                        <a:defRPr sz="950" b="1">
                          <a:solidFill>
                            <a:srgbClr val="2B3E63"/>
                          </a:solidFill>
                          <a:latin typeface="Arial"/>
                        </a:defRPr>
                      </a:pPr>
                      <a:r>
                        <a:t>Mois 2</a:t>
                      </a:r>
                    </a:p>
                  </a:txBody>
                  <a:tcPr>
                    <a:solidFill>
                      <a:srgbClr val="F5EEE0"/>
                    </a:solidFill>
                  </a:tcPr>
                </a:tc>
                <a:tc>
                  <a:txBody>
                    <a:bodyPr wrap="square"/>
                    <a:lstStyle/>
                    <a:p>
                      <a:pPr>
                        <a:defRPr sz="950">
                          <a:solidFill>
                            <a:srgbClr val="1C1B19"/>
                          </a:solidFill>
                          <a:latin typeface="Arial"/>
                        </a:defRPr>
                      </a:pPr>
                      <a:r>
                        <a:t>...... cm</a:t>
                      </a:r>
                    </a:p>
                  </a:txBody>
                  <a:tcPr>
                    <a:solidFill>
                      <a:srgbClr val="F5EEE0"/>
                    </a:solidFill>
                  </a:tcPr>
                </a:tc>
                <a:tc>
                  <a:txBody>
                    <a:bodyPr wrap="square"/>
                    <a:lstStyle/>
                    <a:p>
                      <a:pPr>
                        <a:defRPr sz="950">
                          <a:solidFill>
                            <a:srgbClr val="1C1B19"/>
                          </a:solidFill>
                          <a:latin typeface="Arial"/>
                        </a:defRPr>
                      </a:pPr>
                      <a:r>
                        <a:t>Faible / Moyenne / Forte</a:t>
                      </a:r>
                    </a:p>
                  </a:txBody>
                  <a:tcPr>
                    <a:solidFill>
                      <a:srgbClr val="F5EEE0"/>
                    </a:solidFill>
                  </a:tcPr>
                </a:tc>
                <a:tc>
                  <a:txBody>
                    <a:bodyPr wrap="square"/>
                    <a:lstStyle/>
                    <a:p>
                      <a:pPr>
                        <a:defRPr sz="950">
                          <a:solidFill>
                            <a:srgbClr val="1C1B19"/>
                          </a:solidFill>
                          <a:latin typeface="Arial"/>
                        </a:defRPr>
                      </a:pPr>
                      <a:r>
                        <a:t>Douceur 24h / 48h / 72h</a:t>
                      </a:r>
                    </a:p>
                  </a:txBody>
                  <a:tcPr>
                    <a:solidFill>
                      <a:srgbClr val="F5EEE0"/>
                    </a:solidFill>
                  </a:tcPr>
                </a:tc>
                <a:tc>
                  <a:txBody>
                    <a:bodyPr wrap="square"/>
                    <a:lstStyle/>
                    <a:p>
                      <a:pPr>
                        <a:defRPr sz="950">
                          <a:solidFill>
                            <a:srgbClr val="1C1B19"/>
                          </a:solidFill>
                          <a:latin typeface="Arial"/>
                        </a:defRPr>
                      </a:pPr>
                      <a:r>
                        <a:t>Knotless légères</a:t>
                      </a:r>
                    </a:p>
                  </a:txBody>
                  <a:tcPr>
                    <a:solidFill>
                      <a:srgbClr val="F5EEE0"/>
                    </a:solidFill>
                  </a:tcPr>
                </a:tc>
                <a:tc>
                  <a:txBody>
                    <a:bodyPr wrap="square"/>
                    <a:lstStyle/>
                    <a:p>
                      <a:pPr>
                        <a:defRPr sz="950">
                          <a:solidFill>
                            <a:srgbClr val="1C1B19"/>
                          </a:solidFill>
                          <a:latin typeface="Arial"/>
                        </a:defRPr>
                      </a:pPr>
                      <a:r>
                        <a:t>Vérifier la lisière chaque semaine</a:t>
                      </a:r>
                    </a:p>
                  </a:txBody>
                  <a:tcPr>
                    <a:solidFill>
                      <a:srgbClr val="F5EEE0"/>
                    </a:solidFill>
                  </a:tcPr>
                </a:tc>
              </a:tr>
              <a:tr h="548640">
                <a:tc>
                  <a:txBody>
                    <a:bodyPr wrap="square"/>
                    <a:lstStyle/>
                    <a:p>
                      <a:pPr>
                        <a:defRPr sz="950" b="1">
                          <a:solidFill>
                            <a:srgbClr val="2B3E63"/>
                          </a:solidFill>
                          <a:latin typeface="Arial"/>
                        </a:defRPr>
                      </a:pPr>
                      <a:r>
                        <a:t>Mois 3</a:t>
                      </a:r>
                    </a:p>
                  </a:txBody>
                  <a:tcPr>
                    <a:solidFill>
                      <a:srgbClr val="FFFFFF"/>
                    </a:solidFill>
                  </a:tcPr>
                </a:tc>
                <a:tc>
                  <a:txBody>
                    <a:bodyPr wrap="square"/>
                    <a:lstStyle/>
                    <a:p>
                      <a:pPr>
                        <a:defRPr sz="950">
                          <a:solidFill>
                            <a:srgbClr val="1C1B19"/>
                          </a:solidFill>
                          <a:latin typeface="Arial"/>
                        </a:defRPr>
                      </a:pPr>
                      <a:r>
                        <a:t>...... cm</a:t>
                      </a:r>
                    </a:p>
                  </a:txBody>
                  <a:tcPr>
                    <a:solidFill>
                      <a:srgbClr val="FFFFFF"/>
                    </a:solidFill>
                  </a:tcPr>
                </a:tc>
                <a:tc>
                  <a:txBody>
                    <a:bodyPr wrap="square"/>
                    <a:lstStyle/>
                    <a:p>
                      <a:pPr>
                        <a:defRPr sz="950">
                          <a:solidFill>
                            <a:srgbClr val="1C1B19"/>
                          </a:solidFill>
                          <a:latin typeface="Arial"/>
                        </a:defRPr>
                      </a:pPr>
                      <a:r>
                        <a:t>Faible / Moyenne / Forte</a:t>
                      </a:r>
                    </a:p>
                  </a:txBody>
                  <a:tcPr>
                    <a:solidFill>
                      <a:srgbClr val="FFFFFF"/>
                    </a:solidFill>
                  </a:tcPr>
                </a:tc>
                <a:tc>
                  <a:txBody>
                    <a:bodyPr wrap="square"/>
                    <a:lstStyle/>
                    <a:p>
                      <a:pPr>
                        <a:defRPr sz="950">
                          <a:solidFill>
                            <a:srgbClr val="1C1B19"/>
                          </a:solidFill>
                          <a:latin typeface="Arial"/>
                        </a:defRPr>
                      </a:pPr>
                      <a:r>
                        <a:t>Douceur 24h / 48h / 72h</a:t>
                      </a:r>
                    </a:p>
                  </a:txBody>
                  <a:tcPr>
                    <a:solidFill>
                      <a:srgbClr val="FFFFFF"/>
                    </a:solidFill>
                  </a:tcPr>
                </a:tc>
                <a:tc>
                  <a:txBody>
                    <a:bodyPr wrap="square"/>
                    <a:lstStyle/>
                    <a:p>
                      <a:pPr>
                        <a:defRPr sz="950">
                          <a:solidFill>
                            <a:srgbClr val="1C1B19"/>
                          </a:solidFill>
                          <a:latin typeface="Arial"/>
                        </a:defRPr>
                      </a:pPr>
                      <a:r>
                        <a:t>Repos au naturel</a:t>
                      </a:r>
                    </a:p>
                  </a:txBody>
                  <a:tcPr>
                    <a:solidFill>
                      <a:srgbClr val="FFFFFF"/>
                    </a:solidFill>
                  </a:tcPr>
                </a:tc>
                <a:tc>
                  <a:txBody>
                    <a:bodyPr wrap="square"/>
                    <a:lstStyle/>
                    <a:p>
                      <a:pPr>
                        <a:defRPr sz="950">
                          <a:solidFill>
                            <a:srgbClr val="1C1B19"/>
                          </a:solidFill>
                          <a:latin typeface="Arial"/>
                        </a:defRPr>
                      </a:pPr>
                      <a:r>
                        <a:t>Premier soin protéiné à l'œuf</a:t>
                      </a:r>
                    </a:p>
                  </a:txBody>
                  <a:tcPr>
                    <a:solidFill>
                      <a:srgbClr val="FFFFFF"/>
                    </a:solidFill>
                  </a:tcPr>
                </a:tc>
              </a:tr>
              <a:tr h="548640">
                <a:tc>
                  <a:txBody>
                    <a:bodyPr wrap="square"/>
                    <a:lstStyle/>
                    <a:p>
                      <a:pPr>
                        <a:defRPr sz="950" b="1">
                          <a:solidFill>
                            <a:srgbClr val="2B3E63"/>
                          </a:solidFill>
                          <a:latin typeface="Arial"/>
                        </a:defRPr>
                      </a:pPr>
                      <a:r>
                        <a:t>Mois 4</a:t>
                      </a:r>
                    </a:p>
                  </a:txBody>
                  <a:tcPr>
                    <a:solidFill>
                      <a:srgbClr val="F5EEE0"/>
                    </a:solidFill>
                  </a:tcPr>
                </a:tc>
                <a:tc>
                  <a:txBody>
                    <a:bodyPr wrap="square"/>
                    <a:lstStyle/>
                    <a:p>
                      <a:pPr>
                        <a:defRPr sz="950">
                          <a:solidFill>
                            <a:srgbClr val="1C1B19"/>
                          </a:solidFill>
                          <a:latin typeface="Arial"/>
                        </a:defRPr>
                      </a:pPr>
                      <a:r>
                        <a:t>...... cm</a:t>
                      </a:r>
                    </a:p>
                  </a:txBody>
                  <a:tcPr>
                    <a:solidFill>
                      <a:srgbClr val="F5EEE0"/>
                    </a:solidFill>
                  </a:tcPr>
                </a:tc>
                <a:tc>
                  <a:txBody>
                    <a:bodyPr wrap="square"/>
                    <a:lstStyle/>
                    <a:p>
                      <a:pPr>
                        <a:defRPr sz="950">
                          <a:solidFill>
                            <a:srgbClr val="1C1B19"/>
                          </a:solidFill>
                          <a:latin typeface="Arial"/>
                        </a:defRPr>
                      </a:pPr>
                      <a:r>
                        <a:t>Faible / Moyenne / Forte</a:t>
                      </a:r>
                    </a:p>
                  </a:txBody>
                  <a:tcPr>
                    <a:solidFill>
                      <a:srgbClr val="F5EEE0"/>
                    </a:solidFill>
                  </a:tcPr>
                </a:tc>
                <a:tc>
                  <a:txBody>
                    <a:bodyPr wrap="square"/>
                    <a:lstStyle/>
                    <a:p>
                      <a:pPr>
                        <a:defRPr sz="950">
                          <a:solidFill>
                            <a:srgbClr val="1C1B19"/>
                          </a:solidFill>
                          <a:latin typeface="Arial"/>
                        </a:defRPr>
                      </a:pPr>
                      <a:r>
                        <a:t>Douceur 24h / 48h / 72h</a:t>
                      </a:r>
                    </a:p>
                  </a:txBody>
                  <a:tcPr>
                    <a:solidFill>
                      <a:srgbClr val="F5EEE0"/>
                    </a:solidFill>
                  </a:tcPr>
                </a:tc>
                <a:tc>
                  <a:txBody>
                    <a:bodyPr wrap="square"/>
                    <a:lstStyle/>
                    <a:p>
                      <a:pPr>
                        <a:defRPr sz="950">
                          <a:solidFill>
                            <a:srgbClr val="1C1B19"/>
                          </a:solidFill>
                          <a:latin typeface="Arial"/>
                        </a:defRPr>
                      </a:pPr>
                      <a:r>
                        <a:t>Vanilles lâches</a:t>
                      </a:r>
                    </a:p>
                  </a:txBody>
                  <a:tcPr>
                    <a:solidFill>
                      <a:srgbClr val="F5EEE0"/>
                    </a:solidFill>
                  </a:tcPr>
                </a:tc>
                <a:tc>
                  <a:txBody>
                    <a:bodyPr wrap="square"/>
                    <a:lstStyle/>
                    <a:p>
                      <a:pPr>
                        <a:defRPr sz="950">
                          <a:solidFill>
                            <a:srgbClr val="1C1B19"/>
                          </a:solidFill>
                          <a:latin typeface="Arial"/>
                        </a:defRPr>
                      </a:pPr>
                      <a:r>
                        <a:t>Tailler 0,5 cm de pointes fourchues</a:t>
                      </a:r>
                    </a:p>
                  </a:txBody>
                  <a:tcPr>
                    <a:solidFill>
                      <a:srgbClr val="F5EEE0"/>
                    </a:solidFill>
                  </a:tcPr>
                </a:tc>
              </a:tr>
              <a:tr h="548640">
                <a:tc>
                  <a:txBody>
                    <a:bodyPr wrap="square"/>
                    <a:lstStyle/>
                    <a:p>
                      <a:pPr>
                        <a:defRPr sz="950" b="1">
                          <a:solidFill>
                            <a:srgbClr val="2B3E63"/>
                          </a:solidFill>
                          <a:latin typeface="Arial"/>
                        </a:defRPr>
                      </a:pPr>
                      <a:r>
                        <a:t>Mois 5</a:t>
                      </a:r>
                    </a:p>
                  </a:txBody>
                  <a:tcPr>
                    <a:solidFill>
                      <a:srgbClr val="FFFFFF"/>
                    </a:solidFill>
                  </a:tcPr>
                </a:tc>
                <a:tc>
                  <a:txBody>
                    <a:bodyPr wrap="square"/>
                    <a:lstStyle/>
                    <a:p>
                      <a:pPr>
                        <a:defRPr sz="950">
                          <a:solidFill>
                            <a:srgbClr val="1C1B19"/>
                          </a:solidFill>
                          <a:latin typeface="Arial"/>
                        </a:defRPr>
                      </a:pPr>
                      <a:r>
                        <a:t>...... cm</a:t>
                      </a:r>
                    </a:p>
                  </a:txBody>
                  <a:tcPr>
                    <a:solidFill>
                      <a:srgbClr val="FFFFFF"/>
                    </a:solidFill>
                  </a:tcPr>
                </a:tc>
                <a:tc>
                  <a:txBody>
                    <a:bodyPr wrap="square"/>
                    <a:lstStyle/>
                    <a:p>
                      <a:pPr>
                        <a:defRPr sz="950">
                          <a:solidFill>
                            <a:srgbClr val="1C1B19"/>
                          </a:solidFill>
                          <a:latin typeface="Arial"/>
                        </a:defRPr>
                      </a:pPr>
                      <a:r>
                        <a:t>Faible / Moyenne / Forte</a:t>
                      </a:r>
                    </a:p>
                  </a:txBody>
                  <a:tcPr>
                    <a:solidFill>
                      <a:srgbClr val="FFFFFF"/>
                    </a:solidFill>
                  </a:tcPr>
                </a:tc>
                <a:tc>
                  <a:txBody>
                    <a:bodyPr wrap="square"/>
                    <a:lstStyle/>
                    <a:p>
                      <a:pPr>
                        <a:defRPr sz="950">
                          <a:solidFill>
                            <a:srgbClr val="1C1B19"/>
                          </a:solidFill>
                          <a:latin typeface="Arial"/>
                        </a:defRPr>
                      </a:pPr>
                      <a:r>
                        <a:t>Douceur 24h / 48h / 72h</a:t>
                      </a:r>
                    </a:p>
                  </a:txBody>
                  <a:tcPr>
                    <a:solidFill>
                      <a:srgbClr val="FFFFFF"/>
                    </a:solidFill>
                  </a:tcPr>
                </a:tc>
                <a:tc>
                  <a:txBody>
                    <a:bodyPr wrap="square"/>
                    <a:lstStyle/>
                    <a:p>
                      <a:pPr>
                        <a:defRPr sz="950">
                          <a:solidFill>
                            <a:srgbClr val="1C1B19"/>
                          </a:solidFill>
                          <a:latin typeface="Arial"/>
                        </a:defRPr>
                      </a:pPr>
                      <a:r>
                        <a:t>Nattes collées simples</a:t>
                      </a:r>
                    </a:p>
                  </a:txBody>
                  <a:tcPr>
                    <a:solidFill>
                      <a:srgbClr val="FFFFFF"/>
                    </a:solidFill>
                  </a:tcPr>
                </a:tc>
                <a:tc>
                  <a:txBody>
                    <a:bodyPr wrap="square"/>
                    <a:lstStyle/>
                    <a:p>
                      <a:pPr>
                        <a:defRPr sz="950">
                          <a:solidFill>
                            <a:srgbClr val="1C1B19"/>
                          </a:solidFill>
                          <a:latin typeface="Arial"/>
                        </a:defRPr>
                      </a:pPr>
                      <a:r>
                        <a:t>Spray d'aloé vera 3 fois par semaine</a:t>
                      </a:r>
                    </a:p>
                  </a:txBody>
                  <a:tcPr>
                    <a:solidFill>
                      <a:srgbClr val="FFFFFF"/>
                    </a:solidFill>
                  </a:tcPr>
                </a:tc>
              </a:tr>
              <a:tr h="548640">
                <a:tc>
                  <a:txBody>
                    <a:bodyPr wrap="square"/>
                    <a:lstStyle/>
                    <a:p>
                      <a:pPr>
                        <a:defRPr sz="950" b="1">
                          <a:solidFill>
                            <a:srgbClr val="2B3E63"/>
                          </a:solidFill>
                          <a:latin typeface="Arial"/>
                        </a:defRPr>
                      </a:pPr>
                      <a:r>
                        <a:t>Mois 6 (Bilan)</a:t>
                      </a:r>
                    </a:p>
                  </a:txBody>
                  <a:tcPr>
                    <a:solidFill>
                      <a:srgbClr val="F5EEE0"/>
                    </a:solidFill>
                  </a:tcPr>
                </a:tc>
                <a:tc>
                  <a:txBody>
                    <a:bodyPr wrap="square"/>
                    <a:lstStyle/>
                    <a:p>
                      <a:pPr>
                        <a:defRPr sz="950">
                          <a:solidFill>
                            <a:srgbClr val="1C1B19"/>
                          </a:solidFill>
                          <a:latin typeface="Arial"/>
                        </a:defRPr>
                      </a:pPr>
                      <a:r>
                        <a:t>...... cm (+ 6 cm attendus)</a:t>
                      </a:r>
                    </a:p>
                  </a:txBody>
                  <a:tcPr>
                    <a:solidFill>
                      <a:srgbClr val="F5EEE0"/>
                    </a:solidFill>
                  </a:tcPr>
                </a:tc>
                <a:tc>
                  <a:txBody>
                    <a:bodyPr wrap="square"/>
                    <a:lstStyle/>
                    <a:p>
                      <a:pPr>
                        <a:defRPr sz="950">
                          <a:solidFill>
                            <a:srgbClr val="1C1B19"/>
                          </a:solidFill>
                          <a:latin typeface="Arial"/>
                        </a:defRPr>
                      </a:pPr>
                      <a:r>
                        <a:t>Très faible</a:t>
                      </a:r>
                    </a:p>
                  </a:txBody>
                  <a:tcPr>
                    <a:solidFill>
                      <a:srgbClr val="F5EEE0"/>
                    </a:solidFill>
                  </a:tcPr>
                </a:tc>
                <a:tc>
                  <a:txBody>
                    <a:bodyPr wrap="square"/>
                    <a:lstStyle/>
                    <a:p>
                      <a:pPr>
                        <a:defRPr sz="950">
                          <a:solidFill>
                            <a:srgbClr val="1C1B19"/>
                          </a:solidFill>
                          <a:latin typeface="Arial"/>
                        </a:defRPr>
                      </a:pPr>
                      <a:r>
                        <a:t>Souplesse constante</a:t>
                      </a:r>
                    </a:p>
                  </a:txBody>
                  <a:tcPr>
                    <a:solidFill>
                      <a:srgbClr val="F5EEE0"/>
                    </a:solidFill>
                  </a:tcPr>
                </a:tc>
                <a:tc>
                  <a:txBody>
                    <a:bodyPr wrap="square"/>
                    <a:lstStyle/>
                    <a:p>
                      <a:pPr>
                        <a:defRPr sz="950">
                          <a:solidFill>
                            <a:srgbClr val="1C1B19"/>
                          </a:solidFill>
                          <a:latin typeface="Arial"/>
                        </a:defRPr>
                      </a:pPr>
                      <a:r>
                        <a:t>Bilan photos 4 angles</a:t>
                      </a:r>
                    </a:p>
                  </a:txBody>
                  <a:tcPr>
                    <a:solidFill>
                      <a:srgbClr val="F5EEE0"/>
                    </a:solidFill>
                  </a:tcPr>
                </a:tc>
                <a:tc>
                  <a:txBody>
                    <a:bodyPr wrap="square"/>
                    <a:lstStyle/>
                    <a:p>
                      <a:pPr>
                        <a:defRPr sz="950">
                          <a:solidFill>
                            <a:srgbClr val="1C1B19"/>
                          </a:solidFill>
                          <a:latin typeface="Arial"/>
                        </a:defRPr>
                      </a:pPr>
                      <a:r>
                        <a:t>Célébrer ma couronne retrouvée !</a:t>
                      </a:r>
                    </a:p>
                  </a:txBody>
                  <a:tcPr>
                    <a:solidFill>
                      <a:srgbClr val="F5EEE0"/>
                    </a:solidFill>
                  </a:tcPr>
                </a:tc>
              </a:tr>
            </a:tbl>
          </a:graphicData>
        </a:graphic>
      </p:graphicFrame>
      <p:sp>
        <p:nvSpPr>
          <p:cNvPr id="7" name="Rounded Rectangle 6"/>
          <p:cNvSpPr/>
          <p:nvPr/>
        </p:nvSpPr>
        <p:spPr>
          <a:xfrm>
            <a:off x="731520" y="5440680"/>
            <a:ext cx="10728655" cy="868680"/>
          </a:xfrm>
          <a:prstGeom prst="round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5577840"/>
            <a:ext cx="10180015" cy="594360"/>
          </a:xfrm>
          <a:prstGeom prst="rect">
            <a:avLst/>
          </a:prstGeom>
          <a:noFill/>
        </p:spPr>
        <p:txBody>
          <a:bodyPr wrap="square" lIns="0" tIns="0" rIns="0" bIns="0">
            <a:spAutoFit/>
          </a:bodyPr>
          <a:lstStyle/>
          <a:p>
            <a:pPr>
              <a:defRPr sz="1050" b="1">
                <a:solidFill>
                  <a:srgbClr val="D9A13B"/>
                </a:solidFill>
                <a:latin typeface="Arial"/>
              </a:defRPr>
            </a:pPr>
            <a:r>
              <a:t>À RETENIR — </a:t>
            </a:r>
            <a:r>
              <a:rPr sz="1050" b="0">
                <a:solidFill>
                  <a:srgbClr val="FAF6F0"/>
                </a:solidFill>
                <a:latin typeface="Arial"/>
              </a:rPr>
              <a:t>Prenez 4 photos témoins chaque 1er du mois (face, profil gauche, profil droit, dessus du crâne) avec le même éclairage.</a:t>
            </a:r>
          </a:p>
        </p:txBody>
      </p:sp>
      <p:sp>
        <p:nvSpPr>
          <p:cNvPr id="9" name="Rectangle 8"/>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11" name="TextBox 10"/>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73 / 75</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274320"/>
          </a:xfrm>
          <a:prstGeom prst="rect">
            <a:avLst/>
          </a:prstGeom>
          <a:noFill/>
        </p:spPr>
        <p:txBody>
          <a:bodyPr wrap="square" lIns="0" tIns="0" rIns="0" bIns="0">
            <a:spAutoFit/>
          </a:bodyPr>
          <a:lstStyle/>
          <a:p>
            <a:pPr>
              <a:defRPr sz="950" b="1">
                <a:solidFill>
                  <a:srgbClr val="A85236"/>
                </a:solidFill>
                <a:latin typeface="Arial"/>
              </a:defRPr>
            </a:pPr>
            <a:r>
              <a:t>BOÎTE À OUTILS · DICTIONNAIRE BILINGUE</a:t>
            </a:r>
          </a:p>
        </p:txBody>
      </p:sp>
      <p:sp>
        <p:nvSpPr>
          <p:cNvPr id="4" name="TextBox 3"/>
          <p:cNvSpPr txBox="1"/>
          <p:nvPr/>
        </p:nvSpPr>
        <p:spPr>
          <a:xfrm>
            <a:off x="731520" y="621792"/>
            <a:ext cx="10725912" cy="502920"/>
          </a:xfrm>
          <a:prstGeom prst="rect">
            <a:avLst/>
          </a:prstGeom>
          <a:noFill/>
        </p:spPr>
        <p:txBody>
          <a:bodyPr wrap="square" lIns="0" tIns="0" rIns="0" bIns="0">
            <a:spAutoFit/>
          </a:bodyPr>
          <a:lstStyle/>
          <a:p>
            <a:pPr>
              <a:defRPr sz="2000" b="1">
                <a:solidFill>
                  <a:srgbClr val="2B3E63"/>
                </a:solidFill>
                <a:latin typeface="Georgia"/>
              </a:defRPr>
            </a:pPr>
            <a:r>
              <a:t>Glossaire : termes scientifiques &amp; noms locaux</a:t>
            </a:r>
          </a:p>
        </p:txBody>
      </p:sp>
      <p:sp>
        <p:nvSpPr>
          <p:cNvPr id="5" name="TextBox 4"/>
          <p:cNvSpPr txBox="1"/>
          <p:nvPr/>
        </p:nvSpPr>
        <p:spPr>
          <a:xfrm>
            <a:off x="731520" y="1115568"/>
            <a:ext cx="10725912" cy="320040"/>
          </a:xfrm>
          <a:prstGeom prst="rect">
            <a:avLst/>
          </a:prstGeom>
          <a:noFill/>
        </p:spPr>
        <p:txBody>
          <a:bodyPr wrap="square" lIns="0" tIns="0" rIns="0" bIns="0">
            <a:spAutoFit/>
          </a:bodyPr>
          <a:lstStyle/>
          <a:p>
            <a:pPr>
              <a:defRPr sz="1100">
                <a:solidFill>
                  <a:srgbClr val="6E6A62"/>
                </a:solidFill>
                <a:latin typeface="Arial"/>
              </a:defRPr>
            </a:pPr>
            <a:r>
              <a:t>Comprendre les mots techniques et retrouver les ingrédients en langues locales fon et yoruba.</a:t>
            </a:r>
          </a:p>
        </p:txBody>
      </p:sp>
      <p:sp>
        <p:nvSpPr>
          <p:cNvPr id="6" name="Rounded Rectangle 5"/>
          <p:cNvSpPr/>
          <p:nvPr/>
        </p:nvSpPr>
        <p:spPr>
          <a:xfrm>
            <a:off x="731520" y="1508760"/>
            <a:ext cx="5166360" cy="224028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527048"/>
            <a:ext cx="4892040" cy="36576"/>
          </a:xfrm>
          <a:prstGeom prst="rect">
            <a:avLst/>
          </a:prstGeom>
          <a:solidFill>
            <a:srgbClr val="A85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19"/>
            <a:ext cx="4800600" cy="2011680"/>
          </a:xfrm>
          <a:prstGeom prst="rect">
            <a:avLst/>
          </a:prstGeom>
          <a:noFill/>
        </p:spPr>
        <p:txBody>
          <a:bodyPr wrap="square" lIns="0" tIns="0" rIns="0" bIns="0">
            <a:spAutoFit/>
          </a:bodyPr>
          <a:lstStyle/>
          <a:p>
            <a:pPr>
              <a:defRPr sz="1300" b="1">
                <a:solidFill>
                  <a:srgbClr val="A85236"/>
                </a:solidFill>
                <a:latin typeface="Georgia"/>
              </a:defRPr>
            </a:pPr>
            <a:r>
              <a:t>Biologie &amp; Physique</a:t>
            </a:r>
          </a:p>
          <a:p>
            <a:pPr>
              <a:spcAft>
                <a:spcPts val="400"/>
              </a:spcAft>
              <a:defRPr sz="950" b="1">
                <a:solidFill>
                  <a:srgbClr val="6E6A62"/>
                </a:solidFill>
                <a:latin typeface="Arial"/>
              </a:defRPr>
            </a:pPr>
            <a:r>
              <a:t>LE VOCABULAIRE DE BASE</a:t>
            </a:r>
          </a:p>
          <a:p>
            <a:pPr>
              <a:defRPr sz="1050">
                <a:solidFill>
                  <a:srgbClr val="1C1B19"/>
                </a:solidFill>
                <a:latin typeface="Arial"/>
              </a:defRPr>
            </a:pPr>
            <a:r>
              <a:t>• Cuticule : Armure externe d'écailles protectrices.</a:t>
            </a:r>
            <a:br/>
            <a:r>
              <a:t>• Cortex : Cœur élastique en kératine.</a:t>
            </a:r>
            <a:br/>
            <a:r>
              <a:t>• Porosité : Capacité à boire et garder l'eau.</a:t>
            </a:r>
            <a:br/>
            <a:r>
              <a:t>• Shrinkage : Rétrécissement naturel sain de la boucle au contact de l'eau.</a:t>
            </a:r>
          </a:p>
        </p:txBody>
      </p:sp>
      <p:sp>
        <p:nvSpPr>
          <p:cNvPr id="9" name="Rounded Rectangle 8"/>
          <p:cNvSpPr/>
          <p:nvPr/>
        </p:nvSpPr>
        <p:spPr>
          <a:xfrm>
            <a:off x="6263640" y="1508760"/>
            <a:ext cx="5166360" cy="224028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527048"/>
            <a:ext cx="4892040" cy="36576"/>
          </a:xfrm>
          <a:prstGeom prst="rect">
            <a:avLst/>
          </a:prstGeom>
          <a:solidFill>
            <a:srgbClr val="2B3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45919"/>
            <a:ext cx="4800600" cy="2011680"/>
          </a:xfrm>
          <a:prstGeom prst="rect">
            <a:avLst/>
          </a:prstGeom>
          <a:noFill/>
        </p:spPr>
        <p:txBody>
          <a:bodyPr wrap="square" lIns="0" tIns="0" rIns="0" bIns="0">
            <a:spAutoFit/>
          </a:bodyPr>
          <a:lstStyle/>
          <a:p>
            <a:pPr>
              <a:defRPr sz="1300" b="1">
                <a:solidFill>
                  <a:srgbClr val="2B3E63"/>
                </a:solidFill>
                <a:latin typeface="Georgia"/>
              </a:defRPr>
            </a:pPr>
            <a:r>
              <a:t>Techniques &amp; Gestes</a:t>
            </a:r>
          </a:p>
          <a:p>
            <a:pPr>
              <a:spcAft>
                <a:spcPts val="400"/>
              </a:spcAft>
              <a:defRPr sz="950" b="1">
                <a:solidFill>
                  <a:srgbClr val="6E6A62"/>
                </a:solidFill>
                <a:latin typeface="Arial"/>
              </a:defRPr>
            </a:pPr>
            <a:r>
              <a:t>LES PROTOCOLES MODERNES</a:t>
            </a:r>
          </a:p>
          <a:p>
            <a:pPr>
              <a:defRPr sz="1050">
                <a:solidFill>
                  <a:srgbClr val="1C1B19"/>
                </a:solidFill>
                <a:latin typeface="Arial"/>
              </a:defRPr>
            </a:pPr>
            <a:r>
              <a:t>• Pré-poo : Soin huileux protecteur avant lavage.</a:t>
            </a:r>
            <a:br/>
            <a:r>
              <a:t>• L.C.O. : Liquide, Crème, Occlusif (scellage).</a:t>
            </a:r>
            <a:br/>
            <a:r>
              <a:t>• Clarification : Détox profonde du crâne.</a:t>
            </a:r>
            <a:br/>
            <a:r>
              <a:t>• Knotless : Tresse sans nœud de départ.</a:t>
            </a:r>
          </a:p>
        </p:txBody>
      </p:sp>
      <p:sp>
        <p:nvSpPr>
          <p:cNvPr id="12" name="Rounded Rectangle 11"/>
          <p:cNvSpPr/>
          <p:nvPr/>
        </p:nvSpPr>
        <p:spPr>
          <a:xfrm>
            <a:off x="731520" y="4069080"/>
            <a:ext cx="5166360" cy="224028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68680" y="4087368"/>
            <a:ext cx="4892040" cy="36576"/>
          </a:xfrm>
          <a:prstGeom prst="rect">
            <a:avLst/>
          </a:prstGeom>
          <a:solidFill>
            <a:srgbClr val="556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206240"/>
            <a:ext cx="4800600" cy="2011680"/>
          </a:xfrm>
          <a:prstGeom prst="rect">
            <a:avLst/>
          </a:prstGeom>
          <a:noFill/>
        </p:spPr>
        <p:txBody>
          <a:bodyPr wrap="square" lIns="0" tIns="0" rIns="0" bIns="0">
            <a:spAutoFit/>
          </a:bodyPr>
          <a:lstStyle/>
          <a:p>
            <a:pPr>
              <a:defRPr sz="1300" b="1">
                <a:solidFill>
                  <a:srgbClr val="55663A"/>
                </a:solidFill>
                <a:latin typeface="Georgia"/>
              </a:defRPr>
            </a:pPr>
            <a:r>
              <a:t>Noms locaux au Bénin (Fon)</a:t>
            </a:r>
          </a:p>
          <a:p>
            <a:pPr>
              <a:spcAft>
                <a:spcPts val="400"/>
              </a:spcAft>
              <a:defRPr sz="950" b="1">
                <a:solidFill>
                  <a:srgbClr val="6E6A62"/>
                </a:solidFill>
                <a:latin typeface="Arial"/>
              </a:defRPr>
            </a:pPr>
            <a:r>
              <a:t>AU MARCHÉ DE QUARTIER</a:t>
            </a:r>
          </a:p>
          <a:p>
            <a:pPr>
              <a:defRPr sz="1050">
                <a:solidFill>
                  <a:srgbClr val="1C1B19"/>
                </a:solidFill>
                <a:latin typeface="Arial"/>
              </a:defRPr>
            </a:pPr>
            <a:r>
              <a:t>• Huile de coco : Agonmi</a:t>
            </a:r>
            <a:br/>
            <a:r>
              <a:t>• Beurre de karité : Limi</a:t>
            </a:r>
            <a:br/>
            <a:r>
              <a:t>• Gombo frais : Févi / Gbo</a:t>
            </a:r>
            <a:br/>
            <a:r>
              <a:t>• Savon noir africain : Koto / Kotoni</a:t>
            </a:r>
            <a:br/>
            <a:r>
              <a:t>• Poudre de moringa : Kpatinman</a:t>
            </a:r>
          </a:p>
        </p:txBody>
      </p:sp>
      <p:sp>
        <p:nvSpPr>
          <p:cNvPr id="15" name="Rounded Rectangle 14"/>
          <p:cNvSpPr/>
          <p:nvPr/>
        </p:nvSpPr>
        <p:spPr>
          <a:xfrm>
            <a:off x="6263640" y="4069080"/>
            <a:ext cx="5166360" cy="2240280"/>
          </a:xfrm>
          <a:prstGeom prst="roundRect">
            <a:avLst/>
          </a:prstGeom>
          <a:solidFill>
            <a:srgbClr val="FFFFFF"/>
          </a:solidFill>
          <a:ln w="12700">
            <a:solidFill>
              <a:srgbClr val="E2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0" y="4087368"/>
            <a:ext cx="4892040" cy="36576"/>
          </a:xfrm>
          <a:prstGeom prst="rect">
            <a:avLst/>
          </a:prstGeom>
          <a:solidFill>
            <a:srgbClr val="B88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4206240"/>
            <a:ext cx="4800600" cy="2011680"/>
          </a:xfrm>
          <a:prstGeom prst="rect">
            <a:avLst/>
          </a:prstGeom>
          <a:noFill/>
        </p:spPr>
        <p:txBody>
          <a:bodyPr wrap="square" lIns="0" tIns="0" rIns="0" bIns="0">
            <a:spAutoFit/>
          </a:bodyPr>
          <a:lstStyle/>
          <a:p>
            <a:pPr>
              <a:defRPr sz="1300" b="1">
                <a:solidFill>
                  <a:srgbClr val="B8862B"/>
                </a:solidFill>
                <a:latin typeface="Georgia"/>
              </a:defRPr>
            </a:pPr>
            <a:r>
              <a:t>Noms locaux au Bénin (Yoruba)</a:t>
            </a:r>
          </a:p>
          <a:p>
            <a:pPr>
              <a:spcAft>
                <a:spcPts val="400"/>
              </a:spcAft>
              <a:defRPr sz="950" b="1">
                <a:solidFill>
                  <a:srgbClr val="6E6A62"/>
                </a:solidFill>
                <a:latin typeface="Arial"/>
              </a:defRPr>
            </a:pPr>
            <a:r>
              <a:t>TRADITION MARCHANDE</a:t>
            </a:r>
          </a:p>
          <a:p>
            <a:pPr>
              <a:defRPr sz="1050">
                <a:solidFill>
                  <a:srgbClr val="1C1B19"/>
                </a:solidFill>
                <a:latin typeface="Arial"/>
              </a:defRPr>
            </a:pPr>
            <a:r>
              <a:t>• Huile de palmiste : Tchobo / Adi-agbon</a:t>
            </a:r>
            <a:br/>
            <a:r>
              <a:t>• Beurre de mangue sauvage : Kpagnan</a:t>
            </a:r>
            <a:br/>
            <a:r>
              <a:t>• Feuilles de jute glissantes : Ewedu</a:t>
            </a:r>
            <a:br/>
            <a:r>
              <a:t>• Graines de courge : Agoussi</a:t>
            </a:r>
            <a:br/>
            <a:r>
              <a:t>• Miel pur sauvage : Oyin</a:t>
            </a:r>
          </a:p>
        </p:txBody>
      </p:sp>
      <p:sp>
        <p:nvSpPr>
          <p:cNvPr id="18" name="Rectangle 17"/>
          <p:cNvSpPr/>
          <p:nvPr/>
        </p:nvSpPr>
        <p:spPr>
          <a:xfrm>
            <a:off x="731520" y="6473952"/>
            <a:ext cx="10728655" cy="10972"/>
          </a:xfrm>
          <a:prstGeom prst="rect">
            <a:avLst/>
          </a:prstGeom>
          <a:solidFill>
            <a:srgbClr val="E2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6519672"/>
            <a:ext cx="7772400" cy="256032"/>
          </a:xfrm>
          <a:prstGeom prst="rect">
            <a:avLst/>
          </a:prstGeom>
          <a:noFill/>
        </p:spPr>
        <p:txBody>
          <a:bodyPr wrap="none" lIns="0" tIns="0" rIns="0" bIns="0">
            <a:spAutoFit/>
          </a:bodyPr>
          <a:lstStyle/>
          <a:p>
            <a:pPr>
              <a:defRPr sz="850">
                <a:solidFill>
                  <a:srgbClr val="6E6A62"/>
                </a:solidFill>
                <a:latin typeface="Arial"/>
              </a:defRPr>
            </a:pPr>
            <a:r>
              <a:t>Ma couronne, mes règles — Le guide complet des cheveux texturés en Afrique  ·  Édition Bénin 2026</a:t>
            </a:r>
          </a:p>
        </p:txBody>
      </p:sp>
      <p:sp>
        <p:nvSpPr>
          <p:cNvPr id="20" name="TextBox 19"/>
          <p:cNvSpPr txBox="1"/>
          <p:nvPr/>
        </p:nvSpPr>
        <p:spPr>
          <a:xfrm>
            <a:off x="8686800" y="6519672"/>
            <a:ext cx="2773375" cy="256032"/>
          </a:xfrm>
          <a:prstGeom prst="rect">
            <a:avLst/>
          </a:prstGeom>
          <a:noFill/>
        </p:spPr>
        <p:txBody>
          <a:bodyPr wrap="none" lIns="0" tIns="0" rIns="0" bIns="0">
            <a:spAutoFit/>
          </a:bodyPr>
          <a:lstStyle/>
          <a:p>
            <a:pPr algn="r">
              <a:defRPr sz="850" b="1">
                <a:solidFill>
                  <a:srgbClr val="B8862B"/>
                </a:solidFill>
                <a:latin typeface="Arial"/>
              </a:defRPr>
            </a:pPr>
            <a:r>
              <a:t>74 / 75</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731520"/>
            <a:ext cx="10362895" cy="5394960"/>
          </a:xfrm>
          <a:prstGeom prst="rect">
            <a:avLst/>
          </a:prstGeom>
          <a:noFill/>
          <a:ln w="15240">
            <a:solidFill>
              <a:srgbClr val="B886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188720"/>
            <a:ext cx="9445752" cy="365760"/>
          </a:xfrm>
          <a:prstGeom prst="rect">
            <a:avLst/>
          </a:prstGeom>
          <a:noFill/>
        </p:spPr>
        <p:txBody>
          <a:bodyPr wrap="none" lIns="0" tIns="0" rIns="0" bIns="0">
            <a:spAutoFit/>
          </a:bodyPr>
          <a:lstStyle/>
          <a:p>
            <a:pPr>
              <a:defRPr sz="1200" b="1">
                <a:solidFill>
                  <a:srgbClr val="D9A13B"/>
                </a:solidFill>
                <a:latin typeface="Arial"/>
              </a:defRPr>
            </a:pPr>
            <a:r>
              <a:t>CONCLUSION GÉNÉRALE</a:t>
            </a:r>
          </a:p>
        </p:txBody>
      </p:sp>
      <p:sp>
        <p:nvSpPr>
          <p:cNvPr id="5" name="TextBox 4"/>
          <p:cNvSpPr txBox="1"/>
          <p:nvPr/>
        </p:nvSpPr>
        <p:spPr>
          <a:xfrm>
            <a:off x="1371600" y="1645920"/>
            <a:ext cx="9445752" cy="1097280"/>
          </a:xfrm>
          <a:prstGeom prst="rect">
            <a:avLst/>
          </a:prstGeom>
          <a:noFill/>
        </p:spPr>
        <p:txBody>
          <a:bodyPr wrap="square" lIns="0" tIns="0" rIns="0" bIns="0">
            <a:spAutoFit/>
          </a:bodyPr>
          <a:lstStyle/>
          <a:p>
            <a:pPr>
              <a:defRPr sz="3600" b="1">
                <a:solidFill>
                  <a:srgbClr val="FAF6F0"/>
                </a:solidFill>
                <a:latin typeface="Georgia"/>
              </a:defRPr>
            </a:pPr>
            <a:r>
              <a:t>Ma couronne, mes règles !</a:t>
            </a:r>
          </a:p>
        </p:txBody>
      </p:sp>
      <p:sp>
        <p:nvSpPr>
          <p:cNvPr id="6" name="Rectangle 5"/>
          <p:cNvSpPr/>
          <p:nvPr/>
        </p:nvSpPr>
        <p:spPr>
          <a:xfrm>
            <a:off x="1371600" y="2926080"/>
            <a:ext cx="3200400" cy="36576"/>
          </a:xfrm>
          <a:prstGeom prst="rect">
            <a:avLst/>
          </a:prstGeom>
          <a:solidFill>
            <a:srgbClr val="D9A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154680"/>
            <a:ext cx="9445752" cy="1280160"/>
          </a:xfrm>
          <a:prstGeom prst="rect">
            <a:avLst/>
          </a:prstGeom>
          <a:noFill/>
        </p:spPr>
        <p:txBody>
          <a:bodyPr wrap="square" lIns="0" tIns="0" rIns="0" bIns="0">
            <a:spAutoFit/>
          </a:bodyPr>
          <a:lstStyle/>
          <a:p>
            <a:pPr>
              <a:defRPr sz="1800" i="1">
                <a:solidFill>
                  <a:srgbClr val="D9A13B"/>
                </a:solidFill>
                <a:latin typeface="Georgia"/>
              </a:defRPr>
            </a:pPr>
            <a:r>
              <a:t>« Vos cheveux ne sont pas un fardeau à dompter, c'est une couronne vivante qui répond à la tendresse, à l'eau et à la patience. Reprenez-en le pouvoir avec fierté. »</a:t>
            </a:r>
          </a:p>
        </p:txBody>
      </p:sp>
      <p:sp>
        <p:nvSpPr>
          <p:cNvPr id="8" name="TextBox 7"/>
          <p:cNvSpPr txBox="1"/>
          <p:nvPr/>
        </p:nvSpPr>
        <p:spPr>
          <a:xfrm>
            <a:off x="1371600" y="4572000"/>
            <a:ext cx="9445752" cy="914400"/>
          </a:xfrm>
          <a:prstGeom prst="rect">
            <a:avLst/>
          </a:prstGeom>
          <a:noFill/>
        </p:spPr>
        <p:txBody>
          <a:bodyPr wrap="square" lIns="0" tIns="0" rIns="0" bIns="0">
            <a:spAutoFit/>
          </a:bodyPr>
          <a:lstStyle/>
          <a:p>
            <a:pPr>
              <a:defRPr sz="1300">
                <a:solidFill>
                  <a:srgbClr val="D2C8B8"/>
                </a:solidFill>
                <a:latin typeface="Arial"/>
              </a:defRPr>
            </a:pPr>
            <a:r>
              <a:t>Vous avez désormais toutes les clés dans vos mains et dans votre cuisine. À vous de régner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